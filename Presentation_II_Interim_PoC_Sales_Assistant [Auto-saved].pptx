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13"/>
    <p:restoredTop sz="94610"/>
  </p:normalViewPr>
  <p:slideViewPr>
    <p:cSldViewPr snapToGrid="0" snapToObjects="1">
      <p:cViewPr varScale="1">
        <p:scale>
          <a:sx n="127" d="100"/>
          <a:sy n="127" d="100"/>
        </p:scale>
        <p:origin x="36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567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present the interim status of our proof of concept. The project is a Sales Data Analysis Assistant for small and medium-sized businesses. The goal is not to show a final product. The goal is to show that the core workflow is technically feasible: upload sales data, analyze it, and present clear business insights.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proof of concept is not intended to be final or perfect software. The goal is to prove that the main idea works technically. In our project this means: files can be uploaded, the data can be understood, metrics can be calculated, and the results can be shown in a clear way.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our project is to help SMEs understand their sales data faster. The user uploads a sales file, the application analyzes it, and the result is shown as clear business insight. The main idea is simple: raw sales data becomes understandable business information.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current implementation is a frontend-only prototype. The application runs directly in the browser. It uses HTML, CSS and JavaScript. CSV files are parsed with PapaParse, Excel files with SheetJS, and charts are created with Chart.js. For this interim PoC, we do not need a backend because the goal is to prove the core workflow.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simple. First the user uploads a sales file. Then the app parses it, maps the columns and validates data quality. After that, the user asks a business question. The app calculates the answer and then presents the insight with metrics, recommendations and charts.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current PoC, we do not train an AI model. So we do not use training data in the classic machine learning sense. Instead, we use sample and realistic sales datasets to test whether upload, parsing, column mapping, validation and analysis work correctly.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architecture is browser-based. The frontend is not only the visual interface. In this prototype, it also contains the parsing logic, the column mapping, the analysis engine, the explanation logic and the charts. This is acceptable for a PoC because it keeps the system easy to test and easy to demonstrate.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engine is the core of the application. It calculates all numbers with code. This includes total revenue, quantities, top products, weak products, revenue by category, revenue over time, anomalies and Pareto analysis. The important point is that the application does not guess numbers.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explanation layer turns calculated results into simple business language. In our current prototype this is done in the browser. It does not calculate numbers. It only uses results that were already calculated by the app. In a future version, this layer could be connected to an AI API, but the principle would stay the same: code calculates, and AI only explains.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current interim stage, the main prototype workflow is implemented. It can upload files, preview data, map columns, check data quality, calculate sales metrics and show charts. We also added suggested questions, Demo Story Mode and report export. Right now our focus is robustness with realistic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demo, we show the current prototype. The demo flow is: load a dataset, show the data preview and quality report, ask a business question, and show the calculated metrics, recommendations and charts. This demonstrates the technical feasibility of the core idea.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we followed several best practices. We kept the scope focused on sales data. We separated calculation and explanation. We validate the uploaded file before analysis. And we make the demo predictable, because a PoC presentation should show the core idea clearly.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important learning is that real datasets are not always clean. Column names differ from file to file. Date formats and decimal formats differ. Sometimes values are missing. Because of this, automatic column mapping and validation are very important.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challenge we found during testing was column mapping. For example, a column like price should be used as unit price, not as total revenue. This matters because otherwise revenue would be wrong. We therefore refined the logic and continue testing with realistic files.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completely pivot the project, but we refined the focus. At the beginning the idea was more AI-centered. During development, we realized that reliability and demo stability are more important than broad chatbot features. The current PoC therefore focuses on deterministic sales analysis first.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next steps, we want to test the app with more realistic datasets, improve column mapping, improve error messages and polish the live demo. For discussion, we want to ask which features would be most useful for SMEs and how trust in the results can be improved.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PoC shows that the core workflow is technically feasible. Sales data can be uploaded, analyzed deterministically and transformed into clear business insight. The prototype is not final software, but it proves the main idea.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76656" y="621792"/>
            <a:ext cx="2468880" cy="347472"/>
          </a:xfrm>
          <a:prstGeom prst="roundRect">
            <a:avLst>
              <a:gd name="adj" fmla="val 47368"/>
            </a:avLst>
          </a:prstGeom>
          <a:solidFill>
            <a:srgbClr val="16A34A">
              <a:alpha val="96000"/>
            </a:srgbClr>
          </a:solidFill>
          <a:ln w="12700">
            <a:solidFill>
              <a:srgbClr val="16A34A">
                <a:alpha val="0"/>
              </a:srgbClr>
            </a:solidFill>
            <a:prstDash val="solid"/>
          </a:ln>
        </p:spPr>
        <p:txBody>
          <a:bodyPr/>
          <a:lstStyle/>
          <a:p>
            <a:endParaRPr lang="de-DE"/>
          </a:p>
        </p:txBody>
      </p:sp>
      <p:sp>
        <p:nvSpPr>
          <p:cNvPr id="4" name="Text 1"/>
          <p:cNvSpPr/>
          <p:nvPr/>
        </p:nvSpPr>
        <p:spPr>
          <a:xfrm>
            <a:off x="822960" y="708660"/>
            <a:ext cx="217627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rgbClr val="FFFFFF"/>
                </a:solidFill>
                <a:latin typeface="Aptos" pitchFamily="34" charset="0"/>
                <a:ea typeface="Aptos" pitchFamily="34" charset="-122"/>
                <a:cs typeface="Aptos" pitchFamily="34" charset="-120"/>
              </a:rPr>
              <a:t>PRESENTATION II · INTERIM POC</a:t>
            </a:r>
            <a:endParaRPr lang="en-US" sz="850" dirty="0"/>
          </a:p>
        </p:txBody>
      </p:sp>
      <p:sp>
        <p:nvSpPr>
          <p:cNvPr id="5" name="Text 2"/>
          <p:cNvSpPr/>
          <p:nvPr/>
        </p:nvSpPr>
        <p:spPr>
          <a:xfrm>
            <a:off x="658368" y="1097280"/>
            <a:ext cx="6035040" cy="2286000"/>
          </a:xfrm>
          <a:prstGeom prst="rect">
            <a:avLst/>
          </a:prstGeom>
          <a:noFill/>
          <a:ln/>
        </p:spPr>
        <p:txBody>
          <a:bodyPr wrap="square" lIns="0" tIns="0" rIns="0" bIns="0" rtlCol="0" anchor="t">
            <a:normAutofit/>
          </a:bodyPr>
          <a:lstStyle/>
          <a:p>
            <a:pPr marL="0" indent="0" algn="l">
              <a:lnSpc>
                <a:spcPct val="75000"/>
              </a:lnSpc>
              <a:buNone/>
            </a:pPr>
            <a:r>
              <a:rPr lang="en-US" sz="5500" b="1" dirty="0">
                <a:solidFill>
                  <a:srgbClr val="FFFFFF"/>
                </a:solidFill>
                <a:latin typeface="Aptos Display" pitchFamily="34" charset="0"/>
                <a:ea typeface="Aptos Display" pitchFamily="34" charset="-122"/>
                <a:cs typeface="Aptos Display" pitchFamily="34" charset="-120"/>
              </a:rPr>
              <a:t>Sales Data</a:t>
            </a:r>
            <a:endParaRPr lang="en-US" sz="5500" dirty="0"/>
          </a:p>
          <a:p>
            <a:pPr marL="0" indent="0" algn="l">
              <a:lnSpc>
                <a:spcPct val="75000"/>
              </a:lnSpc>
              <a:buNone/>
            </a:pPr>
            <a:r>
              <a:rPr lang="en-US" sz="5500" b="1" dirty="0">
                <a:solidFill>
                  <a:srgbClr val="FFFFFF"/>
                </a:solidFill>
                <a:latin typeface="Aptos Display" pitchFamily="34" charset="0"/>
                <a:ea typeface="Aptos Display" pitchFamily="34" charset="-122"/>
                <a:cs typeface="Aptos Display" pitchFamily="34" charset="-120"/>
              </a:rPr>
              <a:t>Analysis</a:t>
            </a:r>
            <a:endParaRPr lang="en-US" sz="5500" dirty="0"/>
          </a:p>
          <a:p>
            <a:pPr marL="0" indent="0" algn="l">
              <a:lnSpc>
                <a:spcPct val="75000"/>
              </a:lnSpc>
              <a:buNone/>
            </a:pPr>
            <a:r>
              <a:rPr lang="en-US" sz="5500" b="1" dirty="0">
                <a:solidFill>
                  <a:srgbClr val="FFFFFF"/>
                </a:solidFill>
                <a:latin typeface="Aptos Display" pitchFamily="34" charset="0"/>
                <a:ea typeface="Aptos Display" pitchFamily="34" charset="-122"/>
                <a:cs typeface="Aptos Display" pitchFamily="34" charset="-120"/>
              </a:rPr>
              <a:t>Assistant</a:t>
            </a:r>
            <a:endParaRPr lang="en-US" sz="5500" dirty="0"/>
          </a:p>
        </p:txBody>
      </p:sp>
      <p:sp>
        <p:nvSpPr>
          <p:cNvPr id="6" name="Text 3"/>
          <p:cNvSpPr/>
          <p:nvPr/>
        </p:nvSpPr>
        <p:spPr>
          <a:xfrm>
            <a:off x="713232" y="3493008"/>
            <a:ext cx="3017520" cy="384048"/>
          </a:xfrm>
          <a:prstGeom prst="rect">
            <a:avLst/>
          </a:prstGeom>
          <a:noFill/>
          <a:ln/>
        </p:spPr>
        <p:txBody>
          <a:bodyPr wrap="square" lIns="0" tIns="0" rIns="0" bIns="0" rtlCol="0" anchor="t">
            <a:normAutofit/>
          </a:bodyPr>
          <a:lstStyle/>
          <a:p>
            <a:pPr marL="0" indent="0" algn="l">
              <a:lnSpc>
                <a:spcPct val="98000"/>
              </a:lnSpc>
              <a:buNone/>
            </a:pPr>
            <a:r>
              <a:rPr lang="en-US" sz="2600" b="1" dirty="0">
                <a:solidFill>
                  <a:srgbClr val="A3E635"/>
                </a:solidFill>
                <a:latin typeface="Aptos Display" pitchFamily="34" charset="0"/>
                <a:ea typeface="Aptos Display" pitchFamily="34" charset="-122"/>
                <a:cs typeface="Aptos Display" pitchFamily="34" charset="-120"/>
              </a:rPr>
              <a:t>for SMEs</a:t>
            </a:r>
            <a:endParaRPr lang="en-US" sz="2600" dirty="0"/>
          </a:p>
        </p:txBody>
      </p:sp>
      <p:sp>
        <p:nvSpPr>
          <p:cNvPr id="7" name="Text 4"/>
          <p:cNvSpPr/>
          <p:nvPr/>
        </p:nvSpPr>
        <p:spPr>
          <a:xfrm>
            <a:off x="749808" y="4059936"/>
            <a:ext cx="5120640" cy="320040"/>
          </a:xfrm>
          <a:prstGeom prst="rect">
            <a:avLst/>
          </a:prstGeom>
          <a:noFill/>
          <a:ln/>
        </p:spPr>
        <p:txBody>
          <a:bodyPr wrap="square" lIns="0" tIns="0" rIns="0" bIns="0" rtlCol="0" anchor="t">
            <a:normAutofit/>
          </a:bodyPr>
          <a:lstStyle/>
          <a:p>
            <a:pPr marL="0" indent="0" algn="l">
              <a:lnSpc>
                <a:spcPct val="98000"/>
              </a:lnSpc>
              <a:buNone/>
            </a:pPr>
            <a:r>
              <a:rPr lang="en-US" sz="1500" dirty="0">
                <a:solidFill>
                  <a:srgbClr val="9FB2CB"/>
                </a:solidFill>
                <a:latin typeface="Aptos" pitchFamily="34" charset="0"/>
                <a:ea typeface="Aptos" pitchFamily="34" charset="-122"/>
                <a:cs typeface="Aptos" pitchFamily="34" charset="-120"/>
              </a:rPr>
              <a:t>Interim Proof of Concept · Presentation 01.06.2026 </a:t>
            </a:r>
            <a:endParaRPr lang="en-US" sz="1500" dirty="0"/>
          </a:p>
        </p:txBody>
      </p:sp>
      <p:sp>
        <p:nvSpPr>
          <p:cNvPr id="8" name="Shape 5"/>
          <p:cNvSpPr/>
          <p:nvPr/>
        </p:nvSpPr>
        <p:spPr>
          <a:xfrm>
            <a:off x="6812280" y="804672"/>
            <a:ext cx="4617720" cy="4892040"/>
          </a:xfrm>
          <a:prstGeom prst="roundRect">
            <a:avLst>
              <a:gd name="adj" fmla="val 3564"/>
            </a:avLst>
          </a:prstGeom>
          <a:solidFill>
            <a:srgbClr val="0B1B2E">
              <a:alpha val="96000"/>
            </a:srgbClr>
          </a:solidFill>
          <a:ln w="10160">
            <a:solidFill>
              <a:srgbClr val="34506A"/>
            </a:solidFill>
            <a:prstDash val="solid"/>
          </a:ln>
          <a:effectLst>
            <a:outerShdw blurRad="22860" dist="50800" dir="2700000" algn="bl" rotWithShape="0">
              <a:srgbClr val="000000">
                <a:alpha val="12000"/>
              </a:srgbClr>
            </a:outerShdw>
          </a:effectLst>
        </p:spPr>
        <p:txBody>
          <a:bodyPr/>
          <a:lstStyle/>
          <a:p>
            <a:endParaRPr lang="de-DE"/>
          </a:p>
        </p:txBody>
      </p:sp>
      <p:sp>
        <p:nvSpPr>
          <p:cNvPr id="9" name="Shape 6"/>
          <p:cNvSpPr/>
          <p:nvPr/>
        </p:nvSpPr>
        <p:spPr>
          <a:xfrm>
            <a:off x="7187184" y="1298448"/>
            <a:ext cx="3840480" cy="2240280"/>
          </a:xfrm>
          <a:prstGeom prst="roundRect">
            <a:avLst>
              <a:gd name="adj" fmla="val 7347"/>
            </a:avLst>
          </a:prstGeom>
          <a:solidFill>
            <a:srgbClr val="101F34"/>
          </a:solidFill>
          <a:ln w="10160">
            <a:solidFill>
              <a:srgbClr val="42617D"/>
            </a:solidFill>
            <a:prstDash val="solid"/>
          </a:ln>
          <a:effectLst>
            <a:outerShdw blurRad="22860" dist="50800" dir="2700000" algn="bl" rotWithShape="0">
              <a:srgbClr val="000000">
                <a:alpha val="12000"/>
              </a:srgbClr>
            </a:outerShdw>
          </a:effectLst>
        </p:spPr>
        <p:txBody>
          <a:bodyPr/>
          <a:lstStyle/>
          <a:p>
            <a:endParaRPr lang="de-DE"/>
          </a:p>
        </p:txBody>
      </p:sp>
      <p:sp>
        <p:nvSpPr>
          <p:cNvPr id="10" name="Text 7"/>
          <p:cNvSpPr/>
          <p:nvPr/>
        </p:nvSpPr>
        <p:spPr>
          <a:xfrm>
            <a:off x="7388352" y="1536192"/>
            <a:ext cx="3383280" cy="182880"/>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FFFFFF"/>
                </a:solidFill>
                <a:latin typeface="Aptos" pitchFamily="34" charset="0"/>
                <a:ea typeface="Aptos" pitchFamily="34" charset="-122"/>
                <a:cs typeface="Aptos" pitchFamily="34" charset="-120"/>
              </a:rPr>
              <a:t>Upload → Validate → Analyze → Insight</a:t>
            </a:r>
            <a:endParaRPr lang="en-US" sz="1100" dirty="0"/>
          </a:p>
        </p:txBody>
      </p:sp>
      <p:sp>
        <p:nvSpPr>
          <p:cNvPr id="11" name="Shape 8"/>
          <p:cNvSpPr/>
          <p:nvPr/>
        </p:nvSpPr>
        <p:spPr>
          <a:xfrm>
            <a:off x="7360920" y="1874520"/>
            <a:ext cx="1508760" cy="960120"/>
          </a:xfrm>
          <a:prstGeom prst="roundRect">
            <a:avLst>
              <a:gd name="adj" fmla="val 17143"/>
            </a:avLst>
          </a:prstGeom>
          <a:solidFill>
            <a:srgbClr val="0E1C2D"/>
          </a:solidFill>
          <a:ln w="10160">
            <a:solidFill>
              <a:srgbClr val="2B4159"/>
            </a:solidFill>
            <a:prstDash val="solid"/>
          </a:ln>
          <a:effectLst>
            <a:outerShdw blurRad="22860" dist="50800" dir="2700000" algn="bl" rotWithShape="0">
              <a:srgbClr val="000000">
                <a:alpha val="12000"/>
              </a:srgbClr>
            </a:outerShdw>
          </a:effectLst>
        </p:spPr>
        <p:txBody>
          <a:bodyPr/>
          <a:lstStyle/>
          <a:p>
            <a:endParaRPr lang="de-DE"/>
          </a:p>
        </p:txBody>
      </p:sp>
      <p:sp>
        <p:nvSpPr>
          <p:cNvPr id="12" name="Text 9"/>
          <p:cNvSpPr/>
          <p:nvPr/>
        </p:nvSpPr>
        <p:spPr>
          <a:xfrm>
            <a:off x="7525512" y="2039112"/>
            <a:ext cx="1179576" cy="128016"/>
          </a:xfrm>
          <a:prstGeom prst="rect">
            <a:avLst/>
          </a:prstGeom>
          <a:noFill/>
          <a:ln/>
        </p:spPr>
        <p:txBody>
          <a:bodyPr wrap="square" lIns="0" tIns="0" rIns="0" bIns="0" rtlCol="0" anchor="t">
            <a:normAutofit/>
          </a:bodyPr>
          <a:lstStyle/>
          <a:p>
            <a:pPr marL="0" indent="0" algn="l">
              <a:lnSpc>
                <a:spcPct val="98000"/>
              </a:lnSpc>
              <a:buNone/>
            </a:pPr>
            <a:r>
              <a:rPr lang="en-US" sz="780" b="1" dirty="0">
                <a:solidFill>
                  <a:srgbClr val="9FB2CB"/>
                </a:solidFill>
                <a:latin typeface="Aptos" pitchFamily="34" charset="0"/>
                <a:ea typeface="Aptos" pitchFamily="34" charset="-122"/>
                <a:cs typeface="Aptos" pitchFamily="34" charset="-120"/>
              </a:rPr>
              <a:t>TOTAL REVENUE</a:t>
            </a:r>
            <a:endParaRPr lang="en-US" sz="780" dirty="0"/>
          </a:p>
        </p:txBody>
      </p:sp>
      <p:sp>
        <p:nvSpPr>
          <p:cNvPr id="13" name="Text 10"/>
          <p:cNvSpPr/>
          <p:nvPr/>
        </p:nvSpPr>
        <p:spPr>
          <a:xfrm>
            <a:off x="7525512" y="2267712"/>
            <a:ext cx="1179576" cy="329184"/>
          </a:xfrm>
          <a:prstGeom prst="rect">
            <a:avLst/>
          </a:prstGeom>
          <a:noFill/>
          <a:ln/>
        </p:spPr>
        <p:txBody>
          <a:bodyPr wrap="square" lIns="0" tIns="0" rIns="0" bIns="0" rtlCol="0" anchor="t">
            <a:normAutofit/>
          </a:bodyPr>
          <a:lstStyle/>
          <a:p>
            <a:pPr marL="0" indent="0" algn="l">
              <a:lnSpc>
                <a:spcPct val="98000"/>
              </a:lnSpc>
              <a:buNone/>
            </a:pPr>
            <a:r>
              <a:rPr lang="en-US" sz="2000" b="1" dirty="0">
                <a:solidFill>
                  <a:srgbClr val="FFFFFF"/>
                </a:solidFill>
                <a:latin typeface="Aptos" pitchFamily="34" charset="0"/>
                <a:ea typeface="Aptos" pitchFamily="34" charset="-122"/>
                <a:cs typeface="Aptos" pitchFamily="34" charset="-120"/>
              </a:rPr>
              <a:t>€42.8k</a:t>
            </a:r>
            <a:endParaRPr lang="en-US" sz="2000" dirty="0"/>
          </a:p>
        </p:txBody>
      </p:sp>
      <p:sp>
        <p:nvSpPr>
          <p:cNvPr id="14" name="Shape 11"/>
          <p:cNvSpPr/>
          <p:nvPr/>
        </p:nvSpPr>
        <p:spPr>
          <a:xfrm>
            <a:off x="7360920" y="1984248"/>
            <a:ext cx="41148" cy="749808"/>
          </a:xfrm>
          <a:prstGeom prst="rect">
            <a:avLst/>
          </a:prstGeom>
          <a:solidFill>
            <a:srgbClr val="2563EB"/>
          </a:solidFill>
          <a:ln w="12700">
            <a:solidFill>
              <a:srgbClr val="333333">
                <a:alpha val="0"/>
              </a:srgbClr>
            </a:solidFill>
            <a:prstDash val="solid"/>
          </a:ln>
        </p:spPr>
        <p:txBody>
          <a:bodyPr/>
          <a:lstStyle/>
          <a:p>
            <a:endParaRPr lang="de-DE"/>
          </a:p>
        </p:txBody>
      </p:sp>
      <p:sp>
        <p:nvSpPr>
          <p:cNvPr id="15" name="Shape 12"/>
          <p:cNvSpPr/>
          <p:nvPr/>
        </p:nvSpPr>
        <p:spPr>
          <a:xfrm>
            <a:off x="9052560" y="1874520"/>
            <a:ext cx="1508760" cy="960120"/>
          </a:xfrm>
          <a:prstGeom prst="roundRect">
            <a:avLst>
              <a:gd name="adj" fmla="val 17143"/>
            </a:avLst>
          </a:prstGeom>
          <a:solidFill>
            <a:srgbClr val="0E1C2D"/>
          </a:solidFill>
          <a:ln w="10160">
            <a:solidFill>
              <a:srgbClr val="2B4159"/>
            </a:solidFill>
            <a:prstDash val="solid"/>
          </a:ln>
          <a:effectLst>
            <a:outerShdw blurRad="22860" dist="50800" dir="2700000" algn="bl" rotWithShape="0">
              <a:srgbClr val="000000">
                <a:alpha val="12000"/>
              </a:srgbClr>
            </a:outerShdw>
          </a:effectLst>
        </p:spPr>
        <p:txBody>
          <a:bodyPr/>
          <a:lstStyle/>
          <a:p>
            <a:endParaRPr lang="de-DE"/>
          </a:p>
        </p:txBody>
      </p:sp>
      <p:sp>
        <p:nvSpPr>
          <p:cNvPr id="16" name="Text 13"/>
          <p:cNvSpPr/>
          <p:nvPr/>
        </p:nvSpPr>
        <p:spPr>
          <a:xfrm>
            <a:off x="9217152" y="2039112"/>
            <a:ext cx="1179576" cy="128016"/>
          </a:xfrm>
          <a:prstGeom prst="rect">
            <a:avLst/>
          </a:prstGeom>
          <a:noFill/>
          <a:ln/>
        </p:spPr>
        <p:txBody>
          <a:bodyPr wrap="square" lIns="0" tIns="0" rIns="0" bIns="0" rtlCol="0" anchor="t">
            <a:normAutofit/>
          </a:bodyPr>
          <a:lstStyle/>
          <a:p>
            <a:pPr marL="0" indent="0" algn="l">
              <a:lnSpc>
                <a:spcPct val="98000"/>
              </a:lnSpc>
              <a:buNone/>
            </a:pPr>
            <a:r>
              <a:rPr lang="en-US" sz="780" b="1" dirty="0">
                <a:solidFill>
                  <a:srgbClr val="9FB2CB"/>
                </a:solidFill>
                <a:latin typeface="Aptos" pitchFamily="34" charset="0"/>
                <a:ea typeface="Aptos" pitchFamily="34" charset="-122"/>
                <a:cs typeface="Aptos" pitchFamily="34" charset="-120"/>
              </a:rPr>
              <a:t>ROWS ANALYZED</a:t>
            </a:r>
            <a:endParaRPr lang="en-US" sz="780" dirty="0"/>
          </a:p>
        </p:txBody>
      </p:sp>
      <p:sp>
        <p:nvSpPr>
          <p:cNvPr id="17" name="Text 14"/>
          <p:cNvSpPr/>
          <p:nvPr/>
        </p:nvSpPr>
        <p:spPr>
          <a:xfrm>
            <a:off x="9217152" y="2267712"/>
            <a:ext cx="1179576" cy="329184"/>
          </a:xfrm>
          <a:prstGeom prst="rect">
            <a:avLst/>
          </a:prstGeom>
          <a:noFill/>
          <a:ln/>
        </p:spPr>
        <p:txBody>
          <a:bodyPr wrap="square" lIns="0" tIns="0" rIns="0" bIns="0" rtlCol="0" anchor="t">
            <a:normAutofit/>
          </a:bodyPr>
          <a:lstStyle/>
          <a:p>
            <a:pPr marL="0" indent="0" algn="l">
              <a:lnSpc>
                <a:spcPct val="98000"/>
              </a:lnSpc>
              <a:buNone/>
            </a:pPr>
            <a:r>
              <a:rPr lang="en-US" sz="2000" b="1" dirty="0">
                <a:solidFill>
                  <a:srgbClr val="FFFFFF"/>
                </a:solidFill>
                <a:latin typeface="Aptos" pitchFamily="34" charset="0"/>
                <a:ea typeface="Aptos" pitchFamily="34" charset="-122"/>
                <a:cs typeface="Aptos" pitchFamily="34" charset="-120"/>
              </a:rPr>
              <a:t>64</a:t>
            </a:r>
            <a:endParaRPr lang="en-US" sz="2000" dirty="0"/>
          </a:p>
        </p:txBody>
      </p:sp>
      <p:sp>
        <p:nvSpPr>
          <p:cNvPr id="18" name="Shape 15"/>
          <p:cNvSpPr/>
          <p:nvPr/>
        </p:nvSpPr>
        <p:spPr>
          <a:xfrm>
            <a:off x="9052560" y="1984248"/>
            <a:ext cx="41148" cy="749808"/>
          </a:xfrm>
          <a:prstGeom prst="rect">
            <a:avLst/>
          </a:prstGeom>
          <a:solidFill>
            <a:srgbClr val="16A34A"/>
          </a:solidFill>
          <a:ln w="12700">
            <a:solidFill>
              <a:srgbClr val="333333">
                <a:alpha val="0"/>
              </a:srgbClr>
            </a:solidFill>
            <a:prstDash val="solid"/>
          </a:ln>
        </p:spPr>
        <p:txBody>
          <a:bodyPr/>
          <a:lstStyle/>
          <a:p>
            <a:endParaRPr lang="de-DE"/>
          </a:p>
        </p:txBody>
      </p:sp>
      <p:sp>
        <p:nvSpPr>
          <p:cNvPr id="19" name="Shape 16"/>
          <p:cNvSpPr/>
          <p:nvPr/>
        </p:nvSpPr>
        <p:spPr>
          <a:xfrm>
            <a:off x="7388352" y="3072384"/>
            <a:ext cx="3291840" cy="0"/>
          </a:xfrm>
          <a:prstGeom prst="line">
            <a:avLst/>
          </a:prstGeom>
          <a:noFill/>
          <a:ln w="25400">
            <a:solidFill>
              <a:srgbClr val="06B6D4"/>
            </a:solidFill>
            <a:prstDash val="solid"/>
          </a:ln>
        </p:spPr>
        <p:txBody>
          <a:bodyPr/>
          <a:lstStyle/>
          <a:p>
            <a:endParaRPr lang="de-DE"/>
          </a:p>
        </p:txBody>
      </p:sp>
      <p:sp>
        <p:nvSpPr>
          <p:cNvPr id="20" name="Shape 17"/>
          <p:cNvSpPr/>
          <p:nvPr/>
        </p:nvSpPr>
        <p:spPr>
          <a:xfrm>
            <a:off x="7388352" y="3273552"/>
            <a:ext cx="2377440" cy="0"/>
          </a:xfrm>
          <a:prstGeom prst="line">
            <a:avLst/>
          </a:prstGeom>
          <a:noFill/>
          <a:ln w="25400">
            <a:solidFill>
              <a:srgbClr val="16A34A"/>
            </a:solidFill>
            <a:prstDash val="solid"/>
          </a:ln>
        </p:spPr>
        <p:txBody>
          <a:bodyPr/>
          <a:lstStyle/>
          <a:p>
            <a:endParaRPr lang="de-DE"/>
          </a:p>
        </p:txBody>
      </p:sp>
      <p:sp>
        <p:nvSpPr>
          <p:cNvPr id="21" name="Text 18"/>
          <p:cNvSpPr/>
          <p:nvPr/>
        </p:nvSpPr>
        <p:spPr>
          <a:xfrm>
            <a:off x="7315200" y="3867912"/>
            <a:ext cx="1371600" cy="228600"/>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9FB2CB"/>
                </a:solidFill>
                <a:latin typeface="Aptos" pitchFamily="34" charset="0"/>
                <a:ea typeface="Aptos" pitchFamily="34" charset="-122"/>
                <a:cs typeface="Aptos" pitchFamily="34" charset="-120"/>
              </a:rPr>
              <a:t>Proof target</a:t>
            </a:r>
            <a:endParaRPr lang="en-US" sz="1100" dirty="0"/>
          </a:p>
        </p:txBody>
      </p:sp>
      <p:sp>
        <p:nvSpPr>
          <p:cNvPr id="22" name="Text 19"/>
          <p:cNvSpPr/>
          <p:nvPr/>
        </p:nvSpPr>
        <p:spPr>
          <a:xfrm>
            <a:off x="7315200" y="4160520"/>
            <a:ext cx="3611880" cy="685800"/>
          </a:xfrm>
          <a:prstGeom prst="rect">
            <a:avLst/>
          </a:prstGeom>
          <a:noFill/>
          <a:ln/>
        </p:spPr>
        <p:txBody>
          <a:bodyPr wrap="square" lIns="0" tIns="0" rIns="0" bIns="0" rtlCol="0" anchor="t">
            <a:normAutofit/>
          </a:bodyPr>
          <a:lstStyle/>
          <a:p>
            <a:pPr marL="0" indent="0" algn="l">
              <a:lnSpc>
                <a:spcPct val="98000"/>
              </a:lnSpc>
              <a:buNone/>
            </a:pPr>
            <a:r>
              <a:rPr lang="en-US" sz="1500" dirty="0">
                <a:solidFill>
                  <a:srgbClr val="FFFFFF"/>
                </a:solidFill>
                <a:latin typeface="Aptos" pitchFamily="34" charset="0"/>
                <a:ea typeface="Aptos" pitchFamily="34" charset="-122"/>
                <a:cs typeface="Aptos" pitchFamily="34" charset="-120"/>
              </a:rPr>
              <a:t>Show that raw sales data can become reliable business insight inside a focused browser-based prototype.</a:t>
            </a:r>
            <a:endParaRPr lang="en-US" sz="1500" dirty="0"/>
          </a:p>
        </p:txBody>
      </p:sp>
      <p:sp>
        <p:nvSpPr>
          <p:cNvPr id="23" name="Text 20"/>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9FB2CB"/>
                </a:solidFill>
                <a:latin typeface="Aptos" pitchFamily="34" charset="0"/>
                <a:ea typeface="Aptos" pitchFamily="34" charset="-122"/>
                <a:cs typeface="Aptos" pitchFamily="34" charset="-120"/>
              </a:rPr>
              <a:t>Sales Data Analysis Assistant for SMEs</a:t>
            </a:r>
            <a:endParaRPr lang="en-US" sz="850" dirty="0"/>
          </a:p>
        </p:txBody>
      </p:sp>
      <p:sp>
        <p:nvSpPr>
          <p:cNvPr id="24" name="Text 21"/>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9FB2CB"/>
                </a:solidFill>
                <a:latin typeface="Aptos" pitchFamily="34" charset="0"/>
                <a:ea typeface="Aptos" pitchFamily="34" charset="-122"/>
                <a:cs typeface="Aptos" pitchFamily="34" charset="-120"/>
              </a:rPr>
              <a:t>01</a:t>
            </a:r>
            <a:endParaRPr lang="en-US" sz="950" dirty="0"/>
          </a:p>
        </p:txBody>
      </p:sp>
      <p:sp>
        <p:nvSpPr>
          <p:cNvPr id="25" name="Shape 22"/>
          <p:cNvSpPr/>
          <p:nvPr/>
        </p:nvSpPr>
        <p:spPr>
          <a:xfrm>
            <a:off x="566928" y="6382512"/>
            <a:ext cx="11064240" cy="0"/>
          </a:xfrm>
          <a:prstGeom prst="line">
            <a:avLst/>
          </a:prstGeom>
          <a:noFill/>
          <a:ln w="8890">
            <a:solidFill>
              <a:srgbClr val="31465E">
                <a:alpha val="76000"/>
              </a:srgbClr>
            </a:solidFill>
            <a:prstDash val="solid"/>
          </a:ln>
        </p:spPr>
        <p:txBody>
          <a:bodyPr/>
          <a:lstStyle/>
          <a:p>
            <a:endParaRPr lang="de-DE"/>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2563EB">
              <a:alpha val="92000"/>
            </a:srgbClr>
          </a:solidFill>
          <a:ln w="12700">
            <a:solidFill>
              <a:srgbClr val="2563EB">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chemeClr val="bg1"/>
                </a:solidFill>
                <a:latin typeface="Aptos" pitchFamily="34" charset="0"/>
                <a:ea typeface="Aptos" pitchFamily="34" charset="-122"/>
                <a:cs typeface="Aptos" pitchFamily="34" charset="-120"/>
              </a:rPr>
              <a:t>POC FOCUS</a:t>
            </a:r>
            <a:endParaRPr lang="en-US" sz="850" dirty="0">
              <a:solidFill>
                <a:schemeClr val="bg1"/>
              </a:solidFill>
            </a:endParaRPr>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Not final software.</a:t>
            </a:r>
            <a:endParaRPr lang="en-US" sz="4000" dirty="0"/>
          </a:p>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Proof of feasibility.</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475569"/>
                </a:solidFill>
                <a:latin typeface="Aptos" pitchFamily="34" charset="0"/>
                <a:ea typeface="Aptos" pitchFamily="34" charset="-122"/>
                <a:cs typeface="Aptos" pitchFamily="34" charset="-120"/>
              </a:rPr>
              <a:t>A proof of concept should demonstrate the core functionality, not solve every enterprise requirement.</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475569"/>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475569"/>
                </a:solidFill>
                <a:latin typeface="Aptos" pitchFamily="34" charset="0"/>
                <a:ea typeface="Aptos" pitchFamily="34" charset="-122"/>
                <a:cs typeface="Aptos" pitchFamily="34" charset="-120"/>
              </a:rPr>
              <a:t>02</a:t>
            </a:r>
            <a:endParaRPr lang="en-US" sz="950" dirty="0"/>
          </a:p>
        </p:txBody>
      </p:sp>
      <p:sp>
        <p:nvSpPr>
          <p:cNvPr id="9" name="Shape 6"/>
          <p:cNvSpPr/>
          <p:nvPr/>
        </p:nvSpPr>
        <p:spPr>
          <a:xfrm>
            <a:off x="566928" y="6382512"/>
            <a:ext cx="11064240" cy="0"/>
          </a:xfrm>
          <a:prstGeom prst="line">
            <a:avLst/>
          </a:prstGeom>
          <a:noFill/>
          <a:ln w="8890">
            <a:solidFill>
              <a:srgbClr val="CBD5E1">
                <a:alpha val="76000"/>
              </a:srgbClr>
            </a:solidFill>
            <a:prstDash val="solid"/>
          </a:ln>
        </p:spPr>
        <p:txBody>
          <a:bodyPr/>
          <a:lstStyle/>
          <a:p>
            <a:endParaRPr lang="de-DE"/>
          </a:p>
        </p:txBody>
      </p:sp>
      <p:sp>
        <p:nvSpPr>
          <p:cNvPr id="10" name="Shape 7"/>
          <p:cNvSpPr/>
          <p:nvPr/>
        </p:nvSpPr>
        <p:spPr>
          <a:xfrm>
            <a:off x="6903720" y="804672"/>
            <a:ext cx="4526280" cy="960120"/>
          </a:xfrm>
          <a:prstGeom prst="roundRect">
            <a:avLst>
              <a:gd name="adj" fmla="val 17143"/>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11" name="Shape 8"/>
          <p:cNvSpPr/>
          <p:nvPr/>
        </p:nvSpPr>
        <p:spPr>
          <a:xfrm>
            <a:off x="7086600" y="1024128"/>
            <a:ext cx="420624" cy="420624"/>
          </a:xfrm>
          <a:prstGeom prst="ellipse">
            <a:avLst/>
          </a:prstGeom>
          <a:solidFill>
            <a:srgbClr val="2563EB"/>
          </a:solidFill>
          <a:ln w="12700">
            <a:solidFill>
              <a:srgbClr val="333333">
                <a:alpha val="0"/>
              </a:srgbClr>
            </a:solidFill>
            <a:prstDash val="solid"/>
          </a:ln>
        </p:spPr>
        <p:txBody>
          <a:bodyPr/>
          <a:lstStyle/>
          <a:p>
            <a:endParaRPr lang="de-DE"/>
          </a:p>
        </p:txBody>
      </p:sp>
      <p:sp>
        <p:nvSpPr>
          <p:cNvPr id="12" name="Text 9"/>
          <p:cNvSpPr/>
          <p:nvPr/>
        </p:nvSpPr>
        <p:spPr>
          <a:xfrm>
            <a:off x="7187184" y="1115568"/>
            <a:ext cx="219456" cy="109728"/>
          </a:xfrm>
          <a:prstGeom prst="rect">
            <a:avLst/>
          </a:prstGeom>
          <a:noFill/>
          <a:ln/>
        </p:spPr>
        <p:txBody>
          <a:bodyPr wrap="square" lIns="0" tIns="0" rIns="0" bIns="0" rtlCol="0" anchor="t">
            <a:normAutofit/>
          </a:bodyPr>
          <a:lstStyle/>
          <a:p>
            <a:pPr marL="0" indent="0" algn="ctr">
              <a:lnSpc>
                <a:spcPct val="98000"/>
              </a:lnSpc>
              <a:buNone/>
            </a:pPr>
            <a:r>
              <a:rPr lang="en-US" sz="800" b="1" dirty="0">
                <a:solidFill>
                  <a:srgbClr val="FFFFFF"/>
                </a:solidFill>
                <a:latin typeface="Aptos" pitchFamily="34" charset="0"/>
                <a:ea typeface="Aptos" pitchFamily="34" charset="-122"/>
                <a:cs typeface="Aptos" pitchFamily="34" charset="-120"/>
              </a:rPr>
              <a:t>1</a:t>
            </a:r>
            <a:endParaRPr lang="en-US" sz="800" dirty="0"/>
          </a:p>
        </p:txBody>
      </p:sp>
      <p:sp>
        <p:nvSpPr>
          <p:cNvPr id="13" name="Text 10"/>
          <p:cNvSpPr/>
          <p:nvPr/>
        </p:nvSpPr>
        <p:spPr>
          <a:xfrm>
            <a:off x="7653528" y="1005840"/>
            <a:ext cx="3337560" cy="219456"/>
          </a:xfrm>
          <a:prstGeom prst="rect">
            <a:avLst/>
          </a:prstGeom>
          <a:noFill/>
          <a:ln/>
        </p:spPr>
        <p:txBody>
          <a:bodyPr wrap="square" lIns="0" tIns="0" rIns="0" bIns="0" rtlCol="0" anchor="t">
            <a:normAutofit/>
          </a:bodyPr>
          <a:lstStyle/>
          <a:p>
            <a:pPr marL="0" indent="0" algn="l">
              <a:lnSpc>
                <a:spcPct val="98000"/>
              </a:lnSpc>
              <a:buNone/>
            </a:pPr>
            <a:r>
              <a:rPr lang="en-US" sz="1450" b="1" dirty="0">
                <a:solidFill>
                  <a:srgbClr val="07111F"/>
                </a:solidFill>
                <a:latin typeface="Aptos" pitchFamily="34" charset="0"/>
                <a:ea typeface="Aptos" pitchFamily="34" charset="-122"/>
                <a:cs typeface="Aptos" pitchFamily="34" charset="-120"/>
              </a:rPr>
              <a:t>Read real files</a:t>
            </a:r>
            <a:endParaRPr lang="en-US" sz="1450" dirty="0"/>
          </a:p>
        </p:txBody>
      </p:sp>
      <p:sp>
        <p:nvSpPr>
          <p:cNvPr id="14" name="Text 11"/>
          <p:cNvSpPr/>
          <p:nvPr/>
        </p:nvSpPr>
        <p:spPr>
          <a:xfrm>
            <a:off x="7653528" y="1307592"/>
            <a:ext cx="3429000" cy="219456"/>
          </a:xfrm>
          <a:prstGeom prst="rect">
            <a:avLst/>
          </a:prstGeom>
          <a:noFill/>
          <a:ln/>
        </p:spPr>
        <p:txBody>
          <a:bodyPr wrap="square" lIns="0" tIns="0" rIns="0" bIns="0" rtlCol="0" anchor="t">
            <a:normAutofit/>
          </a:bodyPr>
          <a:lstStyle/>
          <a:p>
            <a:pPr marL="0" indent="0" algn="l">
              <a:lnSpc>
                <a:spcPct val="98000"/>
              </a:lnSpc>
              <a:buNone/>
            </a:pPr>
            <a:r>
              <a:rPr lang="en-US" sz="1070" dirty="0">
                <a:solidFill>
                  <a:srgbClr val="475569"/>
                </a:solidFill>
                <a:latin typeface="Aptos" pitchFamily="34" charset="0"/>
                <a:ea typeface="Aptos" pitchFamily="34" charset="-122"/>
                <a:cs typeface="Aptos" pitchFamily="34" charset="-120"/>
              </a:rPr>
              <a:t>CSV and Excel can be parsed inside the browser.</a:t>
            </a:r>
            <a:endParaRPr lang="en-US" sz="1070" dirty="0"/>
          </a:p>
        </p:txBody>
      </p:sp>
      <p:sp>
        <p:nvSpPr>
          <p:cNvPr id="15" name="Shape 12"/>
          <p:cNvSpPr/>
          <p:nvPr/>
        </p:nvSpPr>
        <p:spPr>
          <a:xfrm>
            <a:off x="6903720" y="2039112"/>
            <a:ext cx="4526280" cy="960120"/>
          </a:xfrm>
          <a:prstGeom prst="roundRect">
            <a:avLst>
              <a:gd name="adj" fmla="val 17143"/>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16" name="Shape 13"/>
          <p:cNvSpPr/>
          <p:nvPr/>
        </p:nvSpPr>
        <p:spPr>
          <a:xfrm>
            <a:off x="7086600" y="2258568"/>
            <a:ext cx="420624" cy="420624"/>
          </a:xfrm>
          <a:prstGeom prst="ellipse">
            <a:avLst/>
          </a:prstGeom>
          <a:solidFill>
            <a:srgbClr val="16A34A"/>
          </a:solidFill>
          <a:ln w="12700">
            <a:solidFill>
              <a:srgbClr val="333333">
                <a:alpha val="0"/>
              </a:srgbClr>
            </a:solidFill>
            <a:prstDash val="solid"/>
          </a:ln>
        </p:spPr>
        <p:txBody>
          <a:bodyPr/>
          <a:lstStyle/>
          <a:p>
            <a:endParaRPr lang="de-DE"/>
          </a:p>
        </p:txBody>
      </p:sp>
      <p:sp>
        <p:nvSpPr>
          <p:cNvPr id="17" name="Text 14"/>
          <p:cNvSpPr/>
          <p:nvPr/>
        </p:nvSpPr>
        <p:spPr>
          <a:xfrm>
            <a:off x="7187184" y="2350008"/>
            <a:ext cx="219456" cy="109728"/>
          </a:xfrm>
          <a:prstGeom prst="rect">
            <a:avLst/>
          </a:prstGeom>
          <a:noFill/>
          <a:ln/>
        </p:spPr>
        <p:txBody>
          <a:bodyPr wrap="square" lIns="0" tIns="0" rIns="0" bIns="0" rtlCol="0" anchor="t">
            <a:normAutofit/>
          </a:bodyPr>
          <a:lstStyle/>
          <a:p>
            <a:pPr marL="0" indent="0" algn="ctr">
              <a:lnSpc>
                <a:spcPct val="98000"/>
              </a:lnSpc>
              <a:buNone/>
            </a:pPr>
            <a:r>
              <a:rPr lang="en-US" sz="800" b="1" dirty="0">
                <a:solidFill>
                  <a:srgbClr val="FFFFFF"/>
                </a:solidFill>
                <a:latin typeface="Aptos" pitchFamily="34" charset="0"/>
                <a:ea typeface="Aptos" pitchFamily="34" charset="-122"/>
                <a:cs typeface="Aptos" pitchFamily="34" charset="-120"/>
              </a:rPr>
              <a:t>2</a:t>
            </a:r>
            <a:endParaRPr lang="en-US" sz="800" dirty="0"/>
          </a:p>
        </p:txBody>
      </p:sp>
      <p:sp>
        <p:nvSpPr>
          <p:cNvPr id="18" name="Text 15"/>
          <p:cNvSpPr/>
          <p:nvPr/>
        </p:nvSpPr>
        <p:spPr>
          <a:xfrm>
            <a:off x="7653528" y="2240280"/>
            <a:ext cx="3337560" cy="219456"/>
          </a:xfrm>
          <a:prstGeom prst="rect">
            <a:avLst/>
          </a:prstGeom>
          <a:noFill/>
          <a:ln/>
        </p:spPr>
        <p:txBody>
          <a:bodyPr wrap="square" lIns="0" tIns="0" rIns="0" bIns="0" rtlCol="0" anchor="t">
            <a:normAutofit/>
          </a:bodyPr>
          <a:lstStyle/>
          <a:p>
            <a:pPr marL="0" indent="0" algn="l">
              <a:lnSpc>
                <a:spcPct val="98000"/>
              </a:lnSpc>
              <a:buNone/>
            </a:pPr>
            <a:r>
              <a:rPr lang="en-US" sz="1450" b="1" dirty="0">
                <a:solidFill>
                  <a:srgbClr val="07111F"/>
                </a:solidFill>
                <a:latin typeface="Aptos" pitchFamily="34" charset="0"/>
                <a:ea typeface="Aptos" pitchFamily="34" charset="-122"/>
                <a:cs typeface="Aptos" pitchFamily="34" charset="-120"/>
              </a:rPr>
              <a:t>Understand structure</a:t>
            </a:r>
            <a:endParaRPr lang="en-US" sz="1450" dirty="0"/>
          </a:p>
        </p:txBody>
      </p:sp>
      <p:sp>
        <p:nvSpPr>
          <p:cNvPr id="19" name="Text 16"/>
          <p:cNvSpPr/>
          <p:nvPr/>
        </p:nvSpPr>
        <p:spPr>
          <a:xfrm>
            <a:off x="7653528" y="2542032"/>
            <a:ext cx="3429000" cy="219456"/>
          </a:xfrm>
          <a:prstGeom prst="rect">
            <a:avLst/>
          </a:prstGeom>
          <a:noFill/>
          <a:ln/>
        </p:spPr>
        <p:txBody>
          <a:bodyPr wrap="square" lIns="0" tIns="0" rIns="0" bIns="0" rtlCol="0" anchor="t">
            <a:normAutofit/>
          </a:bodyPr>
          <a:lstStyle/>
          <a:p>
            <a:pPr marL="0" indent="0" algn="l">
              <a:lnSpc>
                <a:spcPct val="98000"/>
              </a:lnSpc>
              <a:buNone/>
            </a:pPr>
            <a:r>
              <a:rPr lang="en-US" sz="1070" dirty="0">
                <a:solidFill>
                  <a:srgbClr val="475569"/>
                </a:solidFill>
                <a:latin typeface="Aptos" pitchFamily="34" charset="0"/>
                <a:ea typeface="Aptos" pitchFamily="34" charset="-122"/>
                <a:cs typeface="Aptos" pitchFamily="34" charset="-120"/>
              </a:rPr>
              <a:t>Columns are mapped to business fields automatically.</a:t>
            </a:r>
            <a:endParaRPr lang="en-US" sz="1070" dirty="0"/>
          </a:p>
        </p:txBody>
      </p:sp>
      <p:sp>
        <p:nvSpPr>
          <p:cNvPr id="20" name="Shape 17"/>
          <p:cNvSpPr/>
          <p:nvPr/>
        </p:nvSpPr>
        <p:spPr>
          <a:xfrm>
            <a:off x="6903720" y="3273552"/>
            <a:ext cx="4526280" cy="960120"/>
          </a:xfrm>
          <a:prstGeom prst="roundRect">
            <a:avLst>
              <a:gd name="adj" fmla="val 17143"/>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21" name="Shape 18"/>
          <p:cNvSpPr/>
          <p:nvPr/>
        </p:nvSpPr>
        <p:spPr>
          <a:xfrm>
            <a:off x="7086600" y="3493008"/>
            <a:ext cx="420624" cy="420624"/>
          </a:xfrm>
          <a:prstGeom prst="ellipse">
            <a:avLst/>
          </a:prstGeom>
          <a:solidFill>
            <a:srgbClr val="7C3AED"/>
          </a:solidFill>
          <a:ln w="12700">
            <a:solidFill>
              <a:srgbClr val="333333">
                <a:alpha val="0"/>
              </a:srgbClr>
            </a:solidFill>
            <a:prstDash val="solid"/>
          </a:ln>
        </p:spPr>
        <p:txBody>
          <a:bodyPr/>
          <a:lstStyle/>
          <a:p>
            <a:endParaRPr lang="de-DE"/>
          </a:p>
        </p:txBody>
      </p:sp>
      <p:sp>
        <p:nvSpPr>
          <p:cNvPr id="22" name="Text 19"/>
          <p:cNvSpPr/>
          <p:nvPr/>
        </p:nvSpPr>
        <p:spPr>
          <a:xfrm>
            <a:off x="7187184" y="3584448"/>
            <a:ext cx="219456" cy="109728"/>
          </a:xfrm>
          <a:prstGeom prst="rect">
            <a:avLst/>
          </a:prstGeom>
          <a:noFill/>
          <a:ln/>
        </p:spPr>
        <p:txBody>
          <a:bodyPr wrap="square" lIns="0" tIns="0" rIns="0" bIns="0" rtlCol="0" anchor="t">
            <a:normAutofit/>
          </a:bodyPr>
          <a:lstStyle/>
          <a:p>
            <a:pPr marL="0" indent="0" algn="ctr">
              <a:lnSpc>
                <a:spcPct val="98000"/>
              </a:lnSpc>
              <a:buNone/>
            </a:pPr>
            <a:r>
              <a:rPr lang="en-US" sz="800" b="1" dirty="0">
                <a:solidFill>
                  <a:srgbClr val="FFFFFF"/>
                </a:solidFill>
                <a:latin typeface="Aptos" pitchFamily="34" charset="0"/>
                <a:ea typeface="Aptos" pitchFamily="34" charset="-122"/>
                <a:cs typeface="Aptos" pitchFamily="34" charset="-120"/>
              </a:rPr>
              <a:t>3</a:t>
            </a:r>
            <a:endParaRPr lang="en-US" sz="800" dirty="0"/>
          </a:p>
        </p:txBody>
      </p:sp>
      <p:sp>
        <p:nvSpPr>
          <p:cNvPr id="23" name="Text 20"/>
          <p:cNvSpPr/>
          <p:nvPr/>
        </p:nvSpPr>
        <p:spPr>
          <a:xfrm>
            <a:off x="7653528" y="3474720"/>
            <a:ext cx="3337560" cy="219456"/>
          </a:xfrm>
          <a:prstGeom prst="rect">
            <a:avLst/>
          </a:prstGeom>
          <a:noFill/>
          <a:ln/>
        </p:spPr>
        <p:txBody>
          <a:bodyPr wrap="square" lIns="0" tIns="0" rIns="0" bIns="0" rtlCol="0" anchor="t">
            <a:normAutofit/>
          </a:bodyPr>
          <a:lstStyle/>
          <a:p>
            <a:pPr marL="0" indent="0" algn="l">
              <a:lnSpc>
                <a:spcPct val="98000"/>
              </a:lnSpc>
              <a:buNone/>
            </a:pPr>
            <a:r>
              <a:rPr lang="en-US" sz="1450" b="1" dirty="0">
                <a:solidFill>
                  <a:srgbClr val="07111F"/>
                </a:solidFill>
                <a:latin typeface="Aptos" pitchFamily="34" charset="0"/>
                <a:ea typeface="Aptos" pitchFamily="34" charset="-122"/>
                <a:cs typeface="Aptos" pitchFamily="34" charset="-120"/>
              </a:rPr>
              <a:t>Calculate metrics</a:t>
            </a:r>
            <a:endParaRPr lang="en-US" sz="1450" dirty="0"/>
          </a:p>
        </p:txBody>
      </p:sp>
      <p:sp>
        <p:nvSpPr>
          <p:cNvPr id="24" name="Text 21"/>
          <p:cNvSpPr/>
          <p:nvPr/>
        </p:nvSpPr>
        <p:spPr>
          <a:xfrm>
            <a:off x="7653528" y="3776472"/>
            <a:ext cx="3429000" cy="219456"/>
          </a:xfrm>
          <a:prstGeom prst="rect">
            <a:avLst/>
          </a:prstGeom>
          <a:noFill/>
          <a:ln/>
        </p:spPr>
        <p:txBody>
          <a:bodyPr wrap="square" lIns="0" tIns="0" rIns="0" bIns="0" rtlCol="0" anchor="t">
            <a:normAutofit/>
          </a:bodyPr>
          <a:lstStyle/>
          <a:p>
            <a:pPr marL="0" indent="0" algn="l">
              <a:lnSpc>
                <a:spcPct val="98000"/>
              </a:lnSpc>
              <a:buNone/>
            </a:pPr>
            <a:r>
              <a:rPr lang="en-US" sz="1070" dirty="0">
                <a:solidFill>
                  <a:srgbClr val="475569"/>
                </a:solidFill>
                <a:latin typeface="Aptos" pitchFamily="34" charset="0"/>
                <a:ea typeface="Aptos" pitchFamily="34" charset="-122"/>
                <a:cs typeface="Aptos" pitchFamily="34" charset="-120"/>
              </a:rPr>
              <a:t>Revenue, products, categories and trends are computed.</a:t>
            </a:r>
            <a:endParaRPr lang="en-US" sz="1070" dirty="0"/>
          </a:p>
        </p:txBody>
      </p:sp>
      <p:sp>
        <p:nvSpPr>
          <p:cNvPr id="25" name="Shape 22"/>
          <p:cNvSpPr/>
          <p:nvPr/>
        </p:nvSpPr>
        <p:spPr>
          <a:xfrm>
            <a:off x="6903720" y="4507992"/>
            <a:ext cx="4526280" cy="960120"/>
          </a:xfrm>
          <a:prstGeom prst="roundRect">
            <a:avLst>
              <a:gd name="adj" fmla="val 17143"/>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26" name="Shape 23"/>
          <p:cNvSpPr/>
          <p:nvPr/>
        </p:nvSpPr>
        <p:spPr>
          <a:xfrm>
            <a:off x="7086600" y="4727448"/>
            <a:ext cx="420624" cy="420624"/>
          </a:xfrm>
          <a:prstGeom prst="ellipse">
            <a:avLst/>
          </a:prstGeom>
          <a:solidFill>
            <a:srgbClr val="F59E0B"/>
          </a:solidFill>
          <a:ln w="12700">
            <a:solidFill>
              <a:srgbClr val="333333">
                <a:alpha val="0"/>
              </a:srgbClr>
            </a:solidFill>
            <a:prstDash val="solid"/>
          </a:ln>
        </p:spPr>
        <p:txBody>
          <a:bodyPr/>
          <a:lstStyle/>
          <a:p>
            <a:endParaRPr lang="de-DE"/>
          </a:p>
        </p:txBody>
      </p:sp>
      <p:sp>
        <p:nvSpPr>
          <p:cNvPr id="27" name="Text 24"/>
          <p:cNvSpPr/>
          <p:nvPr/>
        </p:nvSpPr>
        <p:spPr>
          <a:xfrm>
            <a:off x="7187184" y="4818888"/>
            <a:ext cx="219456" cy="109728"/>
          </a:xfrm>
          <a:prstGeom prst="rect">
            <a:avLst/>
          </a:prstGeom>
          <a:noFill/>
          <a:ln/>
        </p:spPr>
        <p:txBody>
          <a:bodyPr wrap="square" lIns="0" tIns="0" rIns="0" bIns="0" rtlCol="0" anchor="t">
            <a:normAutofit/>
          </a:bodyPr>
          <a:lstStyle/>
          <a:p>
            <a:pPr marL="0" indent="0" algn="ctr">
              <a:lnSpc>
                <a:spcPct val="98000"/>
              </a:lnSpc>
              <a:buNone/>
            </a:pPr>
            <a:r>
              <a:rPr lang="en-US" sz="800" b="1" dirty="0">
                <a:solidFill>
                  <a:srgbClr val="FFFFFF"/>
                </a:solidFill>
                <a:latin typeface="Aptos" pitchFamily="34" charset="0"/>
                <a:ea typeface="Aptos" pitchFamily="34" charset="-122"/>
                <a:cs typeface="Aptos" pitchFamily="34" charset="-120"/>
              </a:rPr>
              <a:t>4</a:t>
            </a:r>
            <a:endParaRPr lang="en-US" sz="800" dirty="0"/>
          </a:p>
        </p:txBody>
      </p:sp>
      <p:sp>
        <p:nvSpPr>
          <p:cNvPr id="28" name="Text 25"/>
          <p:cNvSpPr/>
          <p:nvPr/>
        </p:nvSpPr>
        <p:spPr>
          <a:xfrm>
            <a:off x="7653528" y="4709160"/>
            <a:ext cx="3337560" cy="219456"/>
          </a:xfrm>
          <a:prstGeom prst="rect">
            <a:avLst/>
          </a:prstGeom>
          <a:noFill/>
          <a:ln/>
        </p:spPr>
        <p:txBody>
          <a:bodyPr wrap="square" lIns="0" tIns="0" rIns="0" bIns="0" rtlCol="0" anchor="t">
            <a:normAutofit/>
          </a:bodyPr>
          <a:lstStyle/>
          <a:p>
            <a:pPr marL="0" indent="0" algn="l">
              <a:lnSpc>
                <a:spcPct val="98000"/>
              </a:lnSpc>
              <a:buNone/>
            </a:pPr>
            <a:r>
              <a:rPr lang="en-US" sz="1450" b="1" dirty="0">
                <a:solidFill>
                  <a:srgbClr val="07111F"/>
                </a:solidFill>
                <a:latin typeface="Aptos" pitchFamily="34" charset="0"/>
                <a:ea typeface="Aptos" pitchFamily="34" charset="-122"/>
                <a:cs typeface="Aptos" pitchFamily="34" charset="-120"/>
              </a:rPr>
              <a:t>Explain results</a:t>
            </a:r>
            <a:endParaRPr lang="en-US" sz="1450" dirty="0"/>
          </a:p>
        </p:txBody>
      </p:sp>
      <p:sp>
        <p:nvSpPr>
          <p:cNvPr id="29" name="Text 26"/>
          <p:cNvSpPr/>
          <p:nvPr/>
        </p:nvSpPr>
        <p:spPr>
          <a:xfrm>
            <a:off x="7653528" y="5010912"/>
            <a:ext cx="3429000" cy="219456"/>
          </a:xfrm>
          <a:prstGeom prst="rect">
            <a:avLst/>
          </a:prstGeom>
          <a:noFill/>
          <a:ln/>
        </p:spPr>
        <p:txBody>
          <a:bodyPr wrap="square" lIns="0" tIns="0" rIns="0" bIns="0" rtlCol="0" anchor="t">
            <a:normAutofit/>
          </a:bodyPr>
          <a:lstStyle/>
          <a:p>
            <a:pPr marL="0" indent="0" algn="l">
              <a:lnSpc>
                <a:spcPct val="98000"/>
              </a:lnSpc>
              <a:buNone/>
            </a:pPr>
            <a:r>
              <a:rPr lang="en-US" sz="1070" dirty="0">
                <a:solidFill>
                  <a:srgbClr val="475569"/>
                </a:solidFill>
                <a:latin typeface="Aptos" pitchFamily="34" charset="0"/>
                <a:ea typeface="Aptos" pitchFamily="34" charset="-122"/>
                <a:cs typeface="Aptos" pitchFamily="34" charset="-120"/>
              </a:rPr>
              <a:t>The output becomes readable business language.</a:t>
            </a:r>
            <a:endParaRPr lang="en-US" sz="107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16A34A">
              <a:alpha val="96000"/>
            </a:srgbClr>
          </a:solidFill>
          <a:ln w="12700">
            <a:solidFill>
              <a:srgbClr val="16A34A">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rgbClr val="FFFFFF"/>
                </a:solidFill>
                <a:latin typeface="Aptos" pitchFamily="34" charset="0"/>
                <a:ea typeface="Aptos" pitchFamily="34" charset="-122"/>
                <a:cs typeface="Aptos" pitchFamily="34" charset="-120"/>
              </a:rPr>
              <a:t>PROJECT GOAL</a:t>
            </a:r>
            <a:endParaRPr lang="en-US" sz="850" dirty="0"/>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3900" b="1" dirty="0">
                <a:solidFill>
                  <a:srgbClr val="FFFFFF"/>
                </a:solidFill>
                <a:latin typeface="Aptos Display" pitchFamily="34" charset="0"/>
                <a:ea typeface="Aptos Display" pitchFamily="34" charset="-122"/>
                <a:cs typeface="Aptos Display" pitchFamily="34" charset="-120"/>
              </a:rPr>
              <a:t>Make sales data</a:t>
            </a:r>
            <a:endParaRPr lang="en-US" sz="3900" dirty="0"/>
          </a:p>
          <a:p>
            <a:pPr marL="0" indent="0" algn="l">
              <a:lnSpc>
                <a:spcPct val="86000"/>
              </a:lnSpc>
              <a:buNone/>
            </a:pPr>
            <a:r>
              <a:rPr lang="en-US" sz="3900" b="1" dirty="0">
                <a:solidFill>
                  <a:srgbClr val="FFFFFF"/>
                </a:solidFill>
                <a:latin typeface="Aptos Display" pitchFamily="34" charset="0"/>
                <a:ea typeface="Aptos Display" pitchFamily="34" charset="-122"/>
                <a:cs typeface="Aptos Display" pitchFamily="34" charset="-120"/>
              </a:rPr>
              <a:t>understandable for SMEs.</a:t>
            </a:r>
            <a:endParaRPr lang="en-US" sz="39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9FB2CB"/>
                </a:solidFill>
                <a:latin typeface="Aptos" pitchFamily="34" charset="0"/>
                <a:ea typeface="Aptos" pitchFamily="34" charset="-122"/>
                <a:cs typeface="Aptos" pitchFamily="34" charset="-120"/>
              </a:rPr>
              <a:t>Small and medium-sized businesses often have sales data, but not always time or BI knowledge to analyze it.</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9FB2CB"/>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9FB2CB"/>
                </a:solidFill>
                <a:latin typeface="Aptos" pitchFamily="34" charset="0"/>
                <a:ea typeface="Aptos" pitchFamily="34" charset="-122"/>
                <a:cs typeface="Aptos" pitchFamily="34" charset="-120"/>
              </a:rPr>
              <a:t>03</a:t>
            </a:r>
            <a:endParaRPr lang="en-US" sz="950" dirty="0"/>
          </a:p>
        </p:txBody>
      </p:sp>
      <p:sp>
        <p:nvSpPr>
          <p:cNvPr id="9" name="Shape 6"/>
          <p:cNvSpPr/>
          <p:nvPr/>
        </p:nvSpPr>
        <p:spPr>
          <a:xfrm>
            <a:off x="566928" y="6382512"/>
            <a:ext cx="11064240" cy="0"/>
          </a:xfrm>
          <a:prstGeom prst="line">
            <a:avLst/>
          </a:prstGeom>
          <a:noFill/>
          <a:ln w="8890">
            <a:solidFill>
              <a:srgbClr val="31465E">
                <a:alpha val="76000"/>
              </a:srgbClr>
            </a:solidFill>
            <a:prstDash val="solid"/>
          </a:ln>
        </p:spPr>
        <p:txBody>
          <a:bodyPr/>
          <a:lstStyle/>
          <a:p>
            <a:endParaRPr lang="de-DE"/>
          </a:p>
        </p:txBody>
      </p:sp>
      <p:sp>
        <p:nvSpPr>
          <p:cNvPr id="10" name="Shape 7"/>
          <p:cNvSpPr/>
          <p:nvPr/>
        </p:nvSpPr>
        <p:spPr>
          <a:xfrm>
            <a:off x="6675120" y="1143000"/>
            <a:ext cx="4663440" cy="4389120"/>
          </a:xfrm>
          <a:prstGeom prst="roundRect">
            <a:avLst>
              <a:gd name="adj" fmla="val 3750"/>
            </a:avLst>
          </a:prstGeom>
          <a:solidFill>
            <a:srgbClr val="0B1B2E"/>
          </a:solidFill>
          <a:ln w="10160">
            <a:solidFill>
              <a:srgbClr val="2B5166"/>
            </a:solidFill>
            <a:prstDash val="solid"/>
          </a:ln>
          <a:effectLst>
            <a:outerShdw blurRad="22860" dist="50800" dir="2700000" algn="bl" rotWithShape="0">
              <a:srgbClr val="000000">
                <a:alpha val="12000"/>
              </a:srgbClr>
            </a:outerShdw>
          </a:effectLst>
        </p:spPr>
        <p:txBody>
          <a:bodyPr/>
          <a:lstStyle/>
          <a:p>
            <a:endParaRPr lang="de-DE"/>
          </a:p>
        </p:txBody>
      </p:sp>
      <p:sp>
        <p:nvSpPr>
          <p:cNvPr id="11" name="Shape 8"/>
          <p:cNvSpPr/>
          <p:nvPr/>
        </p:nvSpPr>
        <p:spPr>
          <a:xfrm>
            <a:off x="7315200" y="1600200"/>
            <a:ext cx="3383280" cy="685800"/>
          </a:xfrm>
          <a:prstGeom prst="roundRect">
            <a:avLst>
              <a:gd name="adj" fmla="val 24000"/>
            </a:avLst>
          </a:prstGeom>
          <a:solidFill>
            <a:srgbClr val="11243A"/>
          </a:solidFill>
          <a:ln w="10160">
            <a:solidFill>
              <a:srgbClr val="2563EB">
                <a:alpha val="8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2" name="Text 9"/>
          <p:cNvSpPr/>
          <p:nvPr/>
        </p:nvSpPr>
        <p:spPr>
          <a:xfrm>
            <a:off x="7479792" y="1746504"/>
            <a:ext cx="1280160" cy="201168"/>
          </a:xfrm>
          <a:prstGeom prst="rect">
            <a:avLst/>
          </a:prstGeom>
          <a:noFill/>
          <a:ln/>
        </p:spPr>
        <p:txBody>
          <a:bodyPr wrap="square" lIns="0" tIns="0" rIns="0" bIns="0" rtlCol="0" anchor="t">
            <a:normAutofit/>
          </a:bodyPr>
          <a:lstStyle/>
          <a:p>
            <a:pPr marL="0" indent="0" algn="l">
              <a:lnSpc>
                <a:spcPct val="98000"/>
              </a:lnSpc>
              <a:buNone/>
            </a:pPr>
            <a:r>
              <a:rPr lang="en-US" sz="1500" b="1" dirty="0">
                <a:solidFill>
                  <a:srgbClr val="FFFFFF"/>
                </a:solidFill>
                <a:latin typeface="Aptos" pitchFamily="34" charset="0"/>
                <a:ea typeface="Aptos" pitchFamily="34" charset="-122"/>
                <a:cs typeface="Aptos" pitchFamily="34" charset="-120"/>
              </a:rPr>
              <a:t>Raw data</a:t>
            </a:r>
            <a:endParaRPr lang="en-US" sz="1500" dirty="0"/>
          </a:p>
        </p:txBody>
      </p:sp>
      <p:sp>
        <p:nvSpPr>
          <p:cNvPr id="13" name="Text 10"/>
          <p:cNvSpPr/>
          <p:nvPr/>
        </p:nvSpPr>
        <p:spPr>
          <a:xfrm>
            <a:off x="8869680" y="1792224"/>
            <a:ext cx="1463040" cy="164592"/>
          </a:xfrm>
          <a:prstGeom prst="rect">
            <a:avLst/>
          </a:prstGeom>
          <a:noFill/>
          <a:ln/>
        </p:spPr>
        <p:txBody>
          <a:bodyPr wrap="square" lIns="0" tIns="0" rIns="0" bIns="0" rtlCol="0" anchor="t">
            <a:normAutofit/>
          </a:bodyPr>
          <a:lstStyle/>
          <a:p>
            <a:pPr marL="0" indent="0" algn="r">
              <a:lnSpc>
                <a:spcPct val="98000"/>
              </a:lnSpc>
              <a:buNone/>
            </a:pPr>
            <a:r>
              <a:rPr lang="en-US" sz="1050" dirty="0">
                <a:solidFill>
                  <a:srgbClr val="9FB2CB"/>
                </a:solidFill>
                <a:latin typeface="Aptos" pitchFamily="34" charset="0"/>
                <a:ea typeface="Aptos" pitchFamily="34" charset="-122"/>
                <a:cs typeface="Aptos" pitchFamily="34" charset="-120"/>
              </a:rPr>
              <a:t>CSV / Excel</a:t>
            </a:r>
            <a:endParaRPr lang="en-US" sz="1050" dirty="0"/>
          </a:p>
        </p:txBody>
      </p:sp>
      <p:sp>
        <p:nvSpPr>
          <p:cNvPr id="14" name="Shape 11"/>
          <p:cNvSpPr/>
          <p:nvPr/>
        </p:nvSpPr>
        <p:spPr>
          <a:xfrm>
            <a:off x="7315200" y="2743200"/>
            <a:ext cx="3383280" cy="685800"/>
          </a:xfrm>
          <a:prstGeom prst="roundRect">
            <a:avLst>
              <a:gd name="adj" fmla="val 24000"/>
            </a:avLst>
          </a:prstGeom>
          <a:solidFill>
            <a:srgbClr val="11243A"/>
          </a:solidFill>
          <a:ln w="10160">
            <a:solidFill>
              <a:srgbClr val="16A34A">
                <a:alpha val="8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5" name="Text 12"/>
          <p:cNvSpPr/>
          <p:nvPr/>
        </p:nvSpPr>
        <p:spPr>
          <a:xfrm>
            <a:off x="7479792" y="2889504"/>
            <a:ext cx="1280160" cy="201168"/>
          </a:xfrm>
          <a:prstGeom prst="rect">
            <a:avLst/>
          </a:prstGeom>
          <a:noFill/>
          <a:ln/>
        </p:spPr>
        <p:txBody>
          <a:bodyPr wrap="square" lIns="0" tIns="0" rIns="0" bIns="0" rtlCol="0" anchor="t">
            <a:normAutofit/>
          </a:bodyPr>
          <a:lstStyle/>
          <a:p>
            <a:pPr marL="0" indent="0" algn="l">
              <a:lnSpc>
                <a:spcPct val="98000"/>
              </a:lnSpc>
              <a:buNone/>
            </a:pPr>
            <a:r>
              <a:rPr lang="en-US" sz="1500" b="1" dirty="0">
                <a:solidFill>
                  <a:srgbClr val="FFFFFF"/>
                </a:solidFill>
                <a:latin typeface="Aptos" pitchFamily="34" charset="0"/>
                <a:ea typeface="Aptos" pitchFamily="34" charset="-122"/>
                <a:cs typeface="Aptos" pitchFamily="34" charset="-120"/>
              </a:rPr>
              <a:t>Analysis</a:t>
            </a:r>
            <a:endParaRPr lang="en-US" sz="1500" dirty="0"/>
          </a:p>
        </p:txBody>
      </p:sp>
      <p:sp>
        <p:nvSpPr>
          <p:cNvPr id="16" name="Text 13"/>
          <p:cNvSpPr/>
          <p:nvPr/>
        </p:nvSpPr>
        <p:spPr>
          <a:xfrm>
            <a:off x="8869680" y="2935224"/>
            <a:ext cx="1463040" cy="164592"/>
          </a:xfrm>
          <a:prstGeom prst="rect">
            <a:avLst/>
          </a:prstGeom>
          <a:noFill/>
          <a:ln/>
        </p:spPr>
        <p:txBody>
          <a:bodyPr wrap="square" lIns="0" tIns="0" rIns="0" bIns="0" rtlCol="0" anchor="t">
            <a:normAutofit/>
          </a:bodyPr>
          <a:lstStyle/>
          <a:p>
            <a:pPr marL="0" indent="0" algn="r">
              <a:lnSpc>
                <a:spcPct val="98000"/>
              </a:lnSpc>
              <a:buNone/>
            </a:pPr>
            <a:r>
              <a:rPr lang="en-US" sz="1050" dirty="0">
                <a:solidFill>
                  <a:srgbClr val="9FB2CB"/>
                </a:solidFill>
                <a:latin typeface="Aptos" pitchFamily="34" charset="0"/>
                <a:ea typeface="Aptos" pitchFamily="34" charset="-122"/>
                <a:cs typeface="Aptos" pitchFamily="34" charset="-120"/>
              </a:rPr>
              <a:t>Code calculates</a:t>
            </a:r>
            <a:endParaRPr lang="en-US" sz="1050" dirty="0"/>
          </a:p>
        </p:txBody>
      </p:sp>
      <p:sp>
        <p:nvSpPr>
          <p:cNvPr id="17" name="Shape 14"/>
          <p:cNvSpPr/>
          <p:nvPr/>
        </p:nvSpPr>
        <p:spPr>
          <a:xfrm>
            <a:off x="7315200" y="3886200"/>
            <a:ext cx="3383280" cy="685800"/>
          </a:xfrm>
          <a:prstGeom prst="roundRect">
            <a:avLst>
              <a:gd name="adj" fmla="val 24000"/>
            </a:avLst>
          </a:prstGeom>
          <a:solidFill>
            <a:srgbClr val="11243A"/>
          </a:solidFill>
          <a:ln w="10160">
            <a:solidFill>
              <a:srgbClr val="7C3AED">
                <a:alpha val="8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8" name="Text 15"/>
          <p:cNvSpPr/>
          <p:nvPr/>
        </p:nvSpPr>
        <p:spPr>
          <a:xfrm>
            <a:off x="7479792" y="4032504"/>
            <a:ext cx="1280160" cy="201168"/>
          </a:xfrm>
          <a:prstGeom prst="rect">
            <a:avLst/>
          </a:prstGeom>
          <a:noFill/>
          <a:ln/>
        </p:spPr>
        <p:txBody>
          <a:bodyPr wrap="square" lIns="0" tIns="0" rIns="0" bIns="0" rtlCol="0" anchor="t">
            <a:normAutofit/>
          </a:bodyPr>
          <a:lstStyle/>
          <a:p>
            <a:pPr marL="0" indent="0" algn="l">
              <a:lnSpc>
                <a:spcPct val="98000"/>
              </a:lnSpc>
              <a:buNone/>
            </a:pPr>
            <a:r>
              <a:rPr lang="en-US" sz="1500" b="1" dirty="0">
                <a:solidFill>
                  <a:srgbClr val="FFFFFF"/>
                </a:solidFill>
                <a:latin typeface="Aptos" pitchFamily="34" charset="0"/>
                <a:ea typeface="Aptos" pitchFamily="34" charset="-122"/>
                <a:cs typeface="Aptos" pitchFamily="34" charset="-120"/>
              </a:rPr>
              <a:t>Insight</a:t>
            </a:r>
            <a:endParaRPr lang="en-US" sz="1500" dirty="0"/>
          </a:p>
        </p:txBody>
      </p:sp>
      <p:sp>
        <p:nvSpPr>
          <p:cNvPr id="19" name="Text 16"/>
          <p:cNvSpPr/>
          <p:nvPr/>
        </p:nvSpPr>
        <p:spPr>
          <a:xfrm>
            <a:off x="8869680" y="4078224"/>
            <a:ext cx="1463040" cy="164592"/>
          </a:xfrm>
          <a:prstGeom prst="rect">
            <a:avLst/>
          </a:prstGeom>
          <a:noFill/>
          <a:ln/>
        </p:spPr>
        <p:txBody>
          <a:bodyPr wrap="square" lIns="0" tIns="0" rIns="0" bIns="0" rtlCol="0" anchor="t">
            <a:normAutofit/>
          </a:bodyPr>
          <a:lstStyle/>
          <a:p>
            <a:pPr marL="0" indent="0" algn="r">
              <a:lnSpc>
                <a:spcPct val="98000"/>
              </a:lnSpc>
              <a:buNone/>
            </a:pPr>
            <a:r>
              <a:rPr lang="en-US" sz="1050" dirty="0">
                <a:solidFill>
                  <a:srgbClr val="9FB2CB"/>
                </a:solidFill>
                <a:latin typeface="Aptos" pitchFamily="34" charset="0"/>
                <a:ea typeface="Aptos" pitchFamily="34" charset="-122"/>
                <a:cs typeface="Aptos" pitchFamily="34" charset="-120"/>
              </a:rPr>
              <a:t>Business language</a:t>
            </a:r>
            <a:endParaRPr lang="en-US" sz="1050" dirty="0"/>
          </a:p>
        </p:txBody>
      </p:sp>
      <p:sp>
        <p:nvSpPr>
          <p:cNvPr id="20" name="Shape 17"/>
          <p:cNvSpPr/>
          <p:nvPr/>
        </p:nvSpPr>
        <p:spPr>
          <a:xfrm>
            <a:off x="9006840" y="2331720"/>
            <a:ext cx="0" cy="347472"/>
          </a:xfrm>
          <a:prstGeom prst="line">
            <a:avLst/>
          </a:prstGeom>
          <a:noFill/>
          <a:ln w="20320">
            <a:solidFill>
              <a:srgbClr val="A3E635"/>
            </a:solidFill>
            <a:prstDash val="solid"/>
            <a:headEnd type="none"/>
            <a:tailEnd type="triangle"/>
          </a:ln>
        </p:spPr>
        <p:txBody>
          <a:bodyPr/>
          <a:lstStyle/>
          <a:p>
            <a:endParaRPr lang="de-DE"/>
          </a:p>
        </p:txBody>
      </p:sp>
      <p:sp>
        <p:nvSpPr>
          <p:cNvPr id="21" name="Shape 18"/>
          <p:cNvSpPr/>
          <p:nvPr/>
        </p:nvSpPr>
        <p:spPr>
          <a:xfrm>
            <a:off x="9006840" y="3474720"/>
            <a:ext cx="0" cy="347472"/>
          </a:xfrm>
          <a:prstGeom prst="line">
            <a:avLst/>
          </a:prstGeom>
          <a:noFill/>
          <a:ln w="20320">
            <a:solidFill>
              <a:srgbClr val="A3E635"/>
            </a:solidFill>
            <a:prstDash val="solid"/>
            <a:headEnd type="none"/>
            <a:tailEnd type="triangle"/>
          </a:ln>
        </p:spPr>
        <p:txBody>
          <a:bodyPr/>
          <a:lstStyle/>
          <a:p>
            <a:endParaRPr lang="de-DE"/>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7C3AED">
              <a:alpha val="92000"/>
            </a:srgbClr>
          </a:solidFill>
          <a:ln w="12700">
            <a:solidFill>
              <a:srgbClr val="7C3AED">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chemeClr val="bg1"/>
                </a:solidFill>
                <a:latin typeface="Aptos" pitchFamily="34" charset="0"/>
                <a:ea typeface="Aptos" pitchFamily="34" charset="-122"/>
                <a:cs typeface="Aptos" pitchFamily="34" charset="-120"/>
              </a:rPr>
              <a:t>IMPLEMENTATION CONCEPT</a:t>
            </a:r>
            <a:endParaRPr lang="en-US" sz="850" dirty="0">
              <a:solidFill>
                <a:schemeClr val="bg1"/>
              </a:solidFill>
            </a:endParaRPr>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Frontend-only prototype</a:t>
            </a:r>
            <a:endParaRPr lang="en-US" sz="4000" dirty="0"/>
          </a:p>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for the current PoC.</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475569"/>
                </a:solidFill>
                <a:latin typeface="Aptos" pitchFamily="34" charset="0"/>
                <a:ea typeface="Aptos" pitchFamily="34" charset="-122"/>
                <a:cs typeface="Aptos" pitchFamily="34" charset="-120"/>
              </a:rPr>
              <a:t>The prototype runs directly in the browser. This keeps the technical setup simple and stable for a live demo.</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475569"/>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475569"/>
                </a:solidFill>
                <a:latin typeface="Aptos" pitchFamily="34" charset="0"/>
                <a:ea typeface="Aptos" pitchFamily="34" charset="-122"/>
                <a:cs typeface="Aptos" pitchFamily="34" charset="-120"/>
              </a:rPr>
              <a:t>04</a:t>
            </a:r>
            <a:endParaRPr lang="en-US" sz="950" dirty="0"/>
          </a:p>
        </p:txBody>
      </p:sp>
      <p:sp>
        <p:nvSpPr>
          <p:cNvPr id="9" name="Shape 6"/>
          <p:cNvSpPr/>
          <p:nvPr/>
        </p:nvSpPr>
        <p:spPr>
          <a:xfrm>
            <a:off x="566928" y="6382512"/>
            <a:ext cx="11064240" cy="0"/>
          </a:xfrm>
          <a:prstGeom prst="line">
            <a:avLst/>
          </a:prstGeom>
          <a:noFill/>
          <a:ln w="8890">
            <a:solidFill>
              <a:srgbClr val="CBD5E1">
                <a:alpha val="76000"/>
              </a:srgbClr>
            </a:solidFill>
            <a:prstDash val="solid"/>
          </a:ln>
        </p:spPr>
        <p:txBody>
          <a:bodyPr/>
          <a:lstStyle/>
          <a:p>
            <a:endParaRPr lang="de-DE"/>
          </a:p>
        </p:txBody>
      </p:sp>
      <p:sp>
        <p:nvSpPr>
          <p:cNvPr id="10" name="Shape 7"/>
          <p:cNvSpPr/>
          <p:nvPr/>
        </p:nvSpPr>
        <p:spPr>
          <a:xfrm>
            <a:off x="822960" y="4892040"/>
            <a:ext cx="2331720" cy="914400"/>
          </a:xfrm>
          <a:prstGeom prst="roundRect">
            <a:avLst>
              <a:gd name="adj" fmla="val 18000"/>
            </a:avLst>
          </a:prstGeom>
          <a:solidFill>
            <a:srgbClr val="FFFFFF"/>
          </a:solidFill>
          <a:ln w="10160">
            <a:solidFill>
              <a:srgbClr val="2563EB">
                <a:alpha val="58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1" name="Text 8"/>
          <p:cNvSpPr/>
          <p:nvPr/>
        </p:nvSpPr>
        <p:spPr>
          <a:xfrm>
            <a:off x="969264" y="5084064"/>
            <a:ext cx="2011680" cy="201168"/>
          </a:xfrm>
          <a:prstGeom prst="rect">
            <a:avLst/>
          </a:prstGeom>
          <a:noFill/>
          <a:ln/>
        </p:spPr>
        <p:txBody>
          <a:bodyPr wrap="square" lIns="0" tIns="0" rIns="0" bIns="0" rtlCol="0" anchor="t">
            <a:normAutofit/>
          </a:bodyPr>
          <a:lstStyle/>
          <a:p>
            <a:pPr marL="0" indent="0" algn="l">
              <a:lnSpc>
                <a:spcPct val="98000"/>
              </a:lnSpc>
              <a:buNone/>
            </a:pPr>
            <a:r>
              <a:rPr lang="en-US" sz="1200" b="1" dirty="0">
                <a:solidFill>
                  <a:srgbClr val="07111F"/>
                </a:solidFill>
                <a:latin typeface="Aptos" pitchFamily="34" charset="0"/>
                <a:ea typeface="Aptos" pitchFamily="34" charset="-122"/>
                <a:cs typeface="Aptos" pitchFamily="34" charset="-120"/>
              </a:rPr>
              <a:t>HTML / CSS / JavaScript</a:t>
            </a:r>
            <a:endParaRPr lang="en-US" sz="1200" dirty="0"/>
          </a:p>
        </p:txBody>
      </p:sp>
      <p:sp>
        <p:nvSpPr>
          <p:cNvPr id="12" name="Text 9"/>
          <p:cNvSpPr/>
          <p:nvPr/>
        </p:nvSpPr>
        <p:spPr>
          <a:xfrm>
            <a:off x="969264" y="5394960"/>
            <a:ext cx="1920240" cy="164592"/>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475569"/>
                </a:solidFill>
                <a:latin typeface="Aptos" pitchFamily="34" charset="0"/>
                <a:ea typeface="Aptos" pitchFamily="34" charset="-122"/>
                <a:cs typeface="Aptos" pitchFamily="34" charset="-120"/>
              </a:rPr>
              <a:t>interface + logic</a:t>
            </a:r>
            <a:endParaRPr lang="en-US" sz="950" dirty="0"/>
          </a:p>
        </p:txBody>
      </p:sp>
      <p:sp>
        <p:nvSpPr>
          <p:cNvPr id="13" name="Shape 10"/>
          <p:cNvSpPr/>
          <p:nvPr/>
        </p:nvSpPr>
        <p:spPr>
          <a:xfrm>
            <a:off x="3611880" y="4892040"/>
            <a:ext cx="2331720" cy="914400"/>
          </a:xfrm>
          <a:prstGeom prst="roundRect">
            <a:avLst>
              <a:gd name="adj" fmla="val 18000"/>
            </a:avLst>
          </a:prstGeom>
          <a:solidFill>
            <a:srgbClr val="FFFFFF"/>
          </a:solidFill>
          <a:ln w="10160">
            <a:solidFill>
              <a:srgbClr val="16A34A">
                <a:alpha val="58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4" name="Text 11"/>
          <p:cNvSpPr/>
          <p:nvPr/>
        </p:nvSpPr>
        <p:spPr>
          <a:xfrm>
            <a:off x="3758184" y="5084064"/>
            <a:ext cx="2011680" cy="201168"/>
          </a:xfrm>
          <a:prstGeom prst="rect">
            <a:avLst/>
          </a:prstGeom>
          <a:noFill/>
          <a:ln/>
        </p:spPr>
        <p:txBody>
          <a:bodyPr wrap="square" lIns="0" tIns="0" rIns="0" bIns="0" rtlCol="0" anchor="t">
            <a:normAutofit/>
          </a:bodyPr>
          <a:lstStyle/>
          <a:p>
            <a:pPr marL="0" indent="0" algn="l">
              <a:lnSpc>
                <a:spcPct val="98000"/>
              </a:lnSpc>
              <a:buNone/>
            </a:pPr>
            <a:r>
              <a:rPr lang="en-US" sz="1200" b="1" dirty="0">
                <a:solidFill>
                  <a:srgbClr val="07111F"/>
                </a:solidFill>
                <a:latin typeface="Aptos" pitchFamily="34" charset="0"/>
                <a:ea typeface="Aptos" pitchFamily="34" charset="-122"/>
                <a:cs typeface="Aptos" pitchFamily="34" charset="-120"/>
              </a:rPr>
              <a:t>PapaParse</a:t>
            </a:r>
            <a:endParaRPr lang="en-US" sz="1200" dirty="0"/>
          </a:p>
        </p:txBody>
      </p:sp>
      <p:sp>
        <p:nvSpPr>
          <p:cNvPr id="15" name="Text 12"/>
          <p:cNvSpPr/>
          <p:nvPr/>
        </p:nvSpPr>
        <p:spPr>
          <a:xfrm>
            <a:off x="3758184" y="5394960"/>
            <a:ext cx="1920240" cy="164592"/>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475569"/>
                </a:solidFill>
                <a:latin typeface="Aptos" pitchFamily="34" charset="0"/>
                <a:ea typeface="Aptos" pitchFamily="34" charset="-122"/>
                <a:cs typeface="Aptos" pitchFamily="34" charset="-120"/>
              </a:rPr>
              <a:t>CSV parsing</a:t>
            </a:r>
            <a:endParaRPr lang="en-US" sz="950" dirty="0"/>
          </a:p>
        </p:txBody>
      </p:sp>
      <p:sp>
        <p:nvSpPr>
          <p:cNvPr id="16" name="Shape 13"/>
          <p:cNvSpPr/>
          <p:nvPr/>
        </p:nvSpPr>
        <p:spPr>
          <a:xfrm>
            <a:off x="6400800" y="4892040"/>
            <a:ext cx="2331720" cy="914400"/>
          </a:xfrm>
          <a:prstGeom prst="roundRect">
            <a:avLst>
              <a:gd name="adj" fmla="val 18000"/>
            </a:avLst>
          </a:prstGeom>
          <a:solidFill>
            <a:srgbClr val="FFFFFF"/>
          </a:solidFill>
          <a:ln w="10160">
            <a:solidFill>
              <a:srgbClr val="F59E0B">
                <a:alpha val="58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7" name="Text 14"/>
          <p:cNvSpPr/>
          <p:nvPr/>
        </p:nvSpPr>
        <p:spPr>
          <a:xfrm>
            <a:off x="6547104" y="5084064"/>
            <a:ext cx="2011680" cy="201168"/>
          </a:xfrm>
          <a:prstGeom prst="rect">
            <a:avLst/>
          </a:prstGeom>
          <a:noFill/>
          <a:ln/>
        </p:spPr>
        <p:txBody>
          <a:bodyPr wrap="square" lIns="0" tIns="0" rIns="0" bIns="0" rtlCol="0" anchor="t">
            <a:normAutofit/>
          </a:bodyPr>
          <a:lstStyle/>
          <a:p>
            <a:pPr marL="0" indent="0" algn="l">
              <a:lnSpc>
                <a:spcPct val="98000"/>
              </a:lnSpc>
              <a:buNone/>
            </a:pPr>
            <a:r>
              <a:rPr lang="en-US" sz="1200" b="1" dirty="0">
                <a:solidFill>
                  <a:srgbClr val="07111F"/>
                </a:solidFill>
                <a:latin typeface="Aptos" pitchFamily="34" charset="0"/>
                <a:ea typeface="Aptos" pitchFamily="34" charset="-122"/>
                <a:cs typeface="Aptos" pitchFamily="34" charset="-120"/>
              </a:rPr>
              <a:t>SheetJS</a:t>
            </a:r>
            <a:endParaRPr lang="en-US" sz="1200" dirty="0"/>
          </a:p>
        </p:txBody>
      </p:sp>
      <p:sp>
        <p:nvSpPr>
          <p:cNvPr id="18" name="Text 15"/>
          <p:cNvSpPr/>
          <p:nvPr/>
        </p:nvSpPr>
        <p:spPr>
          <a:xfrm>
            <a:off x="6547104" y="5394960"/>
            <a:ext cx="1920240" cy="164592"/>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475569"/>
                </a:solidFill>
                <a:latin typeface="Aptos" pitchFamily="34" charset="0"/>
                <a:ea typeface="Aptos" pitchFamily="34" charset="-122"/>
                <a:cs typeface="Aptos" pitchFamily="34" charset="-120"/>
              </a:rPr>
              <a:t>Excel parsing</a:t>
            </a:r>
            <a:endParaRPr lang="en-US" sz="950" dirty="0"/>
          </a:p>
        </p:txBody>
      </p:sp>
      <p:sp>
        <p:nvSpPr>
          <p:cNvPr id="19" name="Shape 16"/>
          <p:cNvSpPr/>
          <p:nvPr/>
        </p:nvSpPr>
        <p:spPr>
          <a:xfrm>
            <a:off x="9189720" y="4892040"/>
            <a:ext cx="2331720" cy="914400"/>
          </a:xfrm>
          <a:prstGeom prst="roundRect">
            <a:avLst>
              <a:gd name="adj" fmla="val 18000"/>
            </a:avLst>
          </a:prstGeom>
          <a:solidFill>
            <a:srgbClr val="FFFFFF"/>
          </a:solidFill>
          <a:ln w="10160">
            <a:solidFill>
              <a:srgbClr val="7C3AED">
                <a:alpha val="58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0" name="Text 17"/>
          <p:cNvSpPr/>
          <p:nvPr/>
        </p:nvSpPr>
        <p:spPr>
          <a:xfrm>
            <a:off x="9336024" y="5084064"/>
            <a:ext cx="2011680" cy="201168"/>
          </a:xfrm>
          <a:prstGeom prst="rect">
            <a:avLst/>
          </a:prstGeom>
          <a:noFill/>
          <a:ln/>
        </p:spPr>
        <p:txBody>
          <a:bodyPr wrap="square" lIns="0" tIns="0" rIns="0" bIns="0" rtlCol="0" anchor="t">
            <a:normAutofit/>
          </a:bodyPr>
          <a:lstStyle/>
          <a:p>
            <a:pPr marL="0" indent="0" algn="l">
              <a:lnSpc>
                <a:spcPct val="98000"/>
              </a:lnSpc>
              <a:buNone/>
            </a:pPr>
            <a:r>
              <a:rPr lang="en-US" sz="1200" b="1" dirty="0">
                <a:solidFill>
                  <a:srgbClr val="07111F"/>
                </a:solidFill>
                <a:latin typeface="Aptos" pitchFamily="34" charset="0"/>
                <a:ea typeface="Aptos" pitchFamily="34" charset="-122"/>
                <a:cs typeface="Aptos" pitchFamily="34" charset="-120"/>
              </a:rPr>
              <a:t>Chart.js</a:t>
            </a:r>
            <a:endParaRPr lang="en-US" sz="1200" dirty="0"/>
          </a:p>
        </p:txBody>
      </p:sp>
      <p:sp>
        <p:nvSpPr>
          <p:cNvPr id="21" name="Text 18"/>
          <p:cNvSpPr/>
          <p:nvPr/>
        </p:nvSpPr>
        <p:spPr>
          <a:xfrm>
            <a:off x="9336024" y="5394960"/>
            <a:ext cx="1920240" cy="164592"/>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475569"/>
                </a:solidFill>
                <a:latin typeface="Aptos" pitchFamily="34" charset="0"/>
                <a:ea typeface="Aptos" pitchFamily="34" charset="-122"/>
                <a:cs typeface="Aptos" pitchFamily="34" charset="-120"/>
              </a:rPr>
              <a:t>visualization</a:t>
            </a:r>
            <a:endParaRPr lang="en-US" sz="950" dirty="0"/>
          </a:p>
        </p:txBody>
      </p:sp>
      <p:sp>
        <p:nvSpPr>
          <p:cNvPr id="22" name="Shape 19"/>
          <p:cNvSpPr/>
          <p:nvPr/>
        </p:nvSpPr>
        <p:spPr>
          <a:xfrm>
            <a:off x="6766560" y="960120"/>
            <a:ext cx="4526280" cy="3401568"/>
          </a:xfrm>
          <a:prstGeom prst="roundRect">
            <a:avLst>
              <a:gd name="adj" fmla="val 4839"/>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23" name="Shape 20"/>
          <p:cNvSpPr/>
          <p:nvPr/>
        </p:nvSpPr>
        <p:spPr>
          <a:xfrm>
            <a:off x="6766560" y="960120"/>
            <a:ext cx="4526280" cy="438912"/>
          </a:xfrm>
          <a:prstGeom prst="rect">
            <a:avLst/>
          </a:prstGeom>
          <a:solidFill>
            <a:srgbClr val="EAF2FF"/>
          </a:solidFill>
          <a:ln w="7620">
            <a:solidFill>
              <a:srgbClr val="D8E2F0"/>
            </a:solidFill>
            <a:prstDash val="solid"/>
          </a:ln>
        </p:spPr>
        <p:txBody>
          <a:bodyPr/>
          <a:lstStyle/>
          <a:p>
            <a:endParaRPr lang="de-DE"/>
          </a:p>
        </p:txBody>
      </p:sp>
      <p:sp>
        <p:nvSpPr>
          <p:cNvPr id="24" name="Shape 21"/>
          <p:cNvSpPr/>
          <p:nvPr/>
        </p:nvSpPr>
        <p:spPr>
          <a:xfrm>
            <a:off x="6976872" y="1115568"/>
            <a:ext cx="100584" cy="100584"/>
          </a:xfrm>
          <a:prstGeom prst="ellipse">
            <a:avLst/>
          </a:prstGeom>
          <a:solidFill>
            <a:srgbClr val="FF5F57"/>
          </a:solidFill>
          <a:ln w="12700">
            <a:solidFill>
              <a:srgbClr val="333333">
                <a:alpha val="0"/>
              </a:srgbClr>
            </a:solidFill>
            <a:prstDash val="solid"/>
          </a:ln>
        </p:spPr>
        <p:txBody>
          <a:bodyPr/>
          <a:lstStyle/>
          <a:p>
            <a:endParaRPr lang="de-DE"/>
          </a:p>
        </p:txBody>
      </p:sp>
      <p:sp>
        <p:nvSpPr>
          <p:cNvPr id="25" name="Shape 22"/>
          <p:cNvSpPr/>
          <p:nvPr/>
        </p:nvSpPr>
        <p:spPr>
          <a:xfrm>
            <a:off x="7187184" y="1115568"/>
            <a:ext cx="100584" cy="100584"/>
          </a:xfrm>
          <a:prstGeom prst="ellipse">
            <a:avLst/>
          </a:prstGeom>
          <a:solidFill>
            <a:srgbClr val="FFBD2E"/>
          </a:solidFill>
          <a:ln w="12700">
            <a:solidFill>
              <a:srgbClr val="333333">
                <a:alpha val="0"/>
              </a:srgbClr>
            </a:solidFill>
            <a:prstDash val="solid"/>
          </a:ln>
        </p:spPr>
        <p:txBody>
          <a:bodyPr/>
          <a:lstStyle/>
          <a:p>
            <a:endParaRPr lang="de-DE"/>
          </a:p>
        </p:txBody>
      </p:sp>
      <p:sp>
        <p:nvSpPr>
          <p:cNvPr id="26" name="Shape 23"/>
          <p:cNvSpPr/>
          <p:nvPr/>
        </p:nvSpPr>
        <p:spPr>
          <a:xfrm>
            <a:off x="7397496" y="1115568"/>
            <a:ext cx="100584" cy="100584"/>
          </a:xfrm>
          <a:prstGeom prst="ellipse">
            <a:avLst/>
          </a:prstGeom>
          <a:solidFill>
            <a:srgbClr val="28C840"/>
          </a:solidFill>
          <a:ln w="12700">
            <a:solidFill>
              <a:srgbClr val="333333">
                <a:alpha val="0"/>
              </a:srgbClr>
            </a:solidFill>
            <a:prstDash val="solid"/>
          </a:ln>
        </p:spPr>
        <p:txBody>
          <a:bodyPr/>
          <a:lstStyle/>
          <a:p>
            <a:endParaRPr lang="de-DE"/>
          </a:p>
        </p:txBody>
      </p:sp>
      <p:sp>
        <p:nvSpPr>
          <p:cNvPr id="27" name="Text 24"/>
          <p:cNvSpPr/>
          <p:nvPr/>
        </p:nvSpPr>
        <p:spPr>
          <a:xfrm>
            <a:off x="7086600" y="1609344"/>
            <a:ext cx="1645920" cy="182880"/>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475569"/>
                </a:solidFill>
                <a:latin typeface="Aptos" pitchFamily="34" charset="0"/>
                <a:ea typeface="Aptos" pitchFamily="34" charset="-122"/>
                <a:cs typeface="Aptos" pitchFamily="34" charset="-120"/>
              </a:rPr>
              <a:t>Browser runtime</a:t>
            </a:r>
            <a:endParaRPr lang="en-US" sz="1100" dirty="0"/>
          </a:p>
        </p:txBody>
      </p:sp>
      <p:sp>
        <p:nvSpPr>
          <p:cNvPr id="28" name="Shape 25"/>
          <p:cNvSpPr/>
          <p:nvPr/>
        </p:nvSpPr>
        <p:spPr>
          <a:xfrm>
            <a:off x="7086600" y="2029968"/>
            <a:ext cx="1600200" cy="960120"/>
          </a:xfrm>
          <a:prstGeom prst="roundRect">
            <a:avLst>
              <a:gd name="adj" fmla="val 17143"/>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29" name="Text 26"/>
          <p:cNvSpPr/>
          <p:nvPr/>
        </p:nvSpPr>
        <p:spPr>
          <a:xfrm>
            <a:off x="7251192" y="2194560"/>
            <a:ext cx="1271016" cy="128016"/>
          </a:xfrm>
          <a:prstGeom prst="rect">
            <a:avLst/>
          </a:prstGeom>
          <a:noFill/>
          <a:ln/>
        </p:spPr>
        <p:txBody>
          <a:bodyPr wrap="square" lIns="0" tIns="0" rIns="0" bIns="0" rtlCol="0" anchor="t">
            <a:normAutofit/>
          </a:bodyPr>
          <a:lstStyle/>
          <a:p>
            <a:pPr marL="0" indent="0" algn="l">
              <a:lnSpc>
                <a:spcPct val="98000"/>
              </a:lnSpc>
              <a:buNone/>
            </a:pPr>
            <a:r>
              <a:rPr lang="en-US" sz="780" b="1" dirty="0">
                <a:solidFill>
                  <a:srgbClr val="475569"/>
                </a:solidFill>
                <a:latin typeface="Aptos" pitchFamily="34" charset="0"/>
                <a:ea typeface="Aptos" pitchFamily="34" charset="-122"/>
                <a:cs typeface="Aptos" pitchFamily="34" charset="-120"/>
              </a:rPr>
              <a:t>UPLOAD</a:t>
            </a:r>
            <a:endParaRPr lang="en-US" sz="780" dirty="0"/>
          </a:p>
        </p:txBody>
      </p:sp>
      <p:sp>
        <p:nvSpPr>
          <p:cNvPr id="30" name="Text 27"/>
          <p:cNvSpPr/>
          <p:nvPr/>
        </p:nvSpPr>
        <p:spPr>
          <a:xfrm>
            <a:off x="7251192" y="2423160"/>
            <a:ext cx="1271016" cy="329184"/>
          </a:xfrm>
          <a:prstGeom prst="rect">
            <a:avLst/>
          </a:prstGeom>
          <a:noFill/>
          <a:ln/>
        </p:spPr>
        <p:txBody>
          <a:bodyPr wrap="square" lIns="0" tIns="0" rIns="0" bIns="0" rtlCol="0" anchor="t">
            <a:normAutofit/>
          </a:bodyPr>
          <a:lstStyle/>
          <a:p>
            <a:pPr marL="0" indent="0" algn="l">
              <a:lnSpc>
                <a:spcPct val="98000"/>
              </a:lnSpc>
              <a:buNone/>
            </a:pPr>
            <a:r>
              <a:rPr lang="en-US" sz="2000" b="1" dirty="0">
                <a:solidFill>
                  <a:srgbClr val="07111F"/>
                </a:solidFill>
                <a:latin typeface="Aptos" pitchFamily="34" charset="0"/>
                <a:ea typeface="Aptos" pitchFamily="34" charset="-122"/>
                <a:cs typeface="Aptos" pitchFamily="34" charset="-120"/>
              </a:rPr>
              <a:t>CSV / XLSX</a:t>
            </a:r>
            <a:endParaRPr lang="en-US" sz="2000" dirty="0"/>
          </a:p>
        </p:txBody>
      </p:sp>
      <p:sp>
        <p:nvSpPr>
          <p:cNvPr id="31" name="Shape 28"/>
          <p:cNvSpPr/>
          <p:nvPr/>
        </p:nvSpPr>
        <p:spPr>
          <a:xfrm>
            <a:off x="7086600" y="2139696"/>
            <a:ext cx="41148" cy="749808"/>
          </a:xfrm>
          <a:prstGeom prst="rect">
            <a:avLst/>
          </a:prstGeom>
          <a:solidFill>
            <a:srgbClr val="2563EB"/>
          </a:solidFill>
          <a:ln w="12700">
            <a:solidFill>
              <a:srgbClr val="333333">
                <a:alpha val="0"/>
              </a:srgbClr>
            </a:solidFill>
            <a:prstDash val="solid"/>
          </a:ln>
        </p:spPr>
        <p:txBody>
          <a:bodyPr/>
          <a:lstStyle/>
          <a:p>
            <a:endParaRPr lang="de-DE"/>
          </a:p>
        </p:txBody>
      </p:sp>
      <p:sp>
        <p:nvSpPr>
          <p:cNvPr id="32" name="Shape 29"/>
          <p:cNvSpPr/>
          <p:nvPr/>
        </p:nvSpPr>
        <p:spPr>
          <a:xfrm>
            <a:off x="8887968" y="2029968"/>
            <a:ext cx="1600200" cy="960120"/>
          </a:xfrm>
          <a:prstGeom prst="roundRect">
            <a:avLst>
              <a:gd name="adj" fmla="val 17143"/>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33" name="Text 30"/>
          <p:cNvSpPr/>
          <p:nvPr/>
        </p:nvSpPr>
        <p:spPr>
          <a:xfrm>
            <a:off x="9052560" y="2194560"/>
            <a:ext cx="1271016" cy="128016"/>
          </a:xfrm>
          <a:prstGeom prst="rect">
            <a:avLst/>
          </a:prstGeom>
          <a:noFill/>
          <a:ln/>
        </p:spPr>
        <p:txBody>
          <a:bodyPr wrap="square" lIns="0" tIns="0" rIns="0" bIns="0" rtlCol="0" anchor="t">
            <a:normAutofit/>
          </a:bodyPr>
          <a:lstStyle/>
          <a:p>
            <a:pPr marL="0" indent="0" algn="l">
              <a:lnSpc>
                <a:spcPct val="98000"/>
              </a:lnSpc>
              <a:buNone/>
            </a:pPr>
            <a:r>
              <a:rPr lang="en-US" sz="780" b="1" dirty="0">
                <a:solidFill>
                  <a:srgbClr val="475569"/>
                </a:solidFill>
                <a:latin typeface="Aptos" pitchFamily="34" charset="0"/>
                <a:ea typeface="Aptos" pitchFamily="34" charset="-122"/>
                <a:cs typeface="Aptos" pitchFamily="34" charset="-120"/>
              </a:rPr>
              <a:t>ANALYSIS</a:t>
            </a:r>
            <a:endParaRPr lang="en-US" sz="780" dirty="0"/>
          </a:p>
        </p:txBody>
      </p:sp>
      <p:sp>
        <p:nvSpPr>
          <p:cNvPr id="34" name="Text 31"/>
          <p:cNvSpPr/>
          <p:nvPr/>
        </p:nvSpPr>
        <p:spPr>
          <a:xfrm>
            <a:off x="9052560" y="2423160"/>
            <a:ext cx="1271016" cy="329184"/>
          </a:xfrm>
          <a:prstGeom prst="rect">
            <a:avLst/>
          </a:prstGeom>
          <a:noFill/>
          <a:ln/>
        </p:spPr>
        <p:txBody>
          <a:bodyPr wrap="square" lIns="0" tIns="0" rIns="0" bIns="0" rtlCol="0" anchor="t">
            <a:normAutofit/>
          </a:bodyPr>
          <a:lstStyle/>
          <a:p>
            <a:pPr marL="0" indent="0" algn="l">
              <a:lnSpc>
                <a:spcPct val="98000"/>
              </a:lnSpc>
              <a:buNone/>
            </a:pPr>
            <a:r>
              <a:rPr lang="en-US" sz="2000" b="1" dirty="0">
                <a:solidFill>
                  <a:srgbClr val="07111F"/>
                </a:solidFill>
                <a:latin typeface="Aptos" pitchFamily="34" charset="0"/>
                <a:ea typeface="Aptos" pitchFamily="34" charset="-122"/>
                <a:cs typeface="Aptos" pitchFamily="34" charset="-120"/>
              </a:rPr>
              <a:t>local JS</a:t>
            </a:r>
            <a:endParaRPr lang="en-US" sz="2000" dirty="0"/>
          </a:p>
        </p:txBody>
      </p:sp>
      <p:sp>
        <p:nvSpPr>
          <p:cNvPr id="35" name="Shape 32"/>
          <p:cNvSpPr/>
          <p:nvPr/>
        </p:nvSpPr>
        <p:spPr>
          <a:xfrm>
            <a:off x="8887968" y="2139696"/>
            <a:ext cx="41148" cy="749808"/>
          </a:xfrm>
          <a:prstGeom prst="rect">
            <a:avLst/>
          </a:prstGeom>
          <a:solidFill>
            <a:srgbClr val="16A34A"/>
          </a:solidFill>
          <a:ln w="12700">
            <a:solidFill>
              <a:srgbClr val="333333">
                <a:alpha val="0"/>
              </a:srgbClr>
            </a:solidFill>
            <a:prstDash val="solid"/>
          </a:ln>
        </p:spPr>
        <p:txBody>
          <a:bodyPr/>
          <a:lstStyle/>
          <a:p>
            <a:endParaRPr lang="de-DE"/>
          </a:p>
        </p:txBody>
      </p:sp>
      <p:sp>
        <p:nvSpPr>
          <p:cNvPr id="36" name="Shape 33"/>
          <p:cNvSpPr/>
          <p:nvPr/>
        </p:nvSpPr>
        <p:spPr>
          <a:xfrm>
            <a:off x="7982712" y="3127248"/>
            <a:ext cx="1783080" cy="960120"/>
          </a:xfrm>
          <a:prstGeom prst="roundRect">
            <a:avLst>
              <a:gd name="adj" fmla="val 17143"/>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37" name="Text 34"/>
          <p:cNvSpPr/>
          <p:nvPr/>
        </p:nvSpPr>
        <p:spPr>
          <a:xfrm>
            <a:off x="8147304" y="3291840"/>
            <a:ext cx="1453896" cy="128016"/>
          </a:xfrm>
          <a:prstGeom prst="rect">
            <a:avLst/>
          </a:prstGeom>
          <a:noFill/>
          <a:ln/>
        </p:spPr>
        <p:txBody>
          <a:bodyPr wrap="square" lIns="0" tIns="0" rIns="0" bIns="0" rtlCol="0" anchor="t">
            <a:normAutofit/>
          </a:bodyPr>
          <a:lstStyle/>
          <a:p>
            <a:pPr marL="0" indent="0" algn="l">
              <a:lnSpc>
                <a:spcPct val="98000"/>
              </a:lnSpc>
              <a:buNone/>
            </a:pPr>
            <a:r>
              <a:rPr lang="en-US" sz="780" b="1" dirty="0">
                <a:solidFill>
                  <a:srgbClr val="475569"/>
                </a:solidFill>
                <a:latin typeface="Aptos" pitchFamily="34" charset="0"/>
                <a:ea typeface="Aptos" pitchFamily="34" charset="-122"/>
                <a:cs typeface="Aptos" pitchFamily="34" charset="-120"/>
              </a:rPr>
              <a:t>OUTPUT</a:t>
            </a:r>
            <a:endParaRPr lang="en-US" sz="780" dirty="0"/>
          </a:p>
        </p:txBody>
      </p:sp>
      <p:sp>
        <p:nvSpPr>
          <p:cNvPr id="38" name="Text 35"/>
          <p:cNvSpPr/>
          <p:nvPr/>
        </p:nvSpPr>
        <p:spPr>
          <a:xfrm>
            <a:off x="8147304" y="3520440"/>
            <a:ext cx="1453896" cy="329184"/>
          </a:xfrm>
          <a:prstGeom prst="rect">
            <a:avLst/>
          </a:prstGeom>
          <a:noFill/>
          <a:ln/>
        </p:spPr>
        <p:txBody>
          <a:bodyPr wrap="square" lIns="0" tIns="0" rIns="0" bIns="0" rtlCol="0" anchor="t">
            <a:normAutofit/>
          </a:bodyPr>
          <a:lstStyle/>
          <a:p>
            <a:pPr marL="0" indent="0" algn="l">
              <a:lnSpc>
                <a:spcPct val="98000"/>
              </a:lnSpc>
              <a:buNone/>
            </a:pPr>
            <a:r>
              <a:rPr lang="en-US" sz="2000" b="1" dirty="0">
                <a:solidFill>
                  <a:srgbClr val="07111F"/>
                </a:solidFill>
                <a:latin typeface="Aptos" pitchFamily="34" charset="0"/>
                <a:ea typeface="Aptos" pitchFamily="34" charset="-122"/>
                <a:cs typeface="Aptos" pitchFamily="34" charset="-120"/>
              </a:rPr>
              <a:t>charts + cards</a:t>
            </a:r>
            <a:endParaRPr lang="en-US" sz="2000" dirty="0"/>
          </a:p>
        </p:txBody>
      </p:sp>
      <p:sp>
        <p:nvSpPr>
          <p:cNvPr id="39" name="Shape 36"/>
          <p:cNvSpPr/>
          <p:nvPr/>
        </p:nvSpPr>
        <p:spPr>
          <a:xfrm>
            <a:off x="7982712" y="3236976"/>
            <a:ext cx="41148" cy="749808"/>
          </a:xfrm>
          <a:prstGeom prst="rect">
            <a:avLst/>
          </a:prstGeom>
          <a:solidFill>
            <a:srgbClr val="7C3AED"/>
          </a:solidFill>
          <a:ln w="12700">
            <a:solidFill>
              <a:srgbClr val="333333">
                <a:alpha val="0"/>
              </a:srgbClr>
            </a:solidFill>
            <a:prstDash val="solid"/>
          </a:ln>
        </p:spPr>
        <p:txBody>
          <a:bodyPr/>
          <a:lstStyle/>
          <a:p>
            <a:endParaRPr lang="de-DE"/>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06B6D4">
              <a:alpha val="96000"/>
            </a:srgbClr>
          </a:solidFill>
          <a:ln w="12700">
            <a:solidFill>
              <a:srgbClr val="06B6D4">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rgbClr val="FFFFFF"/>
                </a:solidFill>
                <a:latin typeface="Aptos" pitchFamily="34" charset="0"/>
                <a:ea typeface="Aptos" pitchFamily="34" charset="-122"/>
                <a:cs typeface="Aptos" pitchFamily="34" charset="-120"/>
              </a:rPr>
              <a:t>WORKFLOW</a:t>
            </a:r>
            <a:endParaRPr lang="en-US" sz="850" dirty="0"/>
          </a:p>
        </p:txBody>
      </p:sp>
      <p:sp>
        <p:nvSpPr>
          <p:cNvPr id="5" name="Text 2"/>
          <p:cNvSpPr/>
          <p:nvPr/>
        </p:nvSpPr>
        <p:spPr>
          <a:xfrm>
            <a:off x="658368" y="1572768"/>
            <a:ext cx="10058400" cy="1508760"/>
          </a:xfrm>
          <a:prstGeom prst="rect">
            <a:avLst/>
          </a:prstGeom>
          <a:noFill/>
          <a:ln/>
        </p:spPr>
        <p:txBody>
          <a:bodyPr wrap="square" lIns="0" tIns="0" rIns="0" bIns="0" rtlCol="0" anchor="t">
            <a:normAutofit/>
          </a:bodyPr>
          <a:lstStyle/>
          <a:p>
            <a:pPr marL="0" indent="0" algn="l">
              <a:lnSpc>
                <a:spcPct val="86000"/>
              </a:lnSpc>
              <a:buNone/>
            </a:pPr>
            <a:r>
              <a:rPr lang="en-US" sz="3400" b="1" dirty="0">
                <a:solidFill>
                  <a:srgbClr val="FFFFFF"/>
                </a:solidFill>
                <a:latin typeface="Aptos Display" pitchFamily="34" charset="0"/>
                <a:ea typeface="Aptos Display" pitchFamily="34" charset="-122"/>
                <a:cs typeface="Aptos Display" pitchFamily="34" charset="-120"/>
              </a:rPr>
              <a:t>Upload → Validate → Ask → Analyze → Explain</a:t>
            </a:r>
            <a:endParaRPr lang="en-US" sz="3400" dirty="0"/>
          </a:p>
        </p:txBody>
      </p:sp>
      <p:sp>
        <p:nvSpPr>
          <p:cNvPr id="6" name="Text 3"/>
          <p:cNvSpPr/>
          <p:nvPr/>
        </p:nvSpPr>
        <p:spPr>
          <a:xfrm>
            <a:off x="676656" y="3172968"/>
            <a:ext cx="740664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9FB2CB"/>
                </a:solidFill>
                <a:latin typeface="Aptos" pitchFamily="34" charset="0"/>
                <a:ea typeface="Aptos" pitchFamily="34" charset="-122"/>
                <a:cs typeface="Aptos" pitchFamily="34" charset="-120"/>
              </a:rPr>
              <a:t>The workflow is designed to be simple enough for a live presentation and clear enough for non-technical SME users.</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9FB2CB"/>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9FB2CB"/>
                </a:solidFill>
                <a:latin typeface="Aptos" pitchFamily="34" charset="0"/>
                <a:ea typeface="Aptos" pitchFamily="34" charset="-122"/>
                <a:cs typeface="Aptos" pitchFamily="34" charset="-120"/>
              </a:rPr>
              <a:t>05</a:t>
            </a:r>
            <a:endParaRPr lang="en-US" sz="950" dirty="0"/>
          </a:p>
        </p:txBody>
      </p:sp>
      <p:sp>
        <p:nvSpPr>
          <p:cNvPr id="9" name="Shape 6"/>
          <p:cNvSpPr/>
          <p:nvPr/>
        </p:nvSpPr>
        <p:spPr>
          <a:xfrm>
            <a:off x="566928" y="6382512"/>
            <a:ext cx="11064240" cy="0"/>
          </a:xfrm>
          <a:prstGeom prst="line">
            <a:avLst/>
          </a:prstGeom>
          <a:noFill/>
          <a:ln w="8890">
            <a:solidFill>
              <a:srgbClr val="31465E">
                <a:alpha val="76000"/>
              </a:srgbClr>
            </a:solidFill>
            <a:prstDash val="solid"/>
          </a:ln>
        </p:spPr>
        <p:txBody>
          <a:bodyPr/>
          <a:lstStyle/>
          <a:p>
            <a:endParaRPr lang="de-DE"/>
          </a:p>
        </p:txBody>
      </p:sp>
      <p:sp>
        <p:nvSpPr>
          <p:cNvPr id="10" name="Shape 7"/>
          <p:cNvSpPr/>
          <p:nvPr/>
        </p:nvSpPr>
        <p:spPr>
          <a:xfrm>
            <a:off x="713232" y="4069080"/>
            <a:ext cx="1572768" cy="1143000"/>
          </a:xfrm>
          <a:prstGeom prst="roundRect">
            <a:avLst>
              <a:gd name="adj" fmla="val 14400"/>
            </a:avLst>
          </a:prstGeom>
          <a:solidFill>
            <a:srgbClr val="0E1C2D"/>
          </a:solidFill>
          <a:ln w="10160">
            <a:solidFill>
              <a:srgbClr val="2563EB">
                <a:alpha val="9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1" name="Text 8"/>
          <p:cNvSpPr/>
          <p:nvPr/>
        </p:nvSpPr>
        <p:spPr>
          <a:xfrm>
            <a:off x="859536" y="4224528"/>
            <a:ext cx="457200" cy="137160"/>
          </a:xfrm>
          <a:prstGeom prst="rect">
            <a:avLst/>
          </a:prstGeom>
          <a:noFill/>
          <a:ln/>
        </p:spPr>
        <p:txBody>
          <a:bodyPr wrap="square" lIns="0" tIns="0" rIns="0" bIns="0" rtlCol="0" anchor="t">
            <a:normAutofit/>
          </a:bodyPr>
          <a:lstStyle/>
          <a:p>
            <a:pPr marL="0" indent="0" algn="l">
              <a:lnSpc>
                <a:spcPct val="98000"/>
              </a:lnSpc>
              <a:buNone/>
            </a:pPr>
            <a:r>
              <a:rPr lang="en-US" sz="800" b="1" dirty="0">
                <a:solidFill>
                  <a:srgbClr val="2563EB"/>
                </a:solidFill>
                <a:latin typeface="Aptos" pitchFamily="34" charset="0"/>
                <a:ea typeface="Aptos" pitchFamily="34" charset="-122"/>
                <a:cs typeface="Aptos" pitchFamily="34" charset="-120"/>
              </a:rPr>
              <a:t>01</a:t>
            </a:r>
            <a:endParaRPr lang="en-US" sz="800" dirty="0"/>
          </a:p>
        </p:txBody>
      </p:sp>
      <p:sp>
        <p:nvSpPr>
          <p:cNvPr id="12" name="Text 9"/>
          <p:cNvSpPr/>
          <p:nvPr/>
        </p:nvSpPr>
        <p:spPr>
          <a:xfrm>
            <a:off x="859536" y="4453128"/>
            <a:ext cx="1298448" cy="219456"/>
          </a:xfrm>
          <a:prstGeom prst="rect">
            <a:avLst/>
          </a:prstGeom>
          <a:noFill/>
          <a:ln/>
        </p:spPr>
        <p:txBody>
          <a:bodyPr wrap="square" lIns="0" tIns="0" rIns="0" bIns="0" rtlCol="0" anchor="t">
            <a:normAutofit/>
          </a:bodyPr>
          <a:lstStyle/>
          <a:p>
            <a:pPr marL="0" indent="0" algn="l">
              <a:lnSpc>
                <a:spcPct val="98000"/>
              </a:lnSpc>
              <a:buNone/>
            </a:pPr>
            <a:r>
              <a:rPr lang="en-US" sz="1400" b="1" dirty="0">
                <a:solidFill>
                  <a:srgbClr val="FFFFFF"/>
                </a:solidFill>
                <a:latin typeface="Aptos" pitchFamily="34" charset="0"/>
                <a:ea typeface="Aptos" pitchFamily="34" charset="-122"/>
                <a:cs typeface="Aptos" pitchFamily="34" charset="-120"/>
              </a:rPr>
              <a:t>Upload</a:t>
            </a:r>
            <a:endParaRPr lang="en-US" sz="1400" dirty="0"/>
          </a:p>
        </p:txBody>
      </p:sp>
      <p:sp>
        <p:nvSpPr>
          <p:cNvPr id="13" name="Text 10"/>
          <p:cNvSpPr/>
          <p:nvPr/>
        </p:nvSpPr>
        <p:spPr>
          <a:xfrm>
            <a:off x="859536" y="4782312"/>
            <a:ext cx="1298448" cy="146304"/>
          </a:xfrm>
          <a:prstGeom prst="rect">
            <a:avLst/>
          </a:prstGeom>
          <a:noFill/>
          <a:ln/>
        </p:spPr>
        <p:txBody>
          <a:bodyPr wrap="square" lIns="0" tIns="0" rIns="0" bIns="0" rtlCol="0" anchor="t">
            <a:normAutofit/>
          </a:bodyPr>
          <a:lstStyle/>
          <a:p>
            <a:pPr marL="0" indent="0" algn="l">
              <a:lnSpc>
                <a:spcPct val="98000"/>
              </a:lnSpc>
              <a:buNone/>
            </a:pPr>
            <a:r>
              <a:rPr lang="en-US" sz="880" dirty="0">
                <a:solidFill>
                  <a:srgbClr val="9FB2CB"/>
                </a:solidFill>
                <a:latin typeface="Aptos" pitchFamily="34" charset="0"/>
                <a:ea typeface="Aptos" pitchFamily="34" charset="-122"/>
                <a:cs typeface="Aptos" pitchFamily="34" charset="-120"/>
              </a:rPr>
              <a:t>CSV / Excel file</a:t>
            </a:r>
            <a:endParaRPr lang="en-US" sz="880" dirty="0"/>
          </a:p>
        </p:txBody>
      </p:sp>
      <p:sp>
        <p:nvSpPr>
          <p:cNvPr id="14" name="Shape 11"/>
          <p:cNvSpPr/>
          <p:nvPr/>
        </p:nvSpPr>
        <p:spPr>
          <a:xfrm>
            <a:off x="2322576" y="4636008"/>
            <a:ext cx="182880" cy="0"/>
          </a:xfrm>
          <a:prstGeom prst="line">
            <a:avLst/>
          </a:prstGeom>
          <a:noFill/>
          <a:ln w="20320">
            <a:solidFill>
              <a:srgbClr val="A3E635"/>
            </a:solidFill>
            <a:prstDash val="solid"/>
            <a:headEnd type="none"/>
            <a:tailEnd type="triangle"/>
          </a:ln>
        </p:spPr>
        <p:txBody>
          <a:bodyPr/>
          <a:lstStyle/>
          <a:p>
            <a:endParaRPr lang="de-DE"/>
          </a:p>
        </p:txBody>
      </p:sp>
      <p:sp>
        <p:nvSpPr>
          <p:cNvPr id="15" name="Shape 12"/>
          <p:cNvSpPr/>
          <p:nvPr/>
        </p:nvSpPr>
        <p:spPr>
          <a:xfrm>
            <a:off x="2560320" y="4069080"/>
            <a:ext cx="1572768" cy="1143000"/>
          </a:xfrm>
          <a:prstGeom prst="roundRect">
            <a:avLst>
              <a:gd name="adj" fmla="val 14400"/>
            </a:avLst>
          </a:prstGeom>
          <a:solidFill>
            <a:srgbClr val="0E1C2D"/>
          </a:solidFill>
          <a:ln w="10160">
            <a:solidFill>
              <a:srgbClr val="06B6D4">
                <a:alpha val="9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6" name="Text 13"/>
          <p:cNvSpPr/>
          <p:nvPr/>
        </p:nvSpPr>
        <p:spPr>
          <a:xfrm>
            <a:off x="2706624" y="4224528"/>
            <a:ext cx="457200" cy="137160"/>
          </a:xfrm>
          <a:prstGeom prst="rect">
            <a:avLst/>
          </a:prstGeom>
          <a:noFill/>
          <a:ln/>
        </p:spPr>
        <p:txBody>
          <a:bodyPr wrap="square" lIns="0" tIns="0" rIns="0" bIns="0" rtlCol="0" anchor="t">
            <a:normAutofit/>
          </a:bodyPr>
          <a:lstStyle/>
          <a:p>
            <a:pPr marL="0" indent="0" algn="l">
              <a:lnSpc>
                <a:spcPct val="98000"/>
              </a:lnSpc>
              <a:buNone/>
            </a:pPr>
            <a:r>
              <a:rPr lang="en-US" sz="800" b="1" dirty="0">
                <a:solidFill>
                  <a:srgbClr val="06B6D4"/>
                </a:solidFill>
                <a:latin typeface="Aptos" pitchFamily="34" charset="0"/>
                <a:ea typeface="Aptos" pitchFamily="34" charset="-122"/>
                <a:cs typeface="Aptos" pitchFamily="34" charset="-120"/>
              </a:rPr>
              <a:t>02</a:t>
            </a:r>
            <a:endParaRPr lang="en-US" sz="800" dirty="0"/>
          </a:p>
        </p:txBody>
      </p:sp>
      <p:sp>
        <p:nvSpPr>
          <p:cNvPr id="17" name="Text 14"/>
          <p:cNvSpPr/>
          <p:nvPr/>
        </p:nvSpPr>
        <p:spPr>
          <a:xfrm>
            <a:off x="2706624" y="4453128"/>
            <a:ext cx="1298448" cy="219456"/>
          </a:xfrm>
          <a:prstGeom prst="rect">
            <a:avLst/>
          </a:prstGeom>
          <a:noFill/>
          <a:ln/>
        </p:spPr>
        <p:txBody>
          <a:bodyPr wrap="square" lIns="0" tIns="0" rIns="0" bIns="0" rtlCol="0" anchor="t">
            <a:normAutofit/>
          </a:bodyPr>
          <a:lstStyle/>
          <a:p>
            <a:pPr marL="0" indent="0" algn="l">
              <a:lnSpc>
                <a:spcPct val="98000"/>
              </a:lnSpc>
              <a:buNone/>
            </a:pPr>
            <a:r>
              <a:rPr lang="en-US" sz="1400" b="1" dirty="0">
                <a:solidFill>
                  <a:srgbClr val="FFFFFF"/>
                </a:solidFill>
                <a:latin typeface="Aptos" pitchFamily="34" charset="0"/>
                <a:ea typeface="Aptos" pitchFamily="34" charset="-122"/>
                <a:cs typeface="Aptos" pitchFamily="34" charset="-120"/>
              </a:rPr>
              <a:t>Parse</a:t>
            </a:r>
            <a:endParaRPr lang="en-US" sz="1400" dirty="0"/>
          </a:p>
        </p:txBody>
      </p:sp>
      <p:sp>
        <p:nvSpPr>
          <p:cNvPr id="18" name="Text 15"/>
          <p:cNvSpPr/>
          <p:nvPr/>
        </p:nvSpPr>
        <p:spPr>
          <a:xfrm>
            <a:off x="2706624" y="4782312"/>
            <a:ext cx="1298448" cy="146304"/>
          </a:xfrm>
          <a:prstGeom prst="rect">
            <a:avLst/>
          </a:prstGeom>
          <a:noFill/>
          <a:ln/>
        </p:spPr>
        <p:txBody>
          <a:bodyPr wrap="square" lIns="0" tIns="0" rIns="0" bIns="0" rtlCol="0" anchor="t">
            <a:normAutofit/>
          </a:bodyPr>
          <a:lstStyle/>
          <a:p>
            <a:pPr marL="0" indent="0" algn="l">
              <a:lnSpc>
                <a:spcPct val="98000"/>
              </a:lnSpc>
              <a:buNone/>
            </a:pPr>
            <a:r>
              <a:rPr lang="en-US" sz="880" dirty="0">
                <a:solidFill>
                  <a:srgbClr val="9FB2CB"/>
                </a:solidFill>
                <a:latin typeface="Aptos" pitchFamily="34" charset="0"/>
                <a:ea typeface="Aptos" pitchFamily="34" charset="-122"/>
                <a:cs typeface="Aptos" pitchFamily="34" charset="-120"/>
              </a:rPr>
              <a:t>read rows</a:t>
            </a:r>
            <a:endParaRPr lang="en-US" sz="880" dirty="0"/>
          </a:p>
        </p:txBody>
      </p:sp>
      <p:sp>
        <p:nvSpPr>
          <p:cNvPr id="19" name="Shape 16"/>
          <p:cNvSpPr/>
          <p:nvPr/>
        </p:nvSpPr>
        <p:spPr>
          <a:xfrm>
            <a:off x="4169664" y="4636008"/>
            <a:ext cx="182880" cy="0"/>
          </a:xfrm>
          <a:prstGeom prst="line">
            <a:avLst/>
          </a:prstGeom>
          <a:noFill/>
          <a:ln w="20320">
            <a:solidFill>
              <a:srgbClr val="A3E635"/>
            </a:solidFill>
            <a:prstDash val="solid"/>
            <a:headEnd type="none"/>
            <a:tailEnd type="triangle"/>
          </a:ln>
        </p:spPr>
        <p:txBody>
          <a:bodyPr/>
          <a:lstStyle/>
          <a:p>
            <a:endParaRPr lang="de-DE"/>
          </a:p>
        </p:txBody>
      </p:sp>
      <p:sp>
        <p:nvSpPr>
          <p:cNvPr id="20" name="Shape 17"/>
          <p:cNvSpPr/>
          <p:nvPr/>
        </p:nvSpPr>
        <p:spPr>
          <a:xfrm>
            <a:off x="4407408" y="4069080"/>
            <a:ext cx="1572768" cy="1143000"/>
          </a:xfrm>
          <a:prstGeom prst="roundRect">
            <a:avLst>
              <a:gd name="adj" fmla="val 14400"/>
            </a:avLst>
          </a:prstGeom>
          <a:solidFill>
            <a:srgbClr val="0E1C2D"/>
          </a:solidFill>
          <a:ln w="10160">
            <a:solidFill>
              <a:srgbClr val="16A34A">
                <a:alpha val="9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1" name="Text 18"/>
          <p:cNvSpPr/>
          <p:nvPr/>
        </p:nvSpPr>
        <p:spPr>
          <a:xfrm>
            <a:off x="4553712" y="4224528"/>
            <a:ext cx="457200" cy="137160"/>
          </a:xfrm>
          <a:prstGeom prst="rect">
            <a:avLst/>
          </a:prstGeom>
          <a:noFill/>
          <a:ln/>
        </p:spPr>
        <p:txBody>
          <a:bodyPr wrap="square" lIns="0" tIns="0" rIns="0" bIns="0" rtlCol="0" anchor="t">
            <a:normAutofit/>
          </a:bodyPr>
          <a:lstStyle/>
          <a:p>
            <a:pPr marL="0" indent="0" algn="l">
              <a:lnSpc>
                <a:spcPct val="98000"/>
              </a:lnSpc>
              <a:buNone/>
            </a:pPr>
            <a:r>
              <a:rPr lang="en-US" sz="800" b="1" dirty="0">
                <a:solidFill>
                  <a:srgbClr val="16A34A"/>
                </a:solidFill>
                <a:latin typeface="Aptos" pitchFamily="34" charset="0"/>
                <a:ea typeface="Aptos" pitchFamily="34" charset="-122"/>
                <a:cs typeface="Aptos" pitchFamily="34" charset="-120"/>
              </a:rPr>
              <a:t>03</a:t>
            </a:r>
            <a:endParaRPr lang="en-US" sz="800" dirty="0"/>
          </a:p>
        </p:txBody>
      </p:sp>
      <p:sp>
        <p:nvSpPr>
          <p:cNvPr id="22" name="Text 19"/>
          <p:cNvSpPr/>
          <p:nvPr/>
        </p:nvSpPr>
        <p:spPr>
          <a:xfrm>
            <a:off x="4553712" y="4453128"/>
            <a:ext cx="1298448" cy="219456"/>
          </a:xfrm>
          <a:prstGeom prst="rect">
            <a:avLst/>
          </a:prstGeom>
          <a:noFill/>
          <a:ln/>
        </p:spPr>
        <p:txBody>
          <a:bodyPr wrap="square" lIns="0" tIns="0" rIns="0" bIns="0" rtlCol="0" anchor="t">
            <a:normAutofit/>
          </a:bodyPr>
          <a:lstStyle/>
          <a:p>
            <a:pPr marL="0" indent="0" algn="l">
              <a:lnSpc>
                <a:spcPct val="98000"/>
              </a:lnSpc>
              <a:buNone/>
            </a:pPr>
            <a:r>
              <a:rPr lang="en-US" sz="1400" b="1" dirty="0">
                <a:solidFill>
                  <a:srgbClr val="FFFFFF"/>
                </a:solidFill>
                <a:latin typeface="Aptos" pitchFamily="34" charset="0"/>
                <a:ea typeface="Aptos" pitchFamily="34" charset="-122"/>
                <a:cs typeface="Aptos" pitchFamily="34" charset="-120"/>
              </a:rPr>
              <a:t>Map</a:t>
            </a:r>
            <a:endParaRPr lang="en-US" sz="1400" dirty="0"/>
          </a:p>
        </p:txBody>
      </p:sp>
      <p:sp>
        <p:nvSpPr>
          <p:cNvPr id="23" name="Text 20"/>
          <p:cNvSpPr/>
          <p:nvPr/>
        </p:nvSpPr>
        <p:spPr>
          <a:xfrm>
            <a:off x="4553712" y="4782312"/>
            <a:ext cx="1298448" cy="146304"/>
          </a:xfrm>
          <a:prstGeom prst="rect">
            <a:avLst/>
          </a:prstGeom>
          <a:noFill/>
          <a:ln/>
        </p:spPr>
        <p:txBody>
          <a:bodyPr wrap="square" lIns="0" tIns="0" rIns="0" bIns="0" rtlCol="0" anchor="t">
            <a:normAutofit/>
          </a:bodyPr>
          <a:lstStyle/>
          <a:p>
            <a:pPr marL="0" indent="0" algn="l">
              <a:lnSpc>
                <a:spcPct val="98000"/>
              </a:lnSpc>
              <a:buNone/>
            </a:pPr>
            <a:r>
              <a:rPr lang="en-US" sz="880" dirty="0">
                <a:solidFill>
                  <a:srgbClr val="9FB2CB"/>
                </a:solidFill>
                <a:latin typeface="Aptos" pitchFamily="34" charset="0"/>
                <a:ea typeface="Aptos" pitchFamily="34" charset="-122"/>
                <a:cs typeface="Aptos" pitchFamily="34" charset="-120"/>
              </a:rPr>
              <a:t>detect columns</a:t>
            </a:r>
            <a:endParaRPr lang="en-US" sz="880" dirty="0"/>
          </a:p>
        </p:txBody>
      </p:sp>
      <p:sp>
        <p:nvSpPr>
          <p:cNvPr id="24" name="Shape 21"/>
          <p:cNvSpPr/>
          <p:nvPr/>
        </p:nvSpPr>
        <p:spPr>
          <a:xfrm>
            <a:off x="6016752" y="4636008"/>
            <a:ext cx="182880" cy="0"/>
          </a:xfrm>
          <a:prstGeom prst="line">
            <a:avLst/>
          </a:prstGeom>
          <a:noFill/>
          <a:ln w="20320">
            <a:solidFill>
              <a:srgbClr val="A3E635"/>
            </a:solidFill>
            <a:prstDash val="solid"/>
            <a:headEnd type="none"/>
            <a:tailEnd type="triangle"/>
          </a:ln>
        </p:spPr>
        <p:txBody>
          <a:bodyPr/>
          <a:lstStyle/>
          <a:p>
            <a:endParaRPr lang="de-DE"/>
          </a:p>
        </p:txBody>
      </p:sp>
      <p:sp>
        <p:nvSpPr>
          <p:cNvPr id="25" name="Shape 22"/>
          <p:cNvSpPr/>
          <p:nvPr/>
        </p:nvSpPr>
        <p:spPr>
          <a:xfrm>
            <a:off x="6254496" y="4069080"/>
            <a:ext cx="1572768" cy="1143000"/>
          </a:xfrm>
          <a:prstGeom prst="roundRect">
            <a:avLst>
              <a:gd name="adj" fmla="val 14400"/>
            </a:avLst>
          </a:prstGeom>
          <a:solidFill>
            <a:srgbClr val="0E1C2D"/>
          </a:solidFill>
          <a:ln w="10160">
            <a:solidFill>
              <a:srgbClr val="F59E0B">
                <a:alpha val="9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6" name="Text 23"/>
          <p:cNvSpPr/>
          <p:nvPr/>
        </p:nvSpPr>
        <p:spPr>
          <a:xfrm>
            <a:off x="6400800" y="4224528"/>
            <a:ext cx="457200" cy="137160"/>
          </a:xfrm>
          <a:prstGeom prst="rect">
            <a:avLst/>
          </a:prstGeom>
          <a:noFill/>
          <a:ln/>
        </p:spPr>
        <p:txBody>
          <a:bodyPr wrap="square" lIns="0" tIns="0" rIns="0" bIns="0" rtlCol="0" anchor="t">
            <a:normAutofit/>
          </a:bodyPr>
          <a:lstStyle/>
          <a:p>
            <a:pPr marL="0" indent="0" algn="l">
              <a:lnSpc>
                <a:spcPct val="98000"/>
              </a:lnSpc>
              <a:buNone/>
            </a:pPr>
            <a:r>
              <a:rPr lang="en-US" sz="800" b="1" dirty="0">
                <a:solidFill>
                  <a:srgbClr val="F59E0B"/>
                </a:solidFill>
                <a:latin typeface="Aptos" pitchFamily="34" charset="0"/>
                <a:ea typeface="Aptos" pitchFamily="34" charset="-122"/>
                <a:cs typeface="Aptos" pitchFamily="34" charset="-120"/>
              </a:rPr>
              <a:t>04</a:t>
            </a:r>
            <a:endParaRPr lang="en-US" sz="800" dirty="0"/>
          </a:p>
        </p:txBody>
      </p:sp>
      <p:sp>
        <p:nvSpPr>
          <p:cNvPr id="27" name="Text 24"/>
          <p:cNvSpPr/>
          <p:nvPr/>
        </p:nvSpPr>
        <p:spPr>
          <a:xfrm>
            <a:off x="6400800" y="4453128"/>
            <a:ext cx="1298448" cy="219456"/>
          </a:xfrm>
          <a:prstGeom prst="rect">
            <a:avLst/>
          </a:prstGeom>
          <a:noFill/>
          <a:ln/>
        </p:spPr>
        <p:txBody>
          <a:bodyPr wrap="square" lIns="0" tIns="0" rIns="0" bIns="0" rtlCol="0" anchor="t">
            <a:normAutofit/>
          </a:bodyPr>
          <a:lstStyle/>
          <a:p>
            <a:pPr marL="0" indent="0" algn="l">
              <a:lnSpc>
                <a:spcPct val="98000"/>
              </a:lnSpc>
              <a:buNone/>
            </a:pPr>
            <a:r>
              <a:rPr lang="en-US" sz="1400" b="1" dirty="0">
                <a:solidFill>
                  <a:srgbClr val="FFFFFF"/>
                </a:solidFill>
                <a:latin typeface="Aptos" pitchFamily="34" charset="0"/>
                <a:ea typeface="Aptos" pitchFamily="34" charset="-122"/>
                <a:cs typeface="Aptos" pitchFamily="34" charset="-120"/>
              </a:rPr>
              <a:t>Validate</a:t>
            </a:r>
            <a:endParaRPr lang="en-US" sz="1400" dirty="0"/>
          </a:p>
        </p:txBody>
      </p:sp>
      <p:sp>
        <p:nvSpPr>
          <p:cNvPr id="28" name="Text 25"/>
          <p:cNvSpPr/>
          <p:nvPr/>
        </p:nvSpPr>
        <p:spPr>
          <a:xfrm>
            <a:off x="6400800" y="4782312"/>
            <a:ext cx="1298448" cy="146304"/>
          </a:xfrm>
          <a:prstGeom prst="rect">
            <a:avLst/>
          </a:prstGeom>
          <a:noFill/>
          <a:ln/>
        </p:spPr>
        <p:txBody>
          <a:bodyPr wrap="square" lIns="0" tIns="0" rIns="0" bIns="0" rtlCol="0" anchor="t">
            <a:normAutofit/>
          </a:bodyPr>
          <a:lstStyle/>
          <a:p>
            <a:pPr marL="0" indent="0" algn="l">
              <a:lnSpc>
                <a:spcPct val="98000"/>
              </a:lnSpc>
              <a:buNone/>
            </a:pPr>
            <a:r>
              <a:rPr lang="en-US" sz="880" dirty="0">
                <a:solidFill>
                  <a:srgbClr val="9FB2CB"/>
                </a:solidFill>
                <a:latin typeface="Aptos" pitchFamily="34" charset="0"/>
                <a:ea typeface="Aptos" pitchFamily="34" charset="-122"/>
                <a:cs typeface="Aptos" pitchFamily="34" charset="-120"/>
              </a:rPr>
              <a:t>data quality</a:t>
            </a:r>
            <a:endParaRPr lang="en-US" sz="880" dirty="0"/>
          </a:p>
        </p:txBody>
      </p:sp>
      <p:sp>
        <p:nvSpPr>
          <p:cNvPr id="29" name="Shape 26"/>
          <p:cNvSpPr/>
          <p:nvPr/>
        </p:nvSpPr>
        <p:spPr>
          <a:xfrm>
            <a:off x="7863840" y="4636008"/>
            <a:ext cx="182880" cy="0"/>
          </a:xfrm>
          <a:prstGeom prst="line">
            <a:avLst/>
          </a:prstGeom>
          <a:noFill/>
          <a:ln w="20320">
            <a:solidFill>
              <a:srgbClr val="A3E635"/>
            </a:solidFill>
            <a:prstDash val="solid"/>
            <a:headEnd type="none"/>
            <a:tailEnd type="triangle"/>
          </a:ln>
        </p:spPr>
        <p:txBody>
          <a:bodyPr/>
          <a:lstStyle/>
          <a:p>
            <a:endParaRPr lang="de-DE"/>
          </a:p>
        </p:txBody>
      </p:sp>
      <p:sp>
        <p:nvSpPr>
          <p:cNvPr id="30" name="Shape 27"/>
          <p:cNvSpPr/>
          <p:nvPr/>
        </p:nvSpPr>
        <p:spPr>
          <a:xfrm>
            <a:off x="8101584" y="4069080"/>
            <a:ext cx="1572768" cy="1143000"/>
          </a:xfrm>
          <a:prstGeom prst="roundRect">
            <a:avLst>
              <a:gd name="adj" fmla="val 14400"/>
            </a:avLst>
          </a:prstGeom>
          <a:solidFill>
            <a:srgbClr val="0E1C2D"/>
          </a:solidFill>
          <a:ln w="10160">
            <a:solidFill>
              <a:srgbClr val="7C3AED">
                <a:alpha val="9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31" name="Text 28"/>
          <p:cNvSpPr/>
          <p:nvPr/>
        </p:nvSpPr>
        <p:spPr>
          <a:xfrm>
            <a:off x="8247888" y="4224528"/>
            <a:ext cx="457200" cy="137160"/>
          </a:xfrm>
          <a:prstGeom prst="rect">
            <a:avLst/>
          </a:prstGeom>
          <a:noFill/>
          <a:ln/>
        </p:spPr>
        <p:txBody>
          <a:bodyPr wrap="square" lIns="0" tIns="0" rIns="0" bIns="0" rtlCol="0" anchor="t">
            <a:normAutofit/>
          </a:bodyPr>
          <a:lstStyle/>
          <a:p>
            <a:pPr marL="0" indent="0" algn="l">
              <a:lnSpc>
                <a:spcPct val="98000"/>
              </a:lnSpc>
              <a:buNone/>
            </a:pPr>
            <a:r>
              <a:rPr lang="en-US" sz="800" b="1" dirty="0">
                <a:solidFill>
                  <a:srgbClr val="7C3AED"/>
                </a:solidFill>
                <a:latin typeface="Aptos" pitchFamily="34" charset="0"/>
                <a:ea typeface="Aptos" pitchFamily="34" charset="-122"/>
                <a:cs typeface="Aptos" pitchFamily="34" charset="-120"/>
              </a:rPr>
              <a:t>05</a:t>
            </a:r>
            <a:endParaRPr lang="en-US" sz="800" dirty="0"/>
          </a:p>
        </p:txBody>
      </p:sp>
      <p:sp>
        <p:nvSpPr>
          <p:cNvPr id="32" name="Text 29"/>
          <p:cNvSpPr/>
          <p:nvPr/>
        </p:nvSpPr>
        <p:spPr>
          <a:xfrm>
            <a:off x="8247888" y="4453128"/>
            <a:ext cx="1298448" cy="219456"/>
          </a:xfrm>
          <a:prstGeom prst="rect">
            <a:avLst/>
          </a:prstGeom>
          <a:noFill/>
          <a:ln/>
        </p:spPr>
        <p:txBody>
          <a:bodyPr wrap="square" lIns="0" tIns="0" rIns="0" bIns="0" rtlCol="0" anchor="t">
            <a:normAutofit/>
          </a:bodyPr>
          <a:lstStyle/>
          <a:p>
            <a:pPr marL="0" indent="0" algn="l">
              <a:lnSpc>
                <a:spcPct val="98000"/>
              </a:lnSpc>
              <a:buNone/>
            </a:pPr>
            <a:r>
              <a:rPr lang="en-US" sz="1400" b="1" dirty="0">
                <a:solidFill>
                  <a:srgbClr val="FFFFFF"/>
                </a:solidFill>
                <a:latin typeface="Aptos" pitchFamily="34" charset="0"/>
                <a:ea typeface="Aptos" pitchFamily="34" charset="-122"/>
                <a:cs typeface="Aptos" pitchFamily="34" charset="-120"/>
              </a:rPr>
              <a:t>Ask</a:t>
            </a:r>
            <a:endParaRPr lang="en-US" sz="1400" dirty="0"/>
          </a:p>
        </p:txBody>
      </p:sp>
      <p:sp>
        <p:nvSpPr>
          <p:cNvPr id="33" name="Text 30"/>
          <p:cNvSpPr/>
          <p:nvPr/>
        </p:nvSpPr>
        <p:spPr>
          <a:xfrm>
            <a:off x="8247888" y="4782312"/>
            <a:ext cx="1298448" cy="146304"/>
          </a:xfrm>
          <a:prstGeom prst="rect">
            <a:avLst/>
          </a:prstGeom>
          <a:noFill/>
          <a:ln/>
        </p:spPr>
        <p:txBody>
          <a:bodyPr wrap="square" lIns="0" tIns="0" rIns="0" bIns="0" rtlCol="0" anchor="t">
            <a:normAutofit/>
          </a:bodyPr>
          <a:lstStyle/>
          <a:p>
            <a:pPr marL="0" indent="0" algn="l">
              <a:lnSpc>
                <a:spcPct val="98000"/>
              </a:lnSpc>
              <a:buNone/>
            </a:pPr>
            <a:r>
              <a:rPr lang="en-US" sz="880" dirty="0">
                <a:solidFill>
                  <a:srgbClr val="9FB2CB"/>
                </a:solidFill>
                <a:latin typeface="Aptos" pitchFamily="34" charset="0"/>
                <a:ea typeface="Aptos" pitchFamily="34" charset="-122"/>
                <a:cs typeface="Aptos" pitchFamily="34" charset="-120"/>
              </a:rPr>
              <a:t>business question</a:t>
            </a:r>
            <a:endParaRPr lang="en-US" sz="880" dirty="0"/>
          </a:p>
        </p:txBody>
      </p:sp>
      <p:sp>
        <p:nvSpPr>
          <p:cNvPr id="34" name="Shape 31"/>
          <p:cNvSpPr/>
          <p:nvPr/>
        </p:nvSpPr>
        <p:spPr>
          <a:xfrm>
            <a:off x="9710928" y="4636008"/>
            <a:ext cx="182880" cy="0"/>
          </a:xfrm>
          <a:prstGeom prst="line">
            <a:avLst/>
          </a:prstGeom>
          <a:noFill/>
          <a:ln w="20320">
            <a:solidFill>
              <a:srgbClr val="A3E635"/>
            </a:solidFill>
            <a:prstDash val="solid"/>
            <a:headEnd type="none"/>
            <a:tailEnd type="triangle"/>
          </a:ln>
        </p:spPr>
        <p:txBody>
          <a:bodyPr/>
          <a:lstStyle/>
          <a:p>
            <a:endParaRPr lang="de-DE"/>
          </a:p>
        </p:txBody>
      </p:sp>
      <p:sp>
        <p:nvSpPr>
          <p:cNvPr id="35" name="Shape 32"/>
          <p:cNvSpPr/>
          <p:nvPr/>
        </p:nvSpPr>
        <p:spPr>
          <a:xfrm>
            <a:off x="9948672" y="4069080"/>
            <a:ext cx="1572768" cy="1143000"/>
          </a:xfrm>
          <a:prstGeom prst="roundRect">
            <a:avLst>
              <a:gd name="adj" fmla="val 14400"/>
            </a:avLst>
          </a:prstGeom>
          <a:solidFill>
            <a:srgbClr val="0E1C2D"/>
          </a:solidFill>
          <a:ln w="10160">
            <a:solidFill>
              <a:srgbClr val="A3E635">
                <a:alpha val="9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36" name="Text 33"/>
          <p:cNvSpPr/>
          <p:nvPr/>
        </p:nvSpPr>
        <p:spPr>
          <a:xfrm>
            <a:off x="10094976" y="4224528"/>
            <a:ext cx="457200" cy="137160"/>
          </a:xfrm>
          <a:prstGeom prst="rect">
            <a:avLst/>
          </a:prstGeom>
          <a:noFill/>
          <a:ln/>
        </p:spPr>
        <p:txBody>
          <a:bodyPr wrap="square" lIns="0" tIns="0" rIns="0" bIns="0" rtlCol="0" anchor="t">
            <a:normAutofit/>
          </a:bodyPr>
          <a:lstStyle/>
          <a:p>
            <a:pPr marL="0" indent="0" algn="l">
              <a:lnSpc>
                <a:spcPct val="98000"/>
              </a:lnSpc>
              <a:buNone/>
            </a:pPr>
            <a:r>
              <a:rPr lang="en-US" sz="800" b="1" dirty="0">
                <a:solidFill>
                  <a:srgbClr val="A3E635"/>
                </a:solidFill>
                <a:latin typeface="Aptos" pitchFamily="34" charset="0"/>
                <a:ea typeface="Aptos" pitchFamily="34" charset="-122"/>
                <a:cs typeface="Aptos" pitchFamily="34" charset="-120"/>
              </a:rPr>
              <a:t>06</a:t>
            </a:r>
            <a:endParaRPr lang="en-US" sz="800" dirty="0"/>
          </a:p>
        </p:txBody>
      </p:sp>
      <p:sp>
        <p:nvSpPr>
          <p:cNvPr id="37" name="Text 34"/>
          <p:cNvSpPr/>
          <p:nvPr/>
        </p:nvSpPr>
        <p:spPr>
          <a:xfrm>
            <a:off x="10094976" y="4453128"/>
            <a:ext cx="1298448" cy="219456"/>
          </a:xfrm>
          <a:prstGeom prst="rect">
            <a:avLst/>
          </a:prstGeom>
          <a:noFill/>
          <a:ln/>
        </p:spPr>
        <p:txBody>
          <a:bodyPr wrap="square" lIns="0" tIns="0" rIns="0" bIns="0" rtlCol="0" anchor="t">
            <a:normAutofit/>
          </a:bodyPr>
          <a:lstStyle/>
          <a:p>
            <a:pPr marL="0" indent="0" algn="l">
              <a:lnSpc>
                <a:spcPct val="98000"/>
              </a:lnSpc>
              <a:buNone/>
            </a:pPr>
            <a:r>
              <a:rPr lang="en-US" sz="1400" b="1" dirty="0">
                <a:solidFill>
                  <a:srgbClr val="FFFFFF"/>
                </a:solidFill>
                <a:latin typeface="Aptos" pitchFamily="34" charset="0"/>
                <a:ea typeface="Aptos" pitchFamily="34" charset="-122"/>
                <a:cs typeface="Aptos" pitchFamily="34" charset="-120"/>
              </a:rPr>
              <a:t>Insight</a:t>
            </a:r>
            <a:endParaRPr lang="en-US" sz="1400" dirty="0"/>
          </a:p>
        </p:txBody>
      </p:sp>
      <p:sp>
        <p:nvSpPr>
          <p:cNvPr id="38" name="Text 35"/>
          <p:cNvSpPr/>
          <p:nvPr/>
        </p:nvSpPr>
        <p:spPr>
          <a:xfrm>
            <a:off x="10094976" y="4782312"/>
            <a:ext cx="1298448" cy="146304"/>
          </a:xfrm>
          <a:prstGeom prst="rect">
            <a:avLst/>
          </a:prstGeom>
          <a:noFill/>
          <a:ln/>
        </p:spPr>
        <p:txBody>
          <a:bodyPr wrap="square" lIns="0" tIns="0" rIns="0" bIns="0" rtlCol="0" anchor="t">
            <a:normAutofit/>
          </a:bodyPr>
          <a:lstStyle/>
          <a:p>
            <a:pPr marL="0" indent="0" algn="l">
              <a:lnSpc>
                <a:spcPct val="98000"/>
              </a:lnSpc>
              <a:buNone/>
            </a:pPr>
            <a:r>
              <a:rPr lang="en-US" sz="880" dirty="0">
                <a:solidFill>
                  <a:srgbClr val="9FB2CB"/>
                </a:solidFill>
                <a:latin typeface="Aptos" pitchFamily="34" charset="0"/>
                <a:ea typeface="Aptos" pitchFamily="34" charset="-122"/>
                <a:cs typeface="Aptos" pitchFamily="34" charset="-120"/>
              </a:rPr>
              <a:t>metrics + charts</a:t>
            </a:r>
            <a:endParaRPr lang="en-US" sz="88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16A34A">
              <a:alpha val="92000"/>
            </a:srgbClr>
          </a:solidFill>
          <a:ln w="12700">
            <a:solidFill>
              <a:srgbClr val="16A34A">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chemeClr val="bg1"/>
                </a:solidFill>
                <a:latin typeface="Aptos" pitchFamily="34" charset="0"/>
                <a:ea typeface="Aptos" pitchFamily="34" charset="-122"/>
                <a:cs typeface="Aptos" pitchFamily="34" charset="-120"/>
              </a:rPr>
              <a:t>DATA</a:t>
            </a:r>
            <a:r>
              <a:rPr lang="en-US" sz="850" b="1" dirty="0">
                <a:solidFill>
                  <a:srgbClr val="16A34A"/>
                </a:solidFill>
                <a:latin typeface="Aptos" pitchFamily="34" charset="0"/>
                <a:ea typeface="Aptos" pitchFamily="34" charset="-122"/>
                <a:cs typeface="Aptos" pitchFamily="34" charset="-120"/>
              </a:rPr>
              <a:t> </a:t>
            </a:r>
            <a:r>
              <a:rPr lang="en-US" sz="850" b="1" dirty="0">
                <a:solidFill>
                  <a:schemeClr val="bg1"/>
                </a:solidFill>
                <a:latin typeface="Aptos" pitchFamily="34" charset="0"/>
                <a:ea typeface="Aptos" pitchFamily="34" charset="-122"/>
                <a:cs typeface="Aptos" pitchFamily="34" charset="-120"/>
              </a:rPr>
              <a:t>CONCEPT</a:t>
            </a:r>
            <a:endParaRPr lang="en-US" sz="850" dirty="0">
              <a:solidFill>
                <a:schemeClr val="bg1"/>
              </a:solidFill>
            </a:endParaRPr>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No model training.</a:t>
            </a:r>
            <a:endParaRPr lang="en-US" sz="4000" dirty="0"/>
          </a:p>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Testing with sales datasets.</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475569"/>
                </a:solidFill>
                <a:latin typeface="Aptos" pitchFamily="34" charset="0"/>
                <a:ea typeface="Aptos" pitchFamily="34" charset="-122"/>
                <a:cs typeface="Aptos" pitchFamily="34" charset="-120"/>
              </a:rPr>
              <a:t>We do not train a machine learning model in the current PoC. Data is used to test parsing, mapping, calculations and robustness.</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475569"/>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475569"/>
                </a:solidFill>
                <a:latin typeface="Aptos" pitchFamily="34" charset="0"/>
                <a:ea typeface="Aptos" pitchFamily="34" charset="-122"/>
                <a:cs typeface="Aptos" pitchFamily="34" charset="-120"/>
              </a:rPr>
              <a:t>06</a:t>
            </a:r>
            <a:endParaRPr lang="en-US" sz="950" dirty="0"/>
          </a:p>
        </p:txBody>
      </p:sp>
      <p:sp>
        <p:nvSpPr>
          <p:cNvPr id="9" name="Shape 6"/>
          <p:cNvSpPr/>
          <p:nvPr/>
        </p:nvSpPr>
        <p:spPr>
          <a:xfrm>
            <a:off x="566928" y="6382512"/>
            <a:ext cx="11064240" cy="0"/>
          </a:xfrm>
          <a:prstGeom prst="line">
            <a:avLst/>
          </a:prstGeom>
          <a:noFill/>
          <a:ln w="8890">
            <a:solidFill>
              <a:srgbClr val="CBD5E1">
                <a:alpha val="76000"/>
              </a:srgbClr>
            </a:solidFill>
            <a:prstDash val="solid"/>
          </a:ln>
        </p:spPr>
        <p:txBody>
          <a:bodyPr/>
          <a:lstStyle/>
          <a:p>
            <a:endParaRPr lang="de-DE"/>
          </a:p>
        </p:txBody>
      </p:sp>
      <p:sp>
        <p:nvSpPr>
          <p:cNvPr id="10" name="Shape 7"/>
          <p:cNvSpPr/>
          <p:nvPr/>
        </p:nvSpPr>
        <p:spPr>
          <a:xfrm>
            <a:off x="6766560" y="960120"/>
            <a:ext cx="4480560" cy="4297680"/>
          </a:xfrm>
          <a:prstGeom prst="roundRect">
            <a:avLst>
              <a:gd name="adj" fmla="val 3830"/>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11" name="Text 8"/>
          <p:cNvSpPr/>
          <p:nvPr/>
        </p:nvSpPr>
        <p:spPr>
          <a:xfrm>
            <a:off x="7095744" y="1298448"/>
            <a:ext cx="3200400" cy="256032"/>
          </a:xfrm>
          <a:prstGeom prst="rect">
            <a:avLst/>
          </a:prstGeom>
          <a:noFill/>
          <a:ln/>
        </p:spPr>
        <p:txBody>
          <a:bodyPr wrap="square" lIns="0" tIns="0" rIns="0" bIns="0" rtlCol="0" anchor="t">
            <a:normAutofit/>
          </a:bodyPr>
          <a:lstStyle/>
          <a:p>
            <a:pPr marL="0" indent="0" algn="l">
              <a:lnSpc>
                <a:spcPct val="98000"/>
              </a:lnSpc>
              <a:buNone/>
            </a:pPr>
            <a:r>
              <a:rPr lang="en-US" sz="1800" b="1" dirty="0">
                <a:solidFill>
                  <a:srgbClr val="07111F"/>
                </a:solidFill>
                <a:latin typeface="Aptos" pitchFamily="34" charset="0"/>
                <a:ea typeface="Aptos" pitchFamily="34" charset="-122"/>
                <a:cs typeface="Aptos" pitchFamily="34" charset="-120"/>
              </a:rPr>
              <a:t>Data used in the PoC</a:t>
            </a:r>
            <a:endParaRPr lang="en-US" sz="1800" dirty="0"/>
          </a:p>
        </p:txBody>
      </p:sp>
      <p:sp>
        <p:nvSpPr>
          <p:cNvPr id="12" name="Shape 9"/>
          <p:cNvSpPr/>
          <p:nvPr/>
        </p:nvSpPr>
        <p:spPr>
          <a:xfrm>
            <a:off x="7150608" y="1856232"/>
            <a:ext cx="164592" cy="164592"/>
          </a:xfrm>
          <a:prstGeom prst="ellipse">
            <a:avLst/>
          </a:prstGeom>
          <a:solidFill>
            <a:srgbClr val="2563EB"/>
          </a:solidFill>
          <a:ln w="12700">
            <a:solidFill>
              <a:srgbClr val="333333">
                <a:alpha val="0"/>
              </a:srgbClr>
            </a:solidFill>
            <a:prstDash val="solid"/>
          </a:ln>
        </p:spPr>
        <p:txBody>
          <a:bodyPr/>
          <a:lstStyle/>
          <a:p>
            <a:endParaRPr lang="de-DE"/>
          </a:p>
        </p:txBody>
      </p:sp>
      <p:sp>
        <p:nvSpPr>
          <p:cNvPr id="13" name="Text 10"/>
          <p:cNvSpPr/>
          <p:nvPr/>
        </p:nvSpPr>
        <p:spPr>
          <a:xfrm>
            <a:off x="7424928" y="1783080"/>
            <a:ext cx="2286000" cy="201168"/>
          </a:xfrm>
          <a:prstGeom prst="rect">
            <a:avLst/>
          </a:prstGeom>
          <a:noFill/>
          <a:ln/>
        </p:spPr>
        <p:txBody>
          <a:bodyPr wrap="square" lIns="0" tIns="0" rIns="0" bIns="0" rtlCol="0" anchor="t">
            <a:normAutofit/>
          </a:bodyPr>
          <a:lstStyle/>
          <a:p>
            <a:pPr marL="0" indent="0" algn="l">
              <a:lnSpc>
                <a:spcPct val="98000"/>
              </a:lnSpc>
              <a:buNone/>
            </a:pPr>
            <a:r>
              <a:rPr lang="en-US" sz="1300" b="1" dirty="0">
                <a:solidFill>
                  <a:srgbClr val="07111F"/>
                </a:solidFill>
                <a:latin typeface="Aptos" pitchFamily="34" charset="0"/>
                <a:ea typeface="Aptos" pitchFamily="34" charset="-122"/>
                <a:cs typeface="Aptos" pitchFamily="34" charset="-120"/>
              </a:rPr>
              <a:t>Sample sales dataset</a:t>
            </a:r>
            <a:endParaRPr lang="en-US" sz="1300" dirty="0"/>
          </a:p>
        </p:txBody>
      </p:sp>
      <p:sp>
        <p:nvSpPr>
          <p:cNvPr id="14" name="Text 11"/>
          <p:cNvSpPr/>
          <p:nvPr/>
        </p:nvSpPr>
        <p:spPr>
          <a:xfrm>
            <a:off x="7424928" y="2075688"/>
            <a:ext cx="2514600" cy="137160"/>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475569"/>
                </a:solidFill>
                <a:latin typeface="Aptos" pitchFamily="34" charset="0"/>
                <a:ea typeface="Aptos" pitchFamily="34" charset="-122"/>
                <a:cs typeface="Aptos" pitchFamily="34" charset="-120"/>
              </a:rPr>
              <a:t>predictable demo flow</a:t>
            </a:r>
            <a:endParaRPr lang="en-US" sz="950" dirty="0"/>
          </a:p>
        </p:txBody>
      </p:sp>
      <p:sp>
        <p:nvSpPr>
          <p:cNvPr id="15" name="Shape 12"/>
          <p:cNvSpPr/>
          <p:nvPr/>
        </p:nvSpPr>
        <p:spPr>
          <a:xfrm>
            <a:off x="7150608" y="2569464"/>
            <a:ext cx="164592" cy="164592"/>
          </a:xfrm>
          <a:prstGeom prst="ellipse">
            <a:avLst/>
          </a:prstGeom>
          <a:solidFill>
            <a:srgbClr val="16A34A"/>
          </a:solidFill>
          <a:ln w="12700">
            <a:solidFill>
              <a:srgbClr val="333333">
                <a:alpha val="0"/>
              </a:srgbClr>
            </a:solidFill>
            <a:prstDash val="solid"/>
          </a:ln>
        </p:spPr>
        <p:txBody>
          <a:bodyPr/>
          <a:lstStyle/>
          <a:p>
            <a:endParaRPr lang="de-DE"/>
          </a:p>
        </p:txBody>
      </p:sp>
      <p:sp>
        <p:nvSpPr>
          <p:cNvPr id="16" name="Text 13"/>
          <p:cNvSpPr/>
          <p:nvPr/>
        </p:nvSpPr>
        <p:spPr>
          <a:xfrm>
            <a:off x="7424928" y="2496312"/>
            <a:ext cx="2286000" cy="201168"/>
          </a:xfrm>
          <a:prstGeom prst="rect">
            <a:avLst/>
          </a:prstGeom>
          <a:noFill/>
          <a:ln/>
        </p:spPr>
        <p:txBody>
          <a:bodyPr wrap="square" lIns="0" tIns="0" rIns="0" bIns="0" rtlCol="0" anchor="t">
            <a:normAutofit/>
          </a:bodyPr>
          <a:lstStyle/>
          <a:p>
            <a:pPr marL="0" indent="0" algn="l">
              <a:lnSpc>
                <a:spcPct val="98000"/>
              </a:lnSpc>
              <a:buNone/>
            </a:pPr>
            <a:r>
              <a:rPr lang="en-US" sz="1300" b="1" dirty="0">
                <a:solidFill>
                  <a:srgbClr val="07111F"/>
                </a:solidFill>
                <a:latin typeface="Aptos" pitchFamily="34" charset="0"/>
                <a:ea typeface="Aptos" pitchFamily="34" charset="-122"/>
                <a:cs typeface="Aptos" pitchFamily="34" charset="-120"/>
              </a:rPr>
              <a:t>Realistic test files</a:t>
            </a:r>
            <a:endParaRPr lang="en-US" sz="1300" dirty="0"/>
          </a:p>
        </p:txBody>
      </p:sp>
      <p:sp>
        <p:nvSpPr>
          <p:cNvPr id="17" name="Text 14"/>
          <p:cNvSpPr/>
          <p:nvPr/>
        </p:nvSpPr>
        <p:spPr>
          <a:xfrm>
            <a:off x="7424928" y="2788920"/>
            <a:ext cx="2514600" cy="137160"/>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475569"/>
                </a:solidFill>
                <a:latin typeface="Aptos" pitchFamily="34" charset="0"/>
                <a:ea typeface="Aptos" pitchFamily="34" charset="-122"/>
                <a:cs typeface="Aptos" pitchFamily="34" charset="-120"/>
              </a:rPr>
              <a:t>different column names</a:t>
            </a:r>
            <a:endParaRPr lang="en-US" sz="950" dirty="0"/>
          </a:p>
        </p:txBody>
      </p:sp>
      <p:sp>
        <p:nvSpPr>
          <p:cNvPr id="18" name="Shape 15"/>
          <p:cNvSpPr/>
          <p:nvPr/>
        </p:nvSpPr>
        <p:spPr>
          <a:xfrm>
            <a:off x="7150608" y="3282696"/>
            <a:ext cx="164592" cy="164592"/>
          </a:xfrm>
          <a:prstGeom prst="ellipse">
            <a:avLst/>
          </a:prstGeom>
          <a:solidFill>
            <a:srgbClr val="F59E0B"/>
          </a:solidFill>
          <a:ln w="12700">
            <a:solidFill>
              <a:srgbClr val="333333">
                <a:alpha val="0"/>
              </a:srgbClr>
            </a:solidFill>
            <a:prstDash val="solid"/>
          </a:ln>
        </p:spPr>
        <p:txBody>
          <a:bodyPr/>
          <a:lstStyle/>
          <a:p>
            <a:endParaRPr lang="de-DE"/>
          </a:p>
        </p:txBody>
      </p:sp>
      <p:sp>
        <p:nvSpPr>
          <p:cNvPr id="19" name="Text 16"/>
          <p:cNvSpPr/>
          <p:nvPr/>
        </p:nvSpPr>
        <p:spPr>
          <a:xfrm>
            <a:off x="7424928" y="3209544"/>
            <a:ext cx="2286000" cy="201168"/>
          </a:xfrm>
          <a:prstGeom prst="rect">
            <a:avLst/>
          </a:prstGeom>
          <a:noFill/>
          <a:ln/>
        </p:spPr>
        <p:txBody>
          <a:bodyPr wrap="square" lIns="0" tIns="0" rIns="0" bIns="0" rtlCol="0" anchor="t">
            <a:normAutofit/>
          </a:bodyPr>
          <a:lstStyle/>
          <a:p>
            <a:pPr marL="0" indent="0" algn="l">
              <a:lnSpc>
                <a:spcPct val="98000"/>
              </a:lnSpc>
              <a:buNone/>
            </a:pPr>
            <a:r>
              <a:rPr lang="en-US" sz="1300" b="1" dirty="0">
                <a:solidFill>
                  <a:srgbClr val="07111F"/>
                </a:solidFill>
                <a:latin typeface="Aptos" pitchFamily="34" charset="0"/>
                <a:ea typeface="Aptos" pitchFamily="34" charset="-122"/>
                <a:cs typeface="Aptos" pitchFamily="34" charset="-120"/>
              </a:rPr>
              <a:t>User-uploaded files</a:t>
            </a:r>
            <a:endParaRPr lang="en-US" sz="1300" dirty="0"/>
          </a:p>
        </p:txBody>
      </p:sp>
      <p:sp>
        <p:nvSpPr>
          <p:cNvPr id="20" name="Text 17"/>
          <p:cNvSpPr/>
          <p:nvPr/>
        </p:nvSpPr>
        <p:spPr>
          <a:xfrm>
            <a:off x="7424928" y="3502152"/>
            <a:ext cx="2514600" cy="137160"/>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475569"/>
                </a:solidFill>
                <a:latin typeface="Aptos" pitchFamily="34" charset="0"/>
                <a:ea typeface="Aptos" pitchFamily="34" charset="-122"/>
                <a:cs typeface="Aptos" pitchFamily="34" charset="-120"/>
              </a:rPr>
              <a:t>CSV or Excel</a:t>
            </a:r>
            <a:endParaRPr lang="en-US" sz="950" dirty="0"/>
          </a:p>
        </p:txBody>
      </p:sp>
      <p:sp>
        <p:nvSpPr>
          <p:cNvPr id="21" name="Shape 18"/>
          <p:cNvSpPr/>
          <p:nvPr/>
        </p:nvSpPr>
        <p:spPr>
          <a:xfrm>
            <a:off x="7150608" y="3995928"/>
            <a:ext cx="164592" cy="164592"/>
          </a:xfrm>
          <a:prstGeom prst="ellipse">
            <a:avLst/>
          </a:prstGeom>
          <a:solidFill>
            <a:srgbClr val="7C3AED"/>
          </a:solidFill>
          <a:ln w="12700">
            <a:solidFill>
              <a:srgbClr val="333333">
                <a:alpha val="0"/>
              </a:srgbClr>
            </a:solidFill>
            <a:prstDash val="solid"/>
          </a:ln>
        </p:spPr>
        <p:txBody>
          <a:bodyPr/>
          <a:lstStyle/>
          <a:p>
            <a:endParaRPr lang="de-DE"/>
          </a:p>
        </p:txBody>
      </p:sp>
      <p:sp>
        <p:nvSpPr>
          <p:cNvPr id="22" name="Text 19"/>
          <p:cNvSpPr/>
          <p:nvPr/>
        </p:nvSpPr>
        <p:spPr>
          <a:xfrm>
            <a:off x="7424928" y="3922776"/>
            <a:ext cx="2286000" cy="201168"/>
          </a:xfrm>
          <a:prstGeom prst="rect">
            <a:avLst/>
          </a:prstGeom>
          <a:noFill/>
          <a:ln/>
        </p:spPr>
        <p:txBody>
          <a:bodyPr wrap="square" lIns="0" tIns="0" rIns="0" bIns="0" rtlCol="0" anchor="t">
            <a:normAutofit/>
          </a:bodyPr>
          <a:lstStyle/>
          <a:p>
            <a:pPr marL="0" indent="0" algn="l">
              <a:lnSpc>
                <a:spcPct val="98000"/>
              </a:lnSpc>
              <a:buNone/>
            </a:pPr>
            <a:r>
              <a:rPr lang="en-US" sz="1300" b="1" dirty="0">
                <a:solidFill>
                  <a:srgbClr val="07111F"/>
                </a:solidFill>
                <a:latin typeface="Aptos" pitchFamily="34" charset="0"/>
                <a:ea typeface="Aptos" pitchFamily="34" charset="-122"/>
                <a:cs typeface="Aptos" pitchFamily="34" charset="-120"/>
              </a:rPr>
              <a:t>Edge cases</a:t>
            </a:r>
            <a:endParaRPr lang="en-US" sz="1300" dirty="0"/>
          </a:p>
        </p:txBody>
      </p:sp>
      <p:sp>
        <p:nvSpPr>
          <p:cNvPr id="23" name="Text 20"/>
          <p:cNvSpPr/>
          <p:nvPr/>
        </p:nvSpPr>
        <p:spPr>
          <a:xfrm>
            <a:off x="7424928" y="4215384"/>
            <a:ext cx="2514600" cy="137160"/>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475569"/>
                </a:solidFill>
                <a:latin typeface="Aptos" pitchFamily="34" charset="0"/>
                <a:ea typeface="Aptos" pitchFamily="34" charset="-122"/>
                <a:cs typeface="Aptos" pitchFamily="34" charset="-120"/>
              </a:rPr>
              <a:t>missing values / formats</a:t>
            </a:r>
            <a:endParaRPr lang="en-US" sz="9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7C3AED">
              <a:alpha val="96000"/>
            </a:srgbClr>
          </a:solidFill>
          <a:ln w="12700">
            <a:solidFill>
              <a:srgbClr val="7C3AED">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rgbClr val="FFFFFF"/>
                </a:solidFill>
                <a:latin typeface="Aptos" pitchFamily="34" charset="0"/>
                <a:ea typeface="Aptos" pitchFamily="34" charset="-122"/>
                <a:cs typeface="Aptos" pitchFamily="34" charset="-120"/>
              </a:rPr>
              <a:t>CURRENT ARCHITECTURE</a:t>
            </a:r>
            <a:endParaRPr lang="en-US" sz="850" dirty="0"/>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FFFFFF"/>
                </a:solidFill>
                <a:latin typeface="Aptos Display" pitchFamily="34" charset="0"/>
                <a:ea typeface="Aptos Display" pitchFamily="34" charset="-122"/>
                <a:cs typeface="Aptos Display" pitchFamily="34" charset="-120"/>
              </a:rPr>
              <a:t>Everything important happens</a:t>
            </a:r>
            <a:endParaRPr lang="en-US" sz="4000" dirty="0"/>
          </a:p>
          <a:p>
            <a:pPr marL="0" indent="0" algn="l">
              <a:lnSpc>
                <a:spcPct val="86000"/>
              </a:lnSpc>
              <a:buNone/>
            </a:pPr>
            <a:r>
              <a:rPr lang="en-US" sz="4000" b="1" dirty="0">
                <a:solidFill>
                  <a:srgbClr val="FFFFFF"/>
                </a:solidFill>
                <a:latin typeface="Aptos Display" pitchFamily="34" charset="0"/>
                <a:ea typeface="Aptos Display" pitchFamily="34" charset="-122"/>
                <a:cs typeface="Aptos Display" pitchFamily="34" charset="-120"/>
              </a:rPr>
              <a:t>inside the browser.</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9FB2CB"/>
                </a:solidFill>
                <a:latin typeface="Aptos" pitchFamily="34" charset="0"/>
                <a:ea typeface="Aptos" pitchFamily="34" charset="-122"/>
                <a:cs typeface="Aptos" pitchFamily="34" charset="-120"/>
              </a:rPr>
              <a:t>The prototype is intentionally small: no backend, no database, no server-side processing in the current interim version.</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9FB2CB"/>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9FB2CB"/>
                </a:solidFill>
                <a:latin typeface="Aptos" pitchFamily="34" charset="0"/>
                <a:ea typeface="Aptos" pitchFamily="34" charset="-122"/>
                <a:cs typeface="Aptos" pitchFamily="34" charset="-120"/>
              </a:rPr>
              <a:t>07</a:t>
            </a:r>
            <a:endParaRPr lang="en-US" sz="950" dirty="0"/>
          </a:p>
        </p:txBody>
      </p:sp>
      <p:sp>
        <p:nvSpPr>
          <p:cNvPr id="9" name="Shape 6"/>
          <p:cNvSpPr/>
          <p:nvPr/>
        </p:nvSpPr>
        <p:spPr>
          <a:xfrm>
            <a:off x="566928" y="6382512"/>
            <a:ext cx="11064240" cy="0"/>
          </a:xfrm>
          <a:prstGeom prst="line">
            <a:avLst/>
          </a:prstGeom>
          <a:noFill/>
          <a:ln w="8890">
            <a:solidFill>
              <a:srgbClr val="31465E">
                <a:alpha val="76000"/>
              </a:srgbClr>
            </a:solidFill>
            <a:prstDash val="solid"/>
          </a:ln>
        </p:spPr>
        <p:txBody>
          <a:bodyPr/>
          <a:lstStyle/>
          <a:p>
            <a:endParaRPr lang="de-DE"/>
          </a:p>
        </p:txBody>
      </p:sp>
      <p:sp>
        <p:nvSpPr>
          <p:cNvPr id="10" name="Shape 7"/>
          <p:cNvSpPr/>
          <p:nvPr/>
        </p:nvSpPr>
        <p:spPr>
          <a:xfrm>
            <a:off x="731520" y="4069080"/>
            <a:ext cx="1755648" cy="1033272"/>
          </a:xfrm>
          <a:prstGeom prst="roundRect">
            <a:avLst>
              <a:gd name="adj" fmla="val 15929"/>
            </a:avLst>
          </a:prstGeom>
          <a:solidFill>
            <a:srgbClr val="0E1C2D"/>
          </a:solidFill>
          <a:ln w="10160">
            <a:solidFill>
              <a:srgbClr val="2563EB">
                <a:alpha val="88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1" name="Text 8"/>
          <p:cNvSpPr/>
          <p:nvPr/>
        </p:nvSpPr>
        <p:spPr>
          <a:xfrm>
            <a:off x="877824" y="4270248"/>
            <a:ext cx="1463040" cy="228600"/>
          </a:xfrm>
          <a:prstGeom prst="rect">
            <a:avLst/>
          </a:prstGeom>
          <a:noFill/>
          <a:ln/>
        </p:spPr>
        <p:txBody>
          <a:bodyPr wrap="square" lIns="0" tIns="0" rIns="0" bIns="0" rtlCol="0" anchor="t">
            <a:normAutofit/>
          </a:bodyPr>
          <a:lstStyle/>
          <a:p>
            <a:pPr marL="0" indent="0" algn="ctr">
              <a:lnSpc>
                <a:spcPct val="98000"/>
              </a:lnSpc>
              <a:buNone/>
            </a:pPr>
            <a:r>
              <a:rPr lang="en-US" sz="1150" b="1" dirty="0">
                <a:solidFill>
                  <a:srgbClr val="FFFFFF"/>
                </a:solidFill>
                <a:latin typeface="Aptos" pitchFamily="34" charset="0"/>
                <a:ea typeface="Aptos" pitchFamily="34" charset="-122"/>
                <a:cs typeface="Aptos" pitchFamily="34" charset="-120"/>
              </a:rPr>
              <a:t>User Interface</a:t>
            </a:r>
            <a:endParaRPr lang="en-US" sz="1150" dirty="0"/>
          </a:p>
        </p:txBody>
      </p:sp>
      <p:sp>
        <p:nvSpPr>
          <p:cNvPr id="12" name="Text 9"/>
          <p:cNvSpPr/>
          <p:nvPr/>
        </p:nvSpPr>
        <p:spPr>
          <a:xfrm>
            <a:off x="841248" y="4645152"/>
            <a:ext cx="1536192" cy="182880"/>
          </a:xfrm>
          <a:prstGeom prst="rect">
            <a:avLst/>
          </a:prstGeom>
          <a:noFill/>
          <a:ln/>
        </p:spPr>
        <p:txBody>
          <a:bodyPr wrap="square" lIns="0" tIns="0" rIns="0" bIns="0" rtlCol="0" anchor="t">
            <a:normAutofit/>
          </a:bodyPr>
          <a:lstStyle/>
          <a:p>
            <a:pPr marL="0" indent="0" algn="ctr">
              <a:lnSpc>
                <a:spcPct val="98000"/>
              </a:lnSpc>
              <a:buNone/>
            </a:pPr>
            <a:r>
              <a:rPr lang="en-US" sz="820" dirty="0">
                <a:solidFill>
                  <a:srgbClr val="9FB2CB"/>
                </a:solidFill>
                <a:latin typeface="Aptos" pitchFamily="34" charset="0"/>
                <a:ea typeface="Aptos" pitchFamily="34" charset="-122"/>
                <a:cs typeface="Aptos" pitchFamily="34" charset="-120"/>
              </a:rPr>
              <a:t>upload + questions</a:t>
            </a:r>
            <a:endParaRPr lang="en-US" sz="820" dirty="0"/>
          </a:p>
        </p:txBody>
      </p:sp>
      <p:sp>
        <p:nvSpPr>
          <p:cNvPr id="13" name="Shape 10"/>
          <p:cNvSpPr/>
          <p:nvPr/>
        </p:nvSpPr>
        <p:spPr>
          <a:xfrm>
            <a:off x="2523744" y="4599432"/>
            <a:ext cx="219456" cy="0"/>
          </a:xfrm>
          <a:prstGeom prst="line">
            <a:avLst/>
          </a:prstGeom>
          <a:noFill/>
          <a:ln w="20320">
            <a:solidFill>
              <a:srgbClr val="A3E635"/>
            </a:solidFill>
            <a:prstDash val="solid"/>
            <a:headEnd type="none"/>
            <a:tailEnd type="triangle"/>
          </a:ln>
        </p:spPr>
        <p:txBody>
          <a:bodyPr/>
          <a:lstStyle/>
          <a:p>
            <a:endParaRPr lang="de-DE"/>
          </a:p>
        </p:txBody>
      </p:sp>
      <p:sp>
        <p:nvSpPr>
          <p:cNvPr id="14" name="Shape 11"/>
          <p:cNvSpPr/>
          <p:nvPr/>
        </p:nvSpPr>
        <p:spPr>
          <a:xfrm>
            <a:off x="2788920" y="4069080"/>
            <a:ext cx="1755648" cy="1033272"/>
          </a:xfrm>
          <a:prstGeom prst="roundRect">
            <a:avLst>
              <a:gd name="adj" fmla="val 15929"/>
            </a:avLst>
          </a:prstGeom>
          <a:solidFill>
            <a:srgbClr val="0E1C2D"/>
          </a:solidFill>
          <a:ln w="10160">
            <a:solidFill>
              <a:srgbClr val="06B6D4">
                <a:alpha val="88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5" name="Text 12"/>
          <p:cNvSpPr/>
          <p:nvPr/>
        </p:nvSpPr>
        <p:spPr>
          <a:xfrm>
            <a:off x="2935224" y="4270248"/>
            <a:ext cx="1463040" cy="228600"/>
          </a:xfrm>
          <a:prstGeom prst="rect">
            <a:avLst/>
          </a:prstGeom>
          <a:noFill/>
          <a:ln/>
        </p:spPr>
        <p:txBody>
          <a:bodyPr wrap="square" lIns="0" tIns="0" rIns="0" bIns="0" rtlCol="0" anchor="t">
            <a:normAutofit/>
          </a:bodyPr>
          <a:lstStyle/>
          <a:p>
            <a:pPr marL="0" indent="0" algn="ctr">
              <a:lnSpc>
                <a:spcPct val="98000"/>
              </a:lnSpc>
              <a:buNone/>
            </a:pPr>
            <a:r>
              <a:rPr lang="en-US" sz="1150" b="1" dirty="0">
                <a:solidFill>
                  <a:srgbClr val="FFFFFF"/>
                </a:solidFill>
                <a:latin typeface="Aptos" pitchFamily="34" charset="0"/>
                <a:ea typeface="Aptos" pitchFamily="34" charset="-122"/>
                <a:cs typeface="Aptos" pitchFamily="34" charset="-120"/>
              </a:rPr>
              <a:t>Parsing Layer</a:t>
            </a:r>
            <a:endParaRPr lang="en-US" sz="1150" dirty="0"/>
          </a:p>
        </p:txBody>
      </p:sp>
      <p:sp>
        <p:nvSpPr>
          <p:cNvPr id="16" name="Text 13"/>
          <p:cNvSpPr/>
          <p:nvPr/>
        </p:nvSpPr>
        <p:spPr>
          <a:xfrm>
            <a:off x="2898648" y="4645152"/>
            <a:ext cx="1536192" cy="182880"/>
          </a:xfrm>
          <a:prstGeom prst="rect">
            <a:avLst/>
          </a:prstGeom>
          <a:noFill/>
          <a:ln/>
        </p:spPr>
        <p:txBody>
          <a:bodyPr wrap="square" lIns="0" tIns="0" rIns="0" bIns="0" rtlCol="0" anchor="t">
            <a:normAutofit/>
          </a:bodyPr>
          <a:lstStyle/>
          <a:p>
            <a:pPr marL="0" indent="0" algn="ctr">
              <a:lnSpc>
                <a:spcPct val="98000"/>
              </a:lnSpc>
              <a:buNone/>
            </a:pPr>
            <a:r>
              <a:rPr lang="en-US" sz="820" dirty="0">
                <a:solidFill>
                  <a:srgbClr val="9FB2CB"/>
                </a:solidFill>
                <a:latin typeface="Aptos" pitchFamily="34" charset="0"/>
                <a:ea typeface="Aptos" pitchFamily="34" charset="-122"/>
                <a:cs typeface="Aptos" pitchFamily="34" charset="-120"/>
              </a:rPr>
              <a:t>PapaParse / SheetJS</a:t>
            </a:r>
            <a:endParaRPr lang="en-US" sz="820" dirty="0"/>
          </a:p>
        </p:txBody>
      </p:sp>
      <p:sp>
        <p:nvSpPr>
          <p:cNvPr id="17" name="Shape 14"/>
          <p:cNvSpPr/>
          <p:nvPr/>
        </p:nvSpPr>
        <p:spPr>
          <a:xfrm>
            <a:off x="4581144" y="4599432"/>
            <a:ext cx="219456" cy="0"/>
          </a:xfrm>
          <a:prstGeom prst="line">
            <a:avLst/>
          </a:prstGeom>
          <a:noFill/>
          <a:ln w="20320">
            <a:solidFill>
              <a:srgbClr val="A3E635"/>
            </a:solidFill>
            <a:prstDash val="solid"/>
            <a:headEnd type="none"/>
            <a:tailEnd type="triangle"/>
          </a:ln>
        </p:spPr>
        <p:txBody>
          <a:bodyPr/>
          <a:lstStyle/>
          <a:p>
            <a:endParaRPr lang="de-DE"/>
          </a:p>
        </p:txBody>
      </p:sp>
      <p:sp>
        <p:nvSpPr>
          <p:cNvPr id="18" name="Shape 15"/>
          <p:cNvSpPr/>
          <p:nvPr/>
        </p:nvSpPr>
        <p:spPr>
          <a:xfrm>
            <a:off x="4846320" y="4069080"/>
            <a:ext cx="1755648" cy="1033272"/>
          </a:xfrm>
          <a:prstGeom prst="roundRect">
            <a:avLst>
              <a:gd name="adj" fmla="val 15929"/>
            </a:avLst>
          </a:prstGeom>
          <a:solidFill>
            <a:srgbClr val="0E1C2D"/>
          </a:solidFill>
          <a:ln w="10160">
            <a:solidFill>
              <a:srgbClr val="16A34A">
                <a:alpha val="88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9" name="Text 16"/>
          <p:cNvSpPr/>
          <p:nvPr/>
        </p:nvSpPr>
        <p:spPr>
          <a:xfrm>
            <a:off x="4992624" y="4270248"/>
            <a:ext cx="1463040" cy="228600"/>
          </a:xfrm>
          <a:prstGeom prst="rect">
            <a:avLst/>
          </a:prstGeom>
          <a:noFill/>
          <a:ln/>
        </p:spPr>
        <p:txBody>
          <a:bodyPr wrap="square" lIns="0" tIns="0" rIns="0" bIns="0" rtlCol="0" anchor="t">
            <a:normAutofit/>
          </a:bodyPr>
          <a:lstStyle/>
          <a:p>
            <a:pPr marL="0" indent="0" algn="ctr">
              <a:lnSpc>
                <a:spcPct val="98000"/>
              </a:lnSpc>
              <a:buNone/>
            </a:pPr>
            <a:r>
              <a:rPr lang="en-US" sz="1150" b="1" dirty="0">
                <a:solidFill>
                  <a:srgbClr val="FFFFFF"/>
                </a:solidFill>
                <a:latin typeface="Aptos" pitchFamily="34" charset="0"/>
                <a:ea typeface="Aptos" pitchFamily="34" charset="-122"/>
                <a:cs typeface="Aptos" pitchFamily="34" charset="-120"/>
              </a:rPr>
              <a:t>Analysis Engine</a:t>
            </a:r>
            <a:endParaRPr lang="en-US" sz="1150" dirty="0"/>
          </a:p>
        </p:txBody>
      </p:sp>
      <p:sp>
        <p:nvSpPr>
          <p:cNvPr id="20" name="Text 17"/>
          <p:cNvSpPr/>
          <p:nvPr/>
        </p:nvSpPr>
        <p:spPr>
          <a:xfrm>
            <a:off x="4956048" y="4645152"/>
            <a:ext cx="1536192" cy="182880"/>
          </a:xfrm>
          <a:prstGeom prst="rect">
            <a:avLst/>
          </a:prstGeom>
          <a:noFill/>
          <a:ln/>
        </p:spPr>
        <p:txBody>
          <a:bodyPr wrap="square" lIns="0" tIns="0" rIns="0" bIns="0" rtlCol="0" anchor="t">
            <a:normAutofit/>
          </a:bodyPr>
          <a:lstStyle/>
          <a:p>
            <a:pPr marL="0" indent="0" algn="ctr">
              <a:lnSpc>
                <a:spcPct val="98000"/>
              </a:lnSpc>
              <a:buNone/>
            </a:pPr>
            <a:r>
              <a:rPr lang="en-US" sz="820" dirty="0">
                <a:solidFill>
                  <a:srgbClr val="9FB2CB"/>
                </a:solidFill>
                <a:latin typeface="Aptos" pitchFamily="34" charset="0"/>
                <a:ea typeface="Aptos" pitchFamily="34" charset="-122"/>
                <a:cs typeface="Aptos" pitchFamily="34" charset="-120"/>
              </a:rPr>
              <a:t>deterministic JS</a:t>
            </a:r>
            <a:endParaRPr lang="en-US" sz="820" dirty="0"/>
          </a:p>
        </p:txBody>
      </p:sp>
      <p:sp>
        <p:nvSpPr>
          <p:cNvPr id="21" name="Shape 18"/>
          <p:cNvSpPr/>
          <p:nvPr/>
        </p:nvSpPr>
        <p:spPr>
          <a:xfrm>
            <a:off x="6638544" y="4599432"/>
            <a:ext cx="219456" cy="0"/>
          </a:xfrm>
          <a:prstGeom prst="line">
            <a:avLst/>
          </a:prstGeom>
          <a:noFill/>
          <a:ln w="20320">
            <a:solidFill>
              <a:srgbClr val="A3E635"/>
            </a:solidFill>
            <a:prstDash val="solid"/>
            <a:headEnd type="none"/>
            <a:tailEnd type="triangle"/>
          </a:ln>
        </p:spPr>
        <p:txBody>
          <a:bodyPr/>
          <a:lstStyle/>
          <a:p>
            <a:endParaRPr lang="de-DE"/>
          </a:p>
        </p:txBody>
      </p:sp>
      <p:sp>
        <p:nvSpPr>
          <p:cNvPr id="22" name="Shape 19"/>
          <p:cNvSpPr/>
          <p:nvPr/>
        </p:nvSpPr>
        <p:spPr>
          <a:xfrm>
            <a:off x="6903720" y="4069080"/>
            <a:ext cx="1755648" cy="1033272"/>
          </a:xfrm>
          <a:prstGeom prst="roundRect">
            <a:avLst>
              <a:gd name="adj" fmla="val 15929"/>
            </a:avLst>
          </a:prstGeom>
          <a:solidFill>
            <a:srgbClr val="0E1C2D"/>
          </a:solidFill>
          <a:ln w="10160">
            <a:solidFill>
              <a:srgbClr val="F59E0B">
                <a:alpha val="88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3" name="Text 20"/>
          <p:cNvSpPr/>
          <p:nvPr/>
        </p:nvSpPr>
        <p:spPr>
          <a:xfrm>
            <a:off x="7050024" y="4270248"/>
            <a:ext cx="1463040" cy="228600"/>
          </a:xfrm>
          <a:prstGeom prst="rect">
            <a:avLst/>
          </a:prstGeom>
          <a:noFill/>
          <a:ln/>
        </p:spPr>
        <p:txBody>
          <a:bodyPr wrap="square" lIns="0" tIns="0" rIns="0" bIns="0" rtlCol="0" anchor="t">
            <a:normAutofit/>
          </a:bodyPr>
          <a:lstStyle/>
          <a:p>
            <a:pPr marL="0" indent="0" algn="ctr">
              <a:lnSpc>
                <a:spcPct val="98000"/>
              </a:lnSpc>
              <a:buNone/>
            </a:pPr>
            <a:r>
              <a:rPr lang="en-US" sz="1150" b="1" dirty="0">
                <a:solidFill>
                  <a:srgbClr val="FFFFFF"/>
                </a:solidFill>
                <a:latin typeface="Aptos" pitchFamily="34" charset="0"/>
                <a:ea typeface="Aptos" pitchFamily="34" charset="-122"/>
                <a:cs typeface="Aptos" pitchFamily="34" charset="-120"/>
              </a:rPr>
              <a:t>Explanation Layer</a:t>
            </a:r>
            <a:endParaRPr lang="en-US" sz="1150" dirty="0"/>
          </a:p>
        </p:txBody>
      </p:sp>
      <p:sp>
        <p:nvSpPr>
          <p:cNvPr id="24" name="Text 21"/>
          <p:cNvSpPr/>
          <p:nvPr/>
        </p:nvSpPr>
        <p:spPr>
          <a:xfrm>
            <a:off x="7013448" y="4645152"/>
            <a:ext cx="1536192" cy="182880"/>
          </a:xfrm>
          <a:prstGeom prst="rect">
            <a:avLst/>
          </a:prstGeom>
          <a:noFill/>
          <a:ln/>
        </p:spPr>
        <p:txBody>
          <a:bodyPr wrap="square" lIns="0" tIns="0" rIns="0" bIns="0" rtlCol="0" anchor="t">
            <a:normAutofit/>
          </a:bodyPr>
          <a:lstStyle/>
          <a:p>
            <a:pPr marL="0" indent="0" algn="ctr">
              <a:lnSpc>
                <a:spcPct val="98000"/>
              </a:lnSpc>
              <a:buNone/>
            </a:pPr>
            <a:r>
              <a:rPr lang="en-US" sz="820" dirty="0">
                <a:solidFill>
                  <a:srgbClr val="9FB2CB"/>
                </a:solidFill>
                <a:latin typeface="Aptos" pitchFamily="34" charset="0"/>
                <a:ea typeface="Aptos" pitchFamily="34" charset="-122"/>
                <a:cs typeface="Aptos" pitchFamily="34" charset="-120"/>
              </a:rPr>
              <a:t>simple business text</a:t>
            </a:r>
            <a:endParaRPr lang="en-US" sz="820" dirty="0"/>
          </a:p>
        </p:txBody>
      </p:sp>
      <p:sp>
        <p:nvSpPr>
          <p:cNvPr id="25" name="Shape 22"/>
          <p:cNvSpPr/>
          <p:nvPr/>
        </p:nvSpPr>
        <p:spPr>
          <a:xfrm>
            <a:off x="8695944" y="4599432"/>
            <a:ext cx="219456" cy="0"/>
          </a:xfrm>
          <a:prstGeom prst="line">
            <a:avLst/>
          </a:prstGeom>
          <a:noFill/>
          <a:ln w="20320">
            <a:solidFill>
              <a:srgbClr val="A3E635"/>
            </a:solidFill>
            <a:prstDash val="solid"/>
            <a:headEnd type="none"/>
            <a:tailEnd type="triangle"/>
          </a:ln>
        </p:spPr>
        <p:txBody>
          <a:bodyPr/>
          <a:lstStyle/>
          <a:p>
            <a:endParaRPr lang="de-DE"/>
          </a:p>
        </p:txBody>
      </p:sp>
      <p:sp>
        <p:nvSpPr>
          <p:cNvPr id="26" name="Shape 23"/>
          <p:cNvSpPr/>
          <p:nvPr/>
        </p:nvSpPr>
        <p:spPr>
          <a:xfrm>
            <a:off x="8961120" y="4069080"/>
            <a:ext cx="1755648" cy="1033272"/>
          </a:xfrm>
          <a:prstGeom prst="roundRect">
            <a:avLst>
              <a:gd name="adj" fmla="val 15929"/>
            </a:avLst>
          </a:prstGeom>
          <a:solidFill>
            <a:srgbClr val="0E1C2D"/>
          </a:solidFill>
          <a:ln w="10160">
            <a:solidFill>
              <a:srgbClr val="7C3AED">
                <a:alpha val="88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7" name="Text 24"/>
          <p:cNvSpPr/>
          <p:nvPr/>
        </p:nvSpPr>
        <p:spPr>
          <a:xfrm>
            <a:off x="9107424" y="4270248"/>
            <a:ext cx="1463040" cy="228600"/>
          </a:xfrm>
          <a:prstGeom prst="rect">
            <a:avLst/>
          </a:prstGeom>
          <a:noFill/>
          <a:ln/>
        </p:spPr>
        <p:txBody>
          <a:bodyPr wrap="square" lIns="0" tIns="0" rIns="0" bIns="0" rtlCol="0" anchor="t">
            <a:normAutofit/>
          </a:bodyPr>
          <a:lstStyle/>
          <a:p>
            <a:pPr marL="0" indent="0" algn="ctr">
              <a:lnSpc>
                <a:spcPct val="98000"/>
              </a:lnSpc>
              <a:buNone/>
            </a:pPr>
            <a:r>
              <a:rPr lang="en-US" sz="1150" b="1" dirty="0">
                <a:solidFill>
                  <a:srgbClr val="FFFFFF"/>
                </a:solidFill>
                <a:latin typeface="Aptos" pitchFamily="34" charset="0"/>
                <a:ea typeface="Aptos" pitchFamily="34" charset="-122"/>
                <a:cs typeface="Aptos" pitchFamily="34" charset="-120"/>
              </a:rPr>
              <a:t>Visual Output</a:t>
            </a:r>
            <a:endParaRPr lang="en-US" sz="1150" dirty="0"/>
          </a:p>
        </p:txBody>
      </p:sp>
      <p:sp>
        <p:nvSpPr>
          <p:cNvPr id="28" name="Text 25"/>
          <p:cNvSpPr/>
          <p:nvPr/>
        </p:nvSpPr>
        <p:spPr>
          <a:xfrm>
            <a:off x="9070848" y="4645152"/>
            <a:ext cx="1536192" cy="182880"/>
          </a:xfrm>
          <a:prstGeom prst="rect">
            <a:avLst/>
          </a:prstGeom>
          <a:noFill/>
          <a:ln/>
        </p:spPr>
        <p:txBody>
          <a:bodyPr wrap="square" lIns="0" tIns="0" rIns="0" bIns="0" rtlCol="0" anchor="t">
            <a:normAutofit/>
          </a:bodyPr>
          <a:lstStyle/>
          <a:p>
            <a:pPr marL="0" indent="0" algn="ctr">
              <a:lnSpc>
                <a:spcPct val="98000"/>
              </a:lnSpc>
              <a:buNone/>
            </a:pPr>
            <a:r>
              <a:rPr lang="en-US" sz="820" dirty="0">
                <a:solidFill>
                  <a:srgbClr val="9FB2CB"/>
                </a:solidFill>
                <a:latin typeface="Aptos" pitchFamily="34" charset="0"/>
                <a:ea typeface="Aptos" pitchFamily="34" charset="-122"/>
                <a:cs typeface="Aptos" pitchFamily="34" charset="-120"/>
              </a:rPr>
              <a:t>cards + charts</a:t>
            </a:r>
            <a:endParaRPr lang="en-US" sz="820" dirty="0"/>
          </a:p>
        </p:txBody>
      </p:sp>
      <p:sp>
        <p:nvSpPr>
          <p:cNvPr id="29" name="Text 26"/>
          <p:cNvSpPr/>
          <p:nvPr/>
        </p:nvSpPr>
        <p:spPr>
          <a:xfrm>
            <a:off x="859536" y="5486400"/>
            <a:ext cx="3657600" cy="210312"/>
          </a:xfrm>
          <a:prstGeom prst="rect">
            <a:avLst/>
          </a:prstGeom>
          <a:noFill/>
          <a:ln/>
        </p:spPr>
        <p:txBody>
          <a:bodyPr wrap="square" lIns="0" tIns="0" rIns="0" bIns="0" rtlCol="0" anchor="t">
            <a:normAutofit/>
          </a:bodyPr>
          <a:lstStyle/>
          <a:p>
            <a:pPr marL="0" indent="0" algn="l">
              <a:lnSpc>
                <a:spcPct val="98000"/>
              </a:lnSpc>
              <a:buNone/>
            </a:pPr>
            <a:r>
              <a:rPr lang="en-US" sz="1200" b="1" dirty="0">
                <a:solidFill>
                  <a:srgbClr val="9FB2CB"/>
                </a:solidFill>
                <a:latin typeface="Aptos" pitchFamily="34" charset="0"/>
                <a:ea typeface="Aptos" pitchFamily="34" charset="-122"/>
                <a:cs typeface="Aptos" pitchFamily="34" charset="-120"/>
              </a:rPr>
              <a:t>Prototype boundary: browser-based web app</a:t>
            </a:r>
            <a:endParaRPr lang="en-US"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2563EB">
              <a:alpha val="92000"/>
            </a:srgbClr>
          </a:solidFill>
          <a:ln w="12700">
            <a:solidFill>
              <a:srgbClr val="2563EB">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chemeClr val="bg1"/>
                </a:solidFill>
                <a:latin typeface="Aptos" pitchFamily="34" charset="0"/>
                <a:ea typeface="Aptos" pitchFamily="34" charset="-122"/>
                <a:cs typeface="Aptos" pitchFamily="34" charset="-120"/>
              </a:rPr>
              <a:t>ANALYSIS LOGIC</a:t>
            </a:r>
            <a:endParaRPr lang="en-US" sz="850" dirty="0">
              <a:solidFill>
                <a:schemeClr val="bg1"/>
              </a:solidFill>
            </a:endParaRPr>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Code calculates.</a:t>
            </a:r>
            <a:endParaRPr lang="en-US" sz="4000" dirty="0"/>
          </a:p>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No invented numbers.</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475569"/>
                </a:solidFill>
                <a:latin typeface="Aptos" pitchFamily="34" charset="0"/>
                <a:ea typeface="Aptos" pitchFamily="34" charset="-122"/>
                <a:cs typeface="Aptos" pitchFamily="34" charset="-120"/>
              </a:rPr>
              <a:t>All numeric outputs come from deterministic calculations on the uploaded dataset.</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475569"/>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475569"/>
                </a:solidFill>
                <a:latin typeface="Aptos" pitchFamily="34" charset="0"/>
                <a:ea typeface="Aptos" pitchFamily="34" charset="-122"/>
                <a:cs typeface="Aptos" pitchFamily="34" charset="-120"/>
              </a:rPr>
              <a:t>08</a:t>
            </a:r>
            <a:endParaRPr lang="en-US" sz="950" dirty="0"/>
          </a:p>
        </p:txBody>
      </p:sp>
      <p:sp>
        <p:nvSpPr>
          <p:cNvPr id="9" name="Shape 6"/>
          <p:cNvSpPr/>
          <p:nvPr/>
        </p:nvSpPr>
        <p:spPr>
          <a:xfrm>
            <a:off x="566928" y="6382512"/>
            <a:ext cx="11064240" cy="0"/>
          </a:xfrm>
          <a:prstGeom prst="line">
            <a:avLst/>
          </a:prstGeom>
          <a:noFill/>
          <a:ln w="8890">
            <a:solidFill>
              <a:srgbClr val="CBD5E1">
                <a:alpha val="76000"/>
              </a:srgbClr>
            </a:solidFill>
            <a:prstDash val="solid"/>
          </a:ln>
        </p:spPr>
        <p:txBody>
          <a:bodyPr/>
          <a:lstStyle/>
          <a:p>
            <a:endParaRPr lang="de-DE"/>
          </a:p>
        </p:txBody>
      </p:sp>
      <p:sp>
        <p:nvSpPr>
          <p:cNvPr id="10" name="Shape 7"/>
          <p:cNvSpPr/>
          <p:nvPr/>
        </p:nvSpPr>
        <p:spPr>
          <a:xfrm>
            <a:off x="786384" y="4069080"/>
            <a:ext cx="2331720" cy="566928"/>
          </a:xfrm>
          <a:prstGeom prst="roundRect">
            <a:avLst>
              <a:gd name="adj" fmla="val 29032"/>
            </a:avLst>
          </a:prstGeom>
          <a:solidFill>
            <a:srgbClr val="FFFFFF"/>
          </a:solidFill>
          <a:ln w="10160">
            <a:solidFill>
              <a:srgbClr val="2563EB">
                <a:alpha val="50000"/>
              </a:srgbClr>
            </a:solidFill>
            <a:prstDash val="solid"/>
          </a:ln>
        </p:spPr>
        <p:txBody>
          <a:bodyPr/>
          <a:lstStyle/>
          <a:p>
            <a:endParaRPr lang="de-DE"/>
          </a:p>
        </p:txBody>
      </p:sp>
      <p:sp>
        <p:nvSpPr>
          <p:cNvPr id="11" name="Text 8"/>
          <p:cNvSpPr/>
          <p:nvPr/>
        </p:nvSpPr>
        <p:spPr>
          <a:xfrm>
            <a:off x="914400" y="4197096"/>
            <a:ext cx="1005840" cy="164592"/>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07111F"/>
                </a:solidFill>
                <a:latin typeface="Aptos" pitchFamily="34" charset="0"/>
                <a:ea typeface="Aptos" pitchFamily="34" charset="-122"/>
                <a:cs typeface="Aptos" pitchFamily="34" charset="-120"/>
              </a:rPr>
              <a:t>Total revenue</a:t>
            </a:r>
            <a:endParaRPr lang="en-US" sz="1050" dirty="0"/>
          </a:p>
        </p:txBody>
      </p:sp>
      <p:sp>
        <p:nvSpPr>
          <p:cNvPr id="12" name="Text 9"/>
          <p:cNvSpPr/>
          <p:nvPr/>
        </p:nvSpPr>
        <p:spPr>
          <a:xfrm>
            <a:off x="1929384" y="4215384"/>
            <a:ext cx="1005840" cy="128016"/>
          </a:xfrm>
          <a:prstGeom prst="rect">
            <a:avLst/>
          </a:prstGeom>
          <a:noFill/>
          <a:ln/>
        </p:spPr>
        <p:txBody>
          <a:bodyPr wrap="square" lIns="0" tIns="0" rIns="0" bIns="0" rtlCol="0" anchor="t">
            <a:normAutofit/>
          </a:bodyPr>
          <a:lstStyle/>
          <a:p>
            <a:pPr marL="0" indent="0" algn="r">
              <a:lnSpc>
                <a:spcPct val="98000"/>
              </a:lnSpc>
              <a:buNone/>
            </a:pPr>
            <a:r>
              <a:rPr lang="en-US" sz="780" dirty="0">
                <a:solidFill>
                  <a:srgbClr val="475569"/>
                </a:solidFill>
                <a:latin typeface="Aptos" pitchFamily="34" charset="0"/>
                <a:ea typeface="Aptos" pitchFamily="34" charset="-122"/>
                <a:cs typeface="Aptos" pitchFamily="34" charset="-120"/>
              </a:rPr>
              <a:t>sum of revenue</a:t>
            </a:r>
            <a:endParaRPr lang="en-US" sz="780" dirty="0"/>
          </a:p>
        </p:txBody>
      </p:sp>
      <p:sp>
        <p:nvSpPr>
          <p:cNvPr id="13" name="Shape 10"/>
          <p:cNvSpPr/>
          <p:nvPr/>
        </p:nvSpPr>
        <p:spPr>
          <a:xfrm>
            <a:off x="3575304" y="4069080"/>
            <a:ext cx="2331720" cy="566928"/>
          </a:xfrm>
          <a:prstGeom prst="roundRect">
            <a:avLst>
              <a:gd name="adj" fmla="val 29032"/>
            </a:avLst>
          </a:prstGeom>
          <a:solidFill>
            <a:srgbClr val="FFFFFF"/>
          </a:solidFill>
          <a:ln w="10160">
            <a:solidFill>
              <a:srgbClr val="16A34A">
                <a:alpha val="50000"/>
              </a:srgbClr>
            </a:solidFill>
            <a:prstDash val="solid"/>
          </a:ln>
        </p:spPr>
        <p:txBody>
          <a:bodyPr/>
          <a:lstStyle/>
          <a:p>
            <a:endParaRPr lang="de-DE"/>
          </a:p>
        </p:txBody>
      </p:sp>
      <p:sp>
        <p:nvSpPr>
          <p:cNvPr id="14" name="Text 11"/>
          <p:cNvSpPr/>
          <p:nvPr/>
        </p:nvSpPr>
        <p:spPr>
          <a:xfrm>
            <a:off x="3703320" y="4197096"/>
            <a:ext cx="1005840" cy="164592"/>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07111F"/>
                </a:solidFill>
                <a:latin typeface="Aptos" pitchFamily="34" charset="0"/>
                <a:ea typeface="Aptos" pitchFamily="34" charset="-122"/>
                <a:cs typeface="Aptos" pitchFamily="34" charset="-120"/>
              </a:rPr>
              <a:t>Total quantity</a:t>
            </a:r>
            <a:endParaRPr lang="en-US" sz="1050" dirty="0"/>
          </a:p>
        </p:txBody>
      </p:sp>
      <p:sp>
        <p:nvSpPr>
          <p:cNvPr id="15" name="Text 12"/>
          <p:cNvSpPr/>
          <p:nvPr/>
        </p:nvSpPr>
        <p:spPr>
          <a:xfrm>
            <a:off x="4718304" y="4215384"/>
            <a:ext cx="1005840" cy="128016"/>
          </a:xfrm>
          <a:prstGeom prst="rect">
            <a:avLst/>
          </a:prstGeom>
          <a:noFill/>
          <a:ln/>
        </p:spPr>
        <p:txBody>
          <a:bodyPr wrap="square" lIns="0" tIns="0" rIns="0" bIns="0" rtlCol="0" anchor="t">
            <a:normAutofit/>
          </a:bodyPr>
          <a:lstStyle/>
          <a:p>
            <a:pPr marL="0" indent="0" algn="r">
              <a:lnSpc>
                <a:spcPct val="98000"/>
              </a:lnSpc>
              <a:buNone/>
            </a:pPr>
            <a:r>
              <a:rPr lang="en-US" sz="780" dirty="0">
                <a:solidFill>
                  <a:srgbClr val="475569"/>
                </a:solidFill>
                <a:latin typeface="Aptos" pitchFamily="34" charset="0"/>
                <a:ea typeface="Aptos" pitchFamily="34" charset="-122"/>
                <a:cs typeface="Aptos" pitchFamily="34" charset="-120"/>
              </a:rPr>
              <a:t>sum of units</a:t>
            </a:r>
            <a:endParaRPr lang="en-US" sz="780" dirty="0"/>
          </a:p>
        </p:txBody>
      </p:sp>
      <p:sp>
        <p:nvSpPr>
          <p:cNvPr id="16" name="Shape 13"/>
          <p:cNvSpPr/>
          <p:nvPr/>
        </p:nvSpPr>
        <p:spPr>
          <a:xfrm>
            <a:off x="6364224" y="4069080"/>
            <a:ext cx="2331720" cy="566928"/>
          </a:xfrm>
          <a:prstGeom prst="roundRect">
            <a:avLst>
              <a:gd name="adj" fmla="val 29032"/>
            </a:avLst>
          </a:prstGeom>
          <a:solidFill>
            <a:srgbClr val="FFFFFF"/>
          </a:solidFill>
          <a:ln w="10160">
            <a:solidFill>
              <a:srgbClr val="7C3AED">
                <a:alpha val="50000"/>
              </a:srgbClr>
            </a:solidFill>
            <a:prstDash val="solid"/>
          </a:ln>
        </p:spPr>
        <p:txBody>
          <a:bodyPr/>
          <a:lstStyle/>
          <a:p>
            <a:endParaRPr lang="de-DE"/>
          </a:p>
        </p:txBody>
      </p:sp>
      <p:sp>
        <p:nvSpPr>
          <p:cNvPr id="17" name="Text 14"/>
          <p:cNvSpPr/>
          <p:nvPr/>
        </p:nvSpPr>
        <p:spPr>
          <a:xfrm>
            <a:off x="6492240" y="4197096"/>
            <a:ext cx="1005840" cy="164592"/>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07111F"/>
                </a:solidFill>
                <a:latin typeface="Aptos" pitchFamily="34" charset="0"/>
                <a:ea typeface="Aptos" pitchFamily="34" charset="-122"/>
                <a:cs typeface="Aptos" pitchFamily="34" charset="-120"/>
              </a:rPr>
              <a:t>Top products</a:t>
            </a:r>
            <a:endParaRPr lang="en-US" sz="1050" dirty="0"/>
          </a:p>
        </p:txBody>
      </p:sp>
      <p:sp>
        <p:nvSpPr>
          <p:cNvPr id="18" name="Text 15"/>
          <p:cNvSpPr/>
          <p:nvPr/>
        </p:nvSpPr>
        <p:spPr>
          <a:xfrm>
            <a:off x="7507224" y="4215384"/>
            <a:ext cx="1005840" cy="128016"/>
          </a:xfrm>
          <a:prstGeom prst="rect">
            <a:avLst/>
          </a:prstGeom>
          <a:noFill/>
          <a:ln/>
        </p:spPr>
        <p:txBody>
          <a:bodyPr wrap="square" lIns="0" tIns="0" rIns="0" bIns="0" rtlCol="0" anchor="t">
            <a:normAutofit/>
          </a:bodyPr>
          <a:lstStyle/>
          <a:p>
            <a:pPr marL="0" indent="0" algn="r">
              <a:lnSpc>
                <a:spcPct val="98000"/>
              </a:lnSpc>
              <a:buNone/>
            </a:pPr>
            <a:r>
              <a:rPr lang="en-US" sz="780" dirty="0">
                <a:solidFill>
                  <a:srgbClr val="475569"/>
                </a:solidFill>
                <a:latin typeface="Aptos" pitchFamily="34" charset="0"/>
                <a:ea typeface="Aptos" pitchFamily="34" charset="-122"/>
                <a:cs typeface="Aptos" pitchFamily="34" charset="-120"/>
              </a:rPr>
              <a:t>rank by revenue</a:t>
            </a:r>
            <a:endParaRPr lang="en-US" sz="780" dirty="0"/>
          </a:p>
        </p:txBody>
      </p:sp>
      <p:sp>
        <p:nvSpPr>
          <p:cNvPr id="19" name="Shape 16"/>
          <p:cNvSpPr/>
          <p:nvPr/>
        </p:nvSpPr>
        <p:spPr>
          <a:xfrm>
            <a:off x="9153144" y="4069080"/>
            <a:ext cx="2331720" cy="566928"/>
          </a:xfrm>
          <a:prstGeom prst="roundRect">
            <a:avLst>
              <a:gd name="adj" fmla="val 29032"/>
            </a:avLst>
          </a:prstGeom>
          <a:solidFill>
            <a:srgbClr val="FFFFFF"/>
          </a:solidFill>
          <a:ln w="10160">
            <a:solidFill>
              <a:srgbClr val="F59E0B">
                <a:alpha val="50000"/>
              </a:srgbClr>
            </a:solidFill>
            <a:prstDash val="solid"/>
          </a:ln>
        </p:spPr>
        <p:txBody>
          <a:bodyPr/>
          <a:lstStyle/>
          <a:p>
            <a:endParaRPr lang="de-DE"/>
          </a:p>
        </p:txBody>
      </p:sp>
      <p:sp>
        <p:nvSpPr>
          <p:cNvPr id="20" name="Text 17"/>
          <p:cNvSpPr/>
          <p:nvPr/>
        </p:nvSpPr>
        <p:spPr>
          <a:xfrm>
            <a:off x="9281160" y="4197096"/>
            <a:ext cx="1005840" cy="164592"/>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07111F"/>
                </a:solidFill>
                <a:latin typeface="Aptos" pitchFamily="34" charset="0"/>
                <a:ea typeface="Aptos" pitchFamily="34" charset="-122"/>
                <a:cs typeface="Aptos" pitchFamily="34" charset="-120"/>
              </a:rPr>
              <a:t>Bottom products</a:t>
            </a:r>
            <a:endParaRPr lang="en-US" sz="1050" dirty="0"/>
          </a:p>
        </p:txBody>
      </p:sp>
      <p:sp>
        <p:nvSpPr>
          <p:cNvPr id="21" name="Text 18"/>
          <p:cNvSpPr/>
          <p:nvPr/>
        </p:nvSpPr>
        <p:spPr>
          <a:xfrm>
            <a:off x="10296144" y="4215384"/>
            <a:ext cx="1005840" cy="128016"/>
          </a:xfrm>
          <a:prstGeom prst="rect">
            <a:avLst/>
          </a:prstGeom>
          <a:noFill/>
          <a:ln/>
        </p:spPr>
        <p:txBody>
          <a:bodyPr wrap="square" lIns="0" tIns="0" rIns="0" bIns="0" rtlCol="0" anchor="t">
            <a:normAutofit/>
          </a:bodyPr>
          <a:lstStyle/>
          <a:p>
            <a:pPr marL="0" indent="0" algn="r">
              <a:lnSpc>
                <a:spcPct val="98000"/>
              </a:lnSpc>
              <a:buNone/>
            </a:pPr>
            <a:r>
              <a:rPr lang="en-US" sz="780" dirty="0">
                <a:solidFill>
                  <a:srgbClr val="475569"/>
                </a:solidFill>
                <a:latin typeface="Aptos" pitchFamily="34" charset="0"/>
                <a:ea typeface="Aptos" pitchFamily="34" charset="-122"/>
                <a:cs typeface="Aptos" pitchFamily="34" charset="-120"/>
              </a:rPr>
              <a:t>lowest revenue</a:t>
            </a:r>
            <a:endParaRPr lang="en-US" sz="780" dirty="0"/>
          </a:p>
        </p:txBody>
      </p:sp>
      <p:sp>
        <p:nvSpPr>
          <p:cNvPr id="22" name="Shape 19"/>
          <p:cNvSpPr/>
          <p:nvPr/>
        </p:nvSpPr>
        <p:spPr>
          <a:xfrm>
            <a:off x="786384" y="4837176"/>
            <a:ext cx="2331720" cy="566928"/>
          </a:xfrm>
          <a:prstGeom prst="roundRect">
            <a:avLst>
              <a:gd name="adj" fmla="val 29032"/>
            </a:avLst>
          </a:prstGeom>
          <a:solidFill>
            <a:srgbClr val="FFFFFF"/>
          </a:solidFill>
          <a:ln w="10160">
            <a:solidFill>
              <a:srgbClr val="2563EB">
                <a:alpha val="50000"/>
              </a:srgbClr>
            </a:solidFill>
            <a:prstDash val="solid"/>
          </a:ln>
        </p:spPr>
        <p:txBody>
          <a:bodyPr/>
          <a:lstStyle/>
          <a:p>
            <a:endParaRPr lang="de-DE"/>
          </a:p>
        </p:txBody>
      </p:sp>
      <p:sp>
        <p:nvSpPr>
          <p:cNvPr id="23" name="Text 20"/>
          <p:cNvSpPr/>
          <p:nvPr/>
        </p:nvSpPr>
        <p:spPr>
          <a:xfrm>
            <a:off x="914400" y="4965192"/>
            <a:ext cx="1005840" cy="164592"/>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07111F"/>
                </a:solidFill>
                <a:latin typeface="Aptos" pitchFamily="34" charset="0"/>
                <a:ea typeface="Aptos" pitchFamily="34" charset="-122"/>
                <a:cs typeface="Aptos" pitchFamily="34" charset="-120"/>
              </a:rPr>
              <a:t>Category revenue</a:t>
            </a:r>
            <a:endParaRPr lang="en-US" sz="1050" dirty="0"/>
          </a:p>
        </p:txBody>
      </p:sp>
      <p:sp>
        <p:nvSpPr>
          <p:cNvPr id="24" name="Text 21"/>
          <p:cNvSpPr/>
          <p:nvPr/>
        </p:nvSpPr>
        <p:spPr>
          <a:xfrm>
            <a:off x="1929384" y="4983480"/>
            <a:ext cx="1005840" cy="128016"/>
          </a:xfrm>
          <a:prstGeom prst="rect">
            <a:avLst/>
          </a:prstGeom>
          <a:noFill/>
          <a:ln/>
        </p:spPr>
        <p:txBody>
          <a:bodyPr wrap="square" lIns="0" tIns="0" rIns="0" bIns="0" rtlCol="0" anchor="t">
            <a:normAutofit/>
          </a:bodyPr>
          <a:lstStyle/>
          <a:p>
            <a:pPr marL="0" indent="0" algn="r">
              <a:lnSpc>
                <a:spcPct val="98000"/>
              </a:lnSpc>
              <a:buNone/>
            </a:pPr>
            <a:r>
              <a:rPr lang="en-US" sz="780" dirty="0">
                <a:solidFill>
                  <a:srgbClr val="475569"/>
                </a:solidFill>
                <a:latin typeface="Aptos" pitchFamily="34" charset="0"/>
                <a:ea typeface="Aptos" pitchFamily="34" charset="-122"/>
                <a:cs typeface="Aptos" pitchFamily="34" charset="-120"/>
              </a:rPr>
              <a:t>group by category</a:t>
            </a:r>
            <a:endParaRPr lang="en-US" sz="780" dirty="0"/>
          </a:p>
        </p:txBody>
      </p:sp>
      <p:sp>
        <p:nvSpPr>
          <p:cNvPr id="25" name="Shape 22"/>
          <p:cNvSpPr/>
          <p:nvPr/>
        </p:nvSpPr>
        <p:spPr>
          <a:xfrm>
            <a:off x="3575304" y="4837176"/>
            <a:ext cx="2331720" cy="566928"/>
          </a:xfrm>
          <a:prstGeom prst="roundRect">
            <a:avLst>
              <a:gd name="adj" fmla="val 29032"/>
            </a:avLst>
          </a:prstGeom>
          <a:solidFill>
            <a:srgbClr val="FFFFFF"/>
          </a:solidFill>
          <a:ln w="10160">
            <a:solidFill>
              <a:srgbClr val="16A34A">
                <a:alpha val="50000"/>
              </a:srgbClr>
            </a:solidFill>
            <a:prstDash val="solid"/>
          </a:ln>
        </p:spPr>
        <p:txBody>
          <a:bodyPr/>
          <a:lstStyle/>
          <a:p>
            <a:endParaRPr lang="de-DE"/>
          </a:p>
        </p:txBody>
      </p:sp>
      <p:sp>
        <p:nvSpPr>
          <p:cNvPr id="26" name="Text 23"/>
          <p:cNvSpPr/>
          <p:nvPr/>
        </p:nvSpPr>
        <p:spPr>
          <a:xfrm>
            <a:off x="3703320" y="4965192"/>
            <a:ext cx="1005840" cy="164592"/>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07111F"/>
                </a:solidFill>
                <a:latin typeface="Aptos" pitchFamily="34" charset="0"/>
                <a:ea typeface="Aptos" pitchFamily="34" charset="-122"/>
                <a:cs typeface="Aptos" pitchFamily="34" charset="-120"/>
              </a:rPr>
              <a:t>Revenue trend</a:t>
            </a:r>
            <a:endParaRPr lang="en-US" sz="1050" dirty="0"/>
          </a:p>
        </p:txBody>
      </p:sp>
      <p:sp>
        <p:nvSpPr>
          <p:cNvPr id="27" name="Text 24"/>
          <p:cNvSpPr/>
          <p:nvPr/>
        </p:nvSpPr>
        <p:spPr>
          <a:xfrm>
            <a:off x="4718304" y="4983480"/>
            <a:ext cx="1005840" cy="128016"/>
          </a:xfrm>
          <a:prstGeom prst="rect">
            <a:avLst/>
          </a:prstGeom>
          <a:noFill/>
          <a:ln/>
        </p:spPr>
        <p:txBody>
          <a:bodyPr wrap="square" lIns="0" tIns="0" rIns="0" bIns="0" rtlCol="0" anchor="t">
            <a:normAutofit/>
          </a:bodyPr>
          <a:lstStyle/>
          <a:p>
            <a:pPr marL="0" indent="0" algn="r">
              <a:lnSpc>
                <a:spcPct val="98000"/>
              </a:lnSpc>
              <a:buNone/>
            </a:pPr>
            <a:r>
              <a:rPr lang="en-US" sz="780" dirty="0">
                <a:solidFill>
                  <a:srgbClr val="475569"/>
                </a:solidFill>
                <a:latin typeface="Aptos" pitchFamily="34" charset="0"/>
                <a:ea typeface="Aptos" pitchFamily="34" charset="-122"/>
                <a:cs typeface="Aptos" pitchFamily="34" charset="-120"/>
              </a:rPr>
              <a:t>group by period</a:t>
            </a:r>
            <a:endParaRPr lang="en-US" sz="780" dirty="0"/>
          </a:p>
        </p:txBody>
      </p:sp>
      <p:sp>
        <p:nvSpPr>
          <p:cNvPr id="28" name="Shape 25"/>
          <p:cNvSpPr/>
          <p:nvPr/>
        </p:nvSpPr>
        <p:spPr>
          <a:xfrm>
            <a:off x="6364224" y="4837176"/>
            <a:ext cx="2331720" cy="566928"/>
          </a:xfrm>
          <a:prstGeom prst="roundRect">
            <a:avLst>
              <a:gd name="adj" fmla="val 29032"/>
            </a:avLst>
          </a:prstGeom>
          <a:solidFill>
            <a:srgbClr val="FFFFFF"/>
          </a:solidFill>
          <a:ln w="10160">
            <a:solidFill>
              <a:srgbClr val="7C3AED">
                <a:alpha val="50000"/>
              </a:srgbClr>
            </a:solidFill>
            <a:prstDash val="solid"/>
          </a:ln>
        </p:spPr>
        <p:txBody>
          <a:bodyPr/>
          <a:lstStyle/>
          <a:p>
            <a:endParaRPr lang="de-DE"/>
          </a:p>
        </p:txBody>
      </p:sp>
      <p:sp>
        <p:nvSpPr>
          <p:cNvPr id="29" name="Text 26"/>
          <p:cNvSpPr/>
          <p:nvPr/>
        </p:nvSpPr>
        <p:spPr>
          <a:xfrm>
            <a:off x="6492240" y="4965192"/>
            <a:ext cx="1005840" cy="164592"/>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07111F"/>
                </a:solidFill>
                <a:latin typeface="Aptos" pitchFamily="34" charset="0"/>
                <a:ea typeface="Aptos" pitchFamily="34" charset="-122"/>
                <a:cs typeface="Aptos" pitchFamily="34" charset="-120"/>
              </a:rPr>
              <a:t>Anomalies</a:t>
            </a:r>
            <a:endParaRPr lang="en-US" sz="1050" dirty="0"/>
          </a:p>
        </p:txBody>
      </p:sp>
      <p:sp>
        <p:nvSpPr>
          <p:cNvPr id="30" name="Text 27"/>
          <p:cNvSpPr/>
          <p:nvPr/>
        </p:nvSpPr>
        <p:spPr>
          <a:xfrm>
            <a:off x="7507224" y="4983480"/>
            <a:ext cx="1005840" cy="128016"/>
          </a:xfrm>
          <a:prstGeom prst="rect">
            <a:avLst/>
          </a:prstGeom>
          <a:noFill/>
          <a:ln/>
        </p:spPr>
        <p:txBody>
          <a:bodyPr wrap="square" lIns="0" tIns="0" rIns="0" bIns="0" rtlCol="0" anchor="t">
            <a:normAutofit/>
          </a:bodyPr>
          <a:lstStyle/>
          <a:p>
            <a:pPr marL="0" indent="0" algn="r">
              <a:lnSpc>
                <a:spcPct val="98000"/>
              </a:lnSpc>
              <a:buNone/>
            </a:pPr>
            <a:r>
              <a:rPr lang="en-US" sz="780" dirty="0">
                <a:solidFill>
                  <a:srgbClr val="475569"/>
                </a:solidFill>
                <a:latin typeface="Aptos" pitchFamily="34" charset="0"/>
                <a:ea typeface="Aptos" pitchFamily="34" charset="-122"/>
                <a:cs typeface="Aptos" pitchFamily="34" charset="-120"/>
              </a:rPr>
              <a:t>unusual drops</a:t>
            </a:r>
            <a:endParaRPr lang="en-US" sz="780" dirty="0"/>
          </a:p>
        </p:txBody>
      </p:sp>
      <p:sp>
        <p:nvSpPr>
          <p:cNvPr id="31" name="Shape 28"/>
          <p:cNvSpPr/>
          <p:nvPr/>
        </p:nvSpPr>
        <p:spPr>
          <a:xfrm>
            <a:off x="9153144" y="4837176"/>
            <a:ext cx="2331720" cy="566928"/>
          </a:xfrm>
          <a:prstGeom prst="roundRect">
            <a:avLst>
              <a:gd name="adj" fmla="val 29032"/>
            </a:avLst>
          </a:prstGeom>
          <a:solidFill>
            <a:srgbClr val="FFFFFF"/>
          </a:solidFill>
          <a:ln w="10160">
            <a:solidFill>
              <a:srgbClr val="F59E0B">
                <a:alpha val="50000"/>
              </a:srgbClr>
            </a:solidFill>
            <a:prstDash val="solid"/>
          </a:ln>
        </p:spPr>
        <p:txBody>
          <a:bodyPr/>
          <a:lstStyle/>
          <a:p>
            <a:endParaRPr lang="de-DE"/>
          </a:p>
        </p:txBody>
      </p:sp>
      <p:sp>
        <p:nvSpPr>
          <p:cNvPr id="32" name="Text 29"/>
          <p:cNvSpPr/>
          <p:nvPr/>
        </p:nvSpPr>
        <p:spPr>
          <a:xfrm>
            <a:off x="9281160" y="4965192"/>
            <a:ext cx="1005840" cy="164592"/>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07111F"/>
                </a:solidFill>
                <a:latin typeface="Aptos" pitchFamily="34" charset="0"/>
                <a:ea typeface="Aptos" pitchFamily="34" charset="-122"/>
                <a:cs typeface="Aptos" pitchFamily="34" charset="-120"/>
              </a:rPr>
              <a:t>Pareto</a:t>
            </a:r>
            <a:endParaRPr lang="en-US" sz="1050" dirty="0"/>
          </a:p>
        </p:txBody>
      </p:sp>
      <p:sp>
        <p:nvSpPr>
          <p:cNvPr id="33" name="Text 30"/>
          <p:cNvSpPr/>
          <p:nvPr/>
        </p:nvSpPr>
        <p:spPr>
          <a:xfrm>
            <a:off x="10296144" y="4983480"/>
            <a:ext cx="1005840" cy="128016"/>
          </a:xfrm>
          <a:prstGeom prst="rect">
            <a:avLst/>
          </a:prstGeom>
          <a:noFill/>
          <a:ln/>
        </p:spPr>
        <p:txBody>
          <a:bodyPr wrap="square" lIns="0" tIns="0" rIns="0" bIns="0" rtlCol="0" anchor="t">
            <a:normAutofit/>
          </a:bodyPr>
          <a:lstStyle/>
          <a:p>
            <a:pPr marL="0" indent="0" algn="r">
              <a:lnSpc>
                <a:spcPct val="98000"/>
              </a:lnSpc>
              <a:buNone/>
            </a:pPr>
            <a:r>
              <a:rPr lang="en-US" sz="780" dirty="0">
                <a:solidFill>
                  <a:srgbClr val="475569"/>
                </a:solidFill>
                <a:latin typeface="Aptos" pitchFamily="34" charset="0"/>
                <a:ea typeface="Aptos" pitchFamily="34" charset="-122"/>
                <a:cs typeface="Aptos" pitchFamily="34" charset="-120"/>
              </a:rPr>
              <a:t>revenue concentration</a:t>
            </a:r>
            <a:endParaRPr lang="en-US" sz="780" dirty="0"/>
          </a:p>
        </p:txBody>
      </p:sp>
      <p:sp>
        <p:nvSpPr>
          <p:cNvPr id="34" name="Shape 31"/>
          <p:cNvSpPr/>
          <p:nvPr/>
        </p:nvSpPr>
        <p:spPr>
          <a:xfrm>
            <a:off x="7360920" y="1143000"/>
            <a:ext cx="3749040" cy="2121408"/>
          </a:xfrm>
          <a:prstGeom prst="roundRect">
            <a:avLst>
              <a:gd name="adj" fmla="val 7759"/>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35" name="Text 32"/>
          <p:cNvSpPr/>
          <p:nvPr/>
        </p:nvSpPr>
        <p:spPr>
          <a:xfrm>
            <a:off x="7662672" y="1481328"/>
            <a:ext cx="2103120" cy="219456"/>
          </a:xfrm>
          <a:prstGeom prst="rect">
            <a:avLst/>
          </a:prstGeom>
          <a:noFill/>
          <a:ln/>
        </p:spPr>
        <p:txBody>
          <a:bodyPr wrap="square" lIns="0" tIns="0" rIns="0" bIns="0" rtlCol="0" anchor="t">
            <a:normAutofit/>
          </a:bodyPr>
          <a:lstStyle/>
          <a:p>
            <a:pPr marL="0" indent="0" algn="l">
              <a:lnSpc>
                <a:spcPct val="98000"/>
              </a:lnSpc>
              <a:buNone/>
            </a:pPr>
            <a:r>
              <a:rPr lang="en-US" sz="1700" b="1" dirty="0">
                <a:solidFill>
                  <a:srgbClr val="07111F"/>
                </a:solidFill>
                <a:latin typeface="Aptos" pitchFamily="34" charset="0"/>
                <a:ea typeface="Aptos" pitchFamily="34" charset="-122"/>
                <a:cs typeface="Aptos" pitchFamily="34" charset="-120"/>
              </a:rPr>
              <a:t>Reliability rule</a:t>
            </a:r>
            <a:endParaRPr lang="en-US" sz="1700" dirty="0"/>
          </a:p>
        </p:txBody>
      </p:sp>
      <p:sp>
        <p:nvSpPr>
          <p:cNvPr id="36" name="Text 33"/>
          <p:cNvSpPr/>
          <p:nvPr/>
        </p:nvSpPr>
        <p:spPr>
          <a:xfrm>
            <a:off x="7662672" y="1874520"/>
            <a:ext cx="2880360" cy="658368"/>
          </a:xfrm>
          <a:prstGeom prst="rect">
            <a:avLst/>
          </a:prstGeom>
          <a:noFill/>
          <a:ln/>
        </p:spPr>
        <p:txBody>
          <a:bodyPr wrap="square" lIns="0" tIns="0" rIns="0" bIns="0" rtlCol="0" anchor="t">
            <a:normAutofit/>
          </a:bodyPr>
          <a:lstStyle/>
          <a:p>
            <a:pPr marL="0" indent="0" algn="l">
              <a:lnSpc>
                <a:spcPct val="98000"/>
              </a:lnSpc>
              <a:buNone/>
            </a:pPr>
            <a:r>
              <a:rPr lang="en-US" sz="1300" dirty="0">
                <a:solidFill>
                  <a:srgbClr val="475569"/>
                </a:solidFill>
                <a:latin typeface="Aptos" pitchFamily="34" charset="0"/>
                <a:ea typeface="Aptos" pitchFamily="34" charset="-122"/>
                <a:cs typeface="Aptos" pitchFamily="34" charset="-120"/>
              </a:rPr>
              <a:t>The explanation layer receives computed facts only. If data is missing, the app shows a clear message instead of simulating an answer.</a:t>
            </a:r>
            <a:endParaRPr lang="en-US" sz="1300" dirty="0"/>
          </a:p>
        </p:txBody>
      </p:sp>
      <p:sp>
        <p:nvSpPr>
          <p:cNvPr id="37" name="Shape 34"/>
          <p:cNvSpPr/>
          <p:nvPr/>
        </p:nvSpPr>
        <p:spPr>
          <a:xfrm>
            <a:off x="7729728" y="2756916"/>
            <a:ext cx="1463040" cy="347472"/>
          </a:xfrm>
          <a:prstGeom prst="roundRect">
            <a:avLst>
              <a:gd name="adj" fmla="val 47368"/>
            </a:avLst>
          </a:prstGeom>
          <a:solidFill>
            <a:srgbClr val="16A34A">
              <a:alpha val="92000"/>
            </a:srgbClr>
          </a:solidFill>
          <a:ln w="12700">
            <a:solidFill>
              <a:srgbClr val="16A34A">
                <a:alpha val="0"/>
              </a:srgbClr>
            </a:solidFill>
            <a:prstDash val="solid"/>
          </a:ln>
        </p:spPr>
        <p:txBody>
          <a:bodyPr/>
          <a:lstStyle/>
          <a:p>
            <a:endParaRPr lang="de-DE"/>
          </a:p>
        </p:txBody>
      </p:sp>
      <p:sp>
        <p:nvSpPr>
          <p:cNvPr id="38" name="Text 35"/>
          <p:cNvSpPr/>
          <p:nvPr/>
        </p:nvSpPr>
        <p:spPr>
          <a:xfrm>
            <a:off x="7808976" y="2857500"/>
            <a:ext cx="117043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rgbClr val="16A34A"/>
                </a:solidFill>
                <a:latin typeface="Aptos" pitchFamily="34" charset="0"/>
                <a:ea typeface="Aptos" pitchFamily="34" charset="-122"/>
                <a:cs typeface="Aptos" pitchFamily="34" charset="-120"/>
              </a:rPr>
              <a:t>DETERMINISTIC</a:t>
            </a:r>
            <a:endParaRPr lang="en-US" sz="8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16A34A">
              <a:alpha val="96000"/>
            </a:srgbClr>
          </a:solidFill>
          <a:ln w="12700">
            <a:solidFill>
              <a:srgbClr val="16A34A">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rgbClr val="FFFFFF"/>
                </a:solidFill>
                <a:latin typeface="Aptos" pitchFamily="34" charset="0"/>
                <a:ea typeface="Aptos" pitchFamily="34" charset="-122"/>
                <a:cs typeface="Aptos" pitchFamily="34" charset="-120"/>
              </a:rPr>
              <a:t>EXPLANATION LAYER</a:t>
            </a:r>
            <a:endParaRPr lang="en-US" sz="850" dirty="0"/>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FFFFFF"/>
                </a:solidFill>
                <a:latin typeface="Aptos Display" pitchFamily="34" charset="0"/>
                <a:ea typeface="Aptos Display" pitchFamily="34" charset="-122"/>
                <a:cs typeface="Aptos Display" pitchFamily="34" charset="-120"/>
              </a:rPr>
              <a:t>Turns computed metrics</a:t>
            </a:r>
            <a:endParaRPr lang="en-US" sz="4000" dirty="0"/>
          </a:p>
          <a:p>
            <a:pPr marL="0" indent="0" algn="l">
              <a:lnSpc>
                <a:spcPct val="86000"/>
              </a:lnSpc>
              <a:buNone/>
            </a:pPr>
            <a:r>
              <a:rPr lang="en-US" sz="4000" b="1" dirty="0">
                <a:solidFill>
                  <a:srgbClr val="FFFFFF"/>
                </a:solidFill>
                <a:latin typeface="Aptos Display" pitchFamily="34" charset="0"/>
                <a:ea typeface="Aptos Display" pitchFamily="34" charset="-122"/>
                <a:cs typeface="Aptos Display" pitchFamily="34" charset="-120"/>
              </a:rPr>
              <a:t>into simple language.</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9FB2CB"/>
                </a:solidFill>
                <a:latin typeface="Aptos" pitchFamily="34" charset="0"/>
                <a:ea typeface="Aptos" pitchFamily="34" charset="-122"/>
                <a:cs typeface="Aptos" pitchFamily="34" charset="-120"/>
              </a:rPr>
              <a:t>In the current prototype, this layer runs in the browser. Later it could be connected to an AI API, but the rule stays the same.</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9FB2CB"/>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9FB2CB"/>
                </a:solidFill>
                <a:latin typeface="Aptos" pitchFamily="34" charset="0"/>
                <a:ea typeface="Aptos" pitchFamily="34" charset="-122"/>
                <a:cs typeface="Aptos" pitchFamily="34" charset="-120"/>
              </a:rPr>
              <a:t>09</a:t>
            </a:r>
            <a:endParaRPr lang="en-US" sz="950" dirty="0"/>
          </a:p>
        </p:txBody>
      </p:sp>
      <p:sp>
        <p:nvSpPr>
          <p:cNvPr id="9" name="Shape 6"/>
          <p:cNvSpPr/>
          <p:nvPr/>
        </p:nvSpPr>
        <p:spPr>
          <a:xfrm>
            <a:off x="566928" y="6382512"/>
            <a:ext cx="11064240" cy="0"/>
          </a:xfrm>
          <a:prstGeom prst="line">
            <a:avLst/>
          </a:prstGeom>
          <a:noFill/>
          <a:ln w="8890">
            <a:solidFill>
              <a:srgbClr val="31465E">
                <a:alpha val="76000"/>
              </a:srgbClr>
            </a:solidFill>
            <a:prstDash val="solid"/>
          </a:ln>
        </p:spPr>
        <p:txBody>
          <a:bodyPr/>
          <a:lstStyle/>
          <a:p>
            <a:endParaRPr lang="de-DE"/>
          </a:p>
        </p:txBody>
      </p:sp>
      <p:sp>
        <p:nvSpPr>
          <p:cNvPr id="10" name="Shape 7"/>
          <p:cNvSpPr/>
          <p:nvPr/>
        </p:nvSpPr>
        <p:spPr>
          <a:xfrm>
            <a:off x="6766560" y="1005840"/>
            <a:ext cx="4480560" cy="4434840"/>
          </a:xfrm>
          <a:prstGeom prst="roundRect">
            <a:avLst>
              <a:gd name="adj" fmla="val 3711"/>
            </a:avLst>
          </a:prstGeom>
          <a:solidFill>
            <a:srgbClr val="0B1B2E"/>
          </a:solidFill>
          <a:ln w="10160">
            <a:solidFill>
              <a:srgbClr val="2B5166"/>
            </a:solidFill>
            <a:prstDash val="solid"/>
          </a:ln>
          <a:effectLst>
            <a:outerShdw blurRad="22860" dist="50800" dir="2700000" algn="bl" rotWithShape="0">
              <a:srgbClr val="000000">
                <a:alpha val="12000"/>
              </a:srgbClr>
            </a:outerShdw>
          </a:effectLst>
        </p:spPr>
        <p:txBody>
          <a:bodyPr/>
          <a:lstStyle/>
          <a:p>
            <a:endParaRPr lang="de-DE"/>
          </a:p>
        </p:txBody>
      </p:sp>
      <p:sp>
        <p:nvSpPr>
          <p:cNvPr id="11" name="Shape 8"/>
          <p:cNvSpPr/>
          <p:nvPr/>
        </p:nvSpPr>
        <p:spPr>
          <a:xfrm>
            <a:off x="7150608" y="1508760"/>
            <a:ext cx="3712464" cy="566928"/>
          </a:xfrm>
          <a:prstGeom prst="roundRect">
            <a:avLst>
              <a:gd name="adj" fmla="val 29032"/>
            </a:avLst>
          </a:prstGeom>
          <a:solidFill>
            <a:srgbClr val="10233A"/>
          </a:solidFill>
          <a:ln w="10160">
            <a:solidFill>
              <a:srgbClr val="2563EB">
                <a:alpha val="70000"/>
              </a:srgbClr>
            </a:solidFill>
            <a:prstDash val="solid"/>
          </a:ln>
        </p:spPr>
        <p:txBody>
          <a:bodyPr/>
          <a:lstStyle/>
          <a:p>
            <a:endParaRPr lang="de-DE"/>
          </a:p>
        </p:txBody>
      </p:sp>
      <p:sp>
        <p:nvSpPr>
          <p:cNvPr id="12" name="Text 9"/>
          <p:cNvSpPr/>
          <p:nvPr/>
        </p:nvSpPr>
        <p:spPr>
          <a:xfrm>
            <a:off x="7333488" y="1655064"/>
            <a:ext cx="1005840" cy="146304"/>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2563EB"/>
                </a:solidFill>
                <a:latin typeface="Aptos" pitchFamily="34" charset="0"/>
                <a:ea typeface="Aptos" pitchFamily="34" charset="-122"/>
                <a:cs typeface="Aptos" pitchFamily="34" charset="-120"/>
              </a:rPr>
              <a:t>Input</a:t>
            </a:r>
            <a:endParaRPr lang="en-US" sz="1050" dirty="0"/>
          </a:p>
        </p:txBody>
      </p:sp>
      <p:sp>
        <p:nvSpPr>
          <p:cNvPr id="13" name="Text 10"/>
          <p:cNvSpPr/>
          <p:nvPr/>
        </p:nvSpPr>
        <p:spPr>
          <a:xfrm>
            <a:off x="8394192" y="1655064"/>
            <a:ext cx="1828800" cy="146304"/>
          </a:xfrm>
          <a:prstGeom prst="rect">
            <a:avLst/>
          </a:prstGeom>
          <a:noFill/>
          <a:ln/>
        </p:spPr>
        <p:txBody>
          <a:bodyPr wrap="square" lIns="0" tIns="0" rIns="0" bIns="0" rtlCol="0" anchor="t">
            <a:normAutofit/>
          </a:bodyPr>
          <a:lstStyle/>
          <a:p>
            <a:pPr marL="0" indent="0" algn="r">
              <a:lnSpc>
                <a:spcPct val="98000"/>
              </a:lnSpc>
              <a:buNone/>
            </a:pPr>
            <a:r>
              <a:rPr lang="en-US" sz="1050" dirty="0">
                <a:solidFill>
                  <a:srgbClr val="FFFFFF"/>
                </a:solidFill>
                <a:latin typeface="Aptos" pitchFamily="34" charset="0"/>
                <a:ea typeface="Aptos" pitchFamily="34" charset="-122"/>
                <a:cs typeface="Aptos" pitchFamily="34" charset="-120"/>
              </a:rPr>
              <a:t>Calculated metrics</a:t>
            </a:r>
            <a:endParaRPr lang="en-US" sz="1050" dirty="0"/>
          </a:p>
        </p:txBody>
      </p:sp>
      <p:sp>
        <p:nvSpPr>
          <p:cNvPr id="14" name="Shape 11"/>
          <p:cNvSpPr/>
          <p:nvPr/>
        </p:nvSpPr>
        <p:spPr>
          <a:xfrm>
            <a:off x="7150608" y="2359152"/>
            <a:ext cx="3712464" cy="566928"/>
          </a:xfrm>
          <a:prstGeom prst="roundRect">
            <a:avLst>
              <a:gd name="adj" fmla="val 29032"/>
            </a:avLst>
          </a:prstGeom>
          <a:solidFill>
            <a:srgbClr val="10233A"/>
          </a:solidFill>
          <a:ln w="10160">
            <a:solidFill>
              <a:srgbClr val="16A34A">
                <a:alpha val="70000"/>
              </a:srgbClr>
            </a:solidFill>
            <a:prstDash val="solid"/>
          </a:ln>
        </p:spPr>
        <p:txBody>
          <a:bodyPr/>
          <a:lstStyle/>
          <a:p>
            <a:endParaRPr lang="de-DE"/>
          </a:p>
        </p:txBody>
      </p:sp>
      <p:sp>
        <p:nvSpPr>
          <p:cNvPr id="15" name="Text 12"/>
          <p:cNvSpPr/>
          <p:nvPr/>
        </p:nvSpPr>
        <p:spPr>
          <a:xfrm>
            <a:off x="7333488" y="2505456"/>
            <a:ext cx="1005840" cy="146304"/>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16A34A"/>
                </a:solidFill>
                <a:latin typeface="Aptos" pitchFamily="34" charset="0"/>
                <a:ea typeface="Aptos" pitchFamily="34" charset="-122"/>
                <a:cs typeface="Aptos" pitchFamily="34" charset="-120"/>
              </a:rPr>
              <a:t>Guardrail</a:t>
            </a:r>
            <a:endParaRPr lang="en-US" sz="1050" dirty="0"/>
          </a:p>
        </p:txBody>
      </p:sp>
      <p:sp>
        <p:nvSpPr>
          <p:cNvPr id="16" name="Text 13"/>
          <p:cNvSpPr/>
          <p:nvPr/>
        </p:nvSpPr>
        <p:spPr>
          <a:xfrm>
            <a:off x="8394192" y="2505456"/>
            <a:ext cx="1828800" cy="146304"/>
          </a:xfrm>
          <a:prstGeom prst="rect">
            <a:avLst/>
          </a:prstGeom>
          <a:noFill/>
          <a:ln/>
        </p:spPr>
        <p:txBody>
          <a:bodyPr wrap="square" lIns="0" tIns="0" rIns="0" bIns="0" rtlCol="0" anchor="t">
            <a:normAutofit/>
          </a:bodyPr>
          <a:lstStyle/>
          <a:p>
            <a:pPr marL="0" indent="0" algn="r">
              <a:lnSpc>
                <a:spcPct val="98000"/>
              </a:lnSpc>
              <a:buNone/>
            </a:pPr>
            <a:r>
              <a:rPr lang="en-US" sz="1050" dirty="0">
                <a:solidFill>
                  <a:srgbClr val="FFFFFF"/>
                </a:solidFill>
                <a:latin typeface="Aptos" pitchFamily="34" charset="0"/>
                <a:ea typeface="Aptos" pitchFamily="34" charset="-122"/>
                <a:cs typeface="Aptos" pitchFamily="34" charset="-120"/>
              </a:rPr>
              <a:t>Number claim verification</a:t>
            </a:r>
            <a:endParaRPr lang="en-US" sz="1050" dirty="0"/>
          </a:p>
        </p:txBody>
      </p:sp>
      <p:sp>
        <p:nvSpPr>
          <p:cNvPr id="17" name="Shape 14"/>
          <p:cNvSpPr/>
          <p:nvPr/>
        </p:nvSpPr>
        <p:spPr>
          <a:xfrm>
            <a:off x="7150608" y="3209544"/>
            <a:ext cx="3712464" cy="566928"/>
          </a:xfrm>
          <a:prstGeom prst="roundRect">
            <a:avLst>
              <a:gd name="adj" fmla="val 29032"/>
            </a:avLst>
          </a:prstGeom>
          <a:solidFill>
            <a:srgbClr val="10233A"/>
          </a:solidFill>
          <a:ln w="10160">
            <a:solidFill>
              <a:srgbClr val="F59E0B">
                <a:alpha val="70000"/>
              </a:srgbClr>
            </a:solidFill>
            <a:prstDash val="solid"/>
          </a:ln>
        </p:spPr>
        <p:txBody>
          <a:bodyPr/>
          <a:lstStyle/>
          <a:p>
            <a:endParaRPr lang="de-DE"/>
          </a:p>
        </p:txBody>
      </p:sp>
      <p:sp>
        <p:nvSpPr>
          <p:cNvPr id="18" name="Text 15"/>
          <p:cNvSpPr/>
          <p:nvPr/>
        </p:nvSpPr>
        <p:spPr>
          <a:xfrm>
            <a:off x="7333488" y="3355848"/>
            <a:ext cx="1005840" cy="146304"/>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F59E0B"/>
                </a:solidFill>
                <a:latin typeface="Aptos" pitchFamily="34" charset="0"/>
                <a:ea typeface="Aptos" pitchFamily="34" charset="-122"/>
                <a:cs typeface="Aptos" pitchFamily="34" charset="-120"/>
              </a:rPr>
              <a:t>Output</a:t>
            </a:r>
            <a:endParaRPr lang="en-US" sz="1050" dirty="0"/>
          </a:p>
        </p:txBody>
      </p:sp>
      <p:sp>
        <p:nvSpPr>
          <p:cNvPr id="19" name="Text 16"/>
          <p:cNvSpPr/>
          <p:nvPr/>
        </p:nvSpPr>
        <p:spPr>
          <a:xfrm>
            <a:off x="8394192" y="3355848"/>
            <a:ext cx="1828800" cy="146304"/>
          </a:xfrm>
          <a:prstGeom prst="rect">
            <a:avLst/>
          </a:prstGeom>
          <a:noFill/>
          <a:ln/>
        </p:spPr>
        <p:txBody>
          <a:bodyPr wrap="square" lIns="0" tIns="0" rIns="0" bIns="0" rtlCol="0" anchor="t">
            <a:normAutofit/>
          </a:bodyPr>
          <a:lstStyle/>
          <a:p>
            <a:pPr marL="0" indent="0" algn="r">
              <a:lnSpc>
                <a:spcPct val="98000"/>
              </a:lnSpc>
              <a:buNone/>
            </a:pPr>
            <a:r>
              <a:rPr lang="en-US" sz="1050" dirty="0">
                <a:solidFill>
                  <a:srgbClr val="FFFFFF"/>
                </a:solidFill>
                <a:latin typeface="Aptos" pitchFamily="34" charset="0"/>
                <a:ea typeface="Aptos" pitchFamily="34" charset="-122"/>
                <a:cs typeface="Aptos" pitchFamily="34" charset="-120"/>
              </a:rPr>
              <a:t>Direct answer + caveat</a:t>
            </a:r>
            <a:endParaRPr lang="en-US" sz="1050" dirty="0"/>
          </a:p>
        </p:txBody>
      </p:sp>
      <p:sp>
        <p:nvSpPr>
          <p:cNvPr id="20" name="Shape 17"/>
          <p:cNvSpPr/>
          <p:nvPr/>
        </p:nvSpPr>
        <p:spPr>
          <a:xfrm>
            <a:off x="7150608" y="4059936"/>
            <a:ext cx="3712464" cy="566928"/>
          </a:xfrm>
          <a:prstGeom prst="roundRect">
            <a:avLst>
              <a:gd name="adj" fmla="val 29032"/>
            </a:avLst>
          </a:prstGeom>
          <a:solidFill>
            <a:srgbClr val="10233A"/>
          </a:solidFill>
          <a:ln w="10160">
            <a:solidFill>
              <a:srgbClr val="7C3AED">
                <a:alpha val="70000"/>
              </a:srgbClr>
            </a:solidFill>
            <a:prstDash val="solid"/>
          </a:ln>
        </p:spPr>
        <p:txBody>
          <a:bodyPr/>
          <a:lstStyle/>
          <a:p>
            <a:endParaRPr lang="de-DE"/>
          </a:p>
        </p:txBody>
      </p:sp>
      <p:sp>
        <p:nvSpPr>
          <p:cNvPr id="21" name="Text 18"/>
          <p:cNvSpPr/>
          <p:nvPr/>
        </p:nvSpPr>
        <p:spPr>
          <a:xfrm>
            <a:off x="7333488" y="4206240"/>
            <a:ext cx="1005840" cy="146304"/>
          </a:xfrm>
          <a:prstGeom prst="rect">
            <a:avLst/>
          </a:prstGeom>
          <a:noFill/>
          <a:ln/>
        </p:spPr>
        <p:txBody>
          <a:bodyPr wrap="square" lIns="0" tIns="0" rIns="0" bIns="0" rtlCol="0" anchor="t">
            <a:normAutofit/>
          </a:bodyPr>
          <a:lstStyle/>
          <a:p>
            <a:pPr marL="0" indent="0" algn="l">
              <a:lnSpc>
                <a:spcPct val="98000"/>
              </a:lnSpc>
              <a:buNone/>
            </a:pPr>
            <a:r>
              <a:rPr lang="en-US" sz="1050" b="1" dirty="0">
                <a:solidFill>
                  <a:srgbClr val="7C3AED"/>
                </a:solidFill>
                <a:latin typeface="Aptos" pitchFamily="34" charset="0"/>
                <a:ea typeface="Aptos" pitchFamily="34" charset="-122"/>
                <a:cs typeface="Aptos" pitchFamily="34" charset="-120"/>
              </a:rPr>
              <a:t>Future option</a:t>
            </a:r>
            <a:endParaRPr lang="en-US" sz="1050" dirty="0"/>
          </a:p>
        </p:txBody>
      </p:sp>
      <p:sp>
        <p:nvSpPr>
          <p:cNvPr id="22" name="Text 19"/>
          <p:cNvSpPr/>
          <p:nvPr/>
        </p:nvSpPr>
        <p:spPr>
          <a:xfrm>
            <a:off x="8394192" y="4206240"/>
            <a:ext cx="1828800" cy="146304"/>
          </a:xfrm>
          <a:prstGeom prst="rect">
            <a:avLst/>
          </a:prstGeom>
          <a:noFill/>
          <a:ln/>
        </p:spPr>
        <p:txBody>
          <a:bodyPr wrap="square" lIns="0" tIns="0" rIns="0" bIns="0" rtlCol="0" anchor="t">
            <a:normAutofit/>
          </a:bodyPr>
          <a:lstStyle/>
          <a:p>
            <a:pPr marL="0" indent="0" algn="r">
              <a:lnSpc>
                <a:spcPct val="98000"/>
              </a:lnSpc>
              <a:buNone/>
            </a:pPr>
            <a:r>
              <a:rPr lang="en-US" sz="1050" dirty="0">
                <a:solidFill>
                  <a:srgbClr val="FFFFFF"/>
                </a:solidFill>
                <a:latin typeface="Aptos" pitchFamily="34" charset="0"/>
                <a:ea typeface="Aptos" pitchFamily="34" charset="-122"/>
                <a:cs typeface="Aptos" pitchFamily="34" charset="-120"/>
              </a:rPr>
              <a:t>AI API for wording</a:t>
            </a:r>
            <a:endParaRPr lang="en-US" sz="1050" dirty="0"/>
          </a:p>
        </p:txBody>
      </p:sp>
      <p:sp>
        <p:nvSpPr>
          <p:cNvPr id="23" name="Text 20"/>
          <p:cNvSpPr/>
          <p:nvPr/>
        </p:nvSpPr>
        <p:spPr>
          <a:xfrm>
            <a:off x="7242048" y="4983480"/>
            <a:ext cx="3474720" cy="164592"/>
          </a:xfrm>
          <a:prstGeom prst="rect">
            <a:avLst/>
          </a:prstGeom>
          <a:noFill/>
          <a:ln/>
        </p:spPr>
        <p:txBody>
          <a:bodyPr wrap="square" lIns="0" tIns="0" rIns="0" bIns="0" rtlCol="0" anchor="t">
            <a:normAutofit/>
          </a:bodyPr>
          <a:lstStyle/>
          <a:p>
            <a:pPr marL="0" indent="0" algn="ctr">
              <a:lnSpc>
                <a:spcPct val="98000"/>
              </a:lnSpc>
              <a:buNone/>
            </a:pPr>
            <a:r>
              <a:rPr lang="en-US" sz="1000" b="1" dirty="0">
                <a:solidFill>
                  <a:srgbClr val="9FB2CB"/>
                </a:solidFill>
                <a:latin typeface="Aptos" pitchFamily="34" charset="0"/>
                <a:ea typeface="Aptos" pitchFamily="34" charset="-122"/>
                <a:cs typeface="Aptos" pitchFamily="34" charset="-120"/>
              </a:rPr>
              <a:t>Current status: not a real AI backend yet.</a:t>
            </a:r>
            <a:endParaRPr lang="en-US" sz="10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16A34A">
              <a:alpha val="92000"/>
            </a:srgbClr>
          </a:solidFill>
          <a:ln w="12700">
            <a:solidFill>
              <a:srgbClr val="16A34A">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chemeClr val="bg1"/>
                </a:solidFill>
                <a:latin typeface="Aptos" pitchFamily="34" charset="0"/>
                <a:ea typeface="Aptos" pitchFamily="34" charset="-122"/>
                <a:cs typeface="Aptos" pitchFamily="34" charset="-120"/>
              </a:rPr>
              <a:t>INTERIM STATUS</a:t>
            </a:r>
            <a:endParaRPr lang="en-US" sz="850" dirty="0">
              <a:solidFill>
                <a:schemeClr val="bg1"/>
              </a:solidFill>
            </a:endParaRPr>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Core workflow is working.</a:t>
            </a:r>
            <a:endParaRPr lang="en-US" sz="4000" dirty="0"/>
          </a:p>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Robustness is the focus now.</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475569"/>
                </a:solidFill>
                <a:latin typeface="Aptos" pitchFamily="34" charset="0"/>
                <a:ea typeface="Aptos" pitchFamily="34" charset="-122"/>
                <a:cs typeface="Aptos" pitchFamily="34" charset="-120"/>
              </a:rPr>
              <a:t>The current prototype demonstrates technical feasibility. The next step is testing and polishing with realistic datasets.</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475569"/>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475569"/>
                </a:solidFill>
                <a:latin typeface="Aptos" pitchFamily="34" charset="0"/>
                <a:ea typeface="Aptos" pitchFamily="34" charset="-122"/>
                <a:cs typeface="Aptos" pitchFamily="34" charset="-120"/>
              </a:rPr>
              <a:t>10</a:t>
            </a:r>
            <a:endParaRPr lang="en-US" sz="950" dirty="0"/>
          </a:p>
        </p:txBody>
      </p:sp>
      <p:sp>
        <p:nvSpPr>
          <p:cNvPr id="9" name="Shape 6"/>
          <p:cNvSpPr/>
          <p:nvPr/>
        </p:nvSpPr>
        <p:spPr>
          <a:xfrm>
            <a:off x="566928" y="6382512"/>
            <a:ext cx="11064240" cy="0"/>
          </a:xfrm>
          <a:prstGeom prst="line">
            <a:avLst/>
          </a:prstGeom>
          <a:noFill/>
          <a:ln w="8890">
            <a:solidFill>
              <a:srgbClr val="CBD5E1">
                <a:alpha val="76000"/>
              </a:srgbClr>
            </a:solidFill>
            <a:prstDash val="solid"/>
          </a:ln>
        </p:spPr>
        <p:txBody>
          <a:bodyPr/>
          <a:lstStyle/>
          <a:p>
            <a:endParaRPr lang="de-DE"/>
          </a:p>
        </p:txBody>
      </p:sp>
      <p:sp>
        <p:nvSpPr>
          <p:cNvPr id="10" name="Shape 7"/>
          <p:cNvSpPr/>
          <p:nvPr/>
        </p:nvSpPr>
        <p:spPr>
          <a:xfrm>
            <a:off x="6537960" y="868680"/>
            <a:ext cx="2240280" cy="4800600"/>
          </a:xfrm>
          <a:prstGeom prst="roundRect">
            <a:avLst>
              <a:gd name="adj" fmla="val 7347"/>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11" name="Text 8"/>
          <p:cNvSpPr/>
          <p:nvPr/>
        </p:nvSpPr>
        <p:spPr>
          <a:xfrm>
            <a:off x="6812280" y="1161288"/>
            <a:ext cx="1371600" cy="228600"/>
          </a:xfrm>
          <a:prstGeom prst="rect">
            <a:avLst/>
          </a:prstGeom>
          <a:noFill/>
          <a:ln/>
        </p:spPr>
        <p:txBody>
          <a:bodyPr wrap="square" lIns="0" tIns="0" rIns="0" bIns="0" rtlCol="0" anchor="t">
            <a:normAutofit/>
          </a:bodyPr>
          <a:lstStyle/>
          <a:p>
            <a:pPr marL="0" indent="0" algn="l">
              <a:lnSpc>
                <a:spcPct val="98000"/>
              </a:lnSpc>
              <a:buNone/>
            </a:pPr>
            <a:r>
              <a:rPr lang="en-US" sz="1700" b="1" dirty="0">
                <a:solidFill>
                  <a:srgbClr val="16A34A"/>
                </a:solidFill>
                <a:latin typeface="Aptos" pitchFamily="34" charset="0"/>
                <a:ea typeface="Aptos" pitchFamily="34" charset="-122"/>
                <a:cs typeface="Aptos" pitchFamily="34" charset="-120"/>
              </a:rPr>
              <a:t>Implemented</a:t>
            </a:r>
            <a:endParaRPr lang="en-US" sz="1700" dirty="0"/>
          </a:p>
        </p:txBody>
      </p:sp>
      <p:sp>
        <p:nvSpPr>
          <p:cNvPr id="12" name="Text 9"/>
          <p:cNvSpPr/>
          <p:nvPr/>
        </p:nvSpPr>
        <p:spPr>
          <a:xfrm>
            <a:off x="6812280" y="1572768"/>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16A34A"/>
                </a:solidFill>
                <a:latin typeface="Aptos" pitchFamily="34" charset="0"/>
                <a:ea typeface="Aptos" pitchFamily="34" charset="-122"/>
                <a:cs typeface="Aptos" pitchFamily="34" charset="-120"/>
              </a:rPr>
              <a:t>✓</a:t>
            </a:r>
            <a:endParaRPr lang="en-US" sz="1100" dirty="0"/>
          </a:p>
        </p:txBody>
      </p:sp>
      <p:sp>
        <p:nvSpPr>
          <p:cNvPr id="13" name="Text 10"/>
          <p:cNvSpPr/>
          <p:nvPr/>
        </p:nvSpPr>
        <p:spPr>
          <a:xfrm>
            <a:off x="7040880" y="1572768"/>
            <a:ext cx="137160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CSV upload</a:t>
            </a:r>
            <a:endParaRPr lang="en-US" sz="980" dirty="0"/>
          </a:p>
        </p:txBody>
      </p:sp>
      <p:sp>
        <p:nvSpPr>
          <p:cNvPr id="14" name="Text 11"/>
          <p:cNvSpPr/>
          <p:nvPr/>
        </p:nvSpPr>
        <p:spPr>
          <a:xfrm>
            <a:off x="6812280" y="1920240"/>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16A34A"/>
                </a:solidFill>
                <a:latin typeface="Aptos" pitchFamily="34" charset="0"/>
                <a:ea typeface="Aptos" pitchFamily="34" charset="-122"/>
                <a:cs typeface="Aptos" pitchFamily="34" charset="-120"/>
              </a:rPr>
              <a:t>✓</a:t>
            </a:r>
            <a:endParaRPr lang="en-US" sz="1100" dirty="0"/>
          </a:p>
        </p:txBody>
      </p:sp>
      <p:sp>
        <p:nvSpPr>
          <p:cNvPr id="15" name="Text 12"/>
          <p:cNvSpPr/>
          <p:nvPr/>
        </p:nvSpPr>
        <p:spPr>
          <a:xfrm>
            <a:off x="7040880" y="1920240"/>
            <a:ext cx="137160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Excel upload</a:t>
            </a:r>
            <a:endParaRPr lang="en-US" sz="980" dirty="0"/>
          </a:p>
        </p:txBody>
      </p:sp>
      <p:sp>
        <p:nvSpPr>
          <p:cNvPr id="16" name="Text 13"/>
          <p:cNvSpPr/>
          <p:nvPr/>
        </p:nvSpPr>
        <p:spPr>
          <a:xfrm>
            <a:off x="6812280" y="2267712"/>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16A34A"/>
                </a:solidFill>
                <a:latin typeface="Aptos" pitchFamily="34" charset="0"/>
                <a:ea typeface="Aptos" pitchFamily="34" charset="-122"/>
                <a:cs typeface="Aptos" pitchFamily="34" charset="-120"/>
              </a:rPr>
              <a:t>✓</a:t>
            </a:r>
            <a:endParaRPr lang="en-US" sz="1100" dirty="0"/>
          </a:p>
        </p:txBody>
      </p:sp>
      <p:sp>
        <p:nvSpPr>
          <p:cNvPr id="17" name="Text 14"/>
          <p:cNvSpPr/>
          <p:nvPr/>
        </p:nvSpPr>
        <p:spPr>
          <a:xfrm>
            <a:off x="7040880" y="2267712"/>
            <a:ext cx="137160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Preview table</a:t>
            </a:r>
            <a:endParaRPr lang="en-US" sz="980" dirty="0"/>
          </a:p>
        </p:txBody>
      </p:sp>
      <p:sp>
        <p:nvSpPr>
          <p:cNvPr id="18" name="Text 15"/>
          <p:cNvSpPr/>
          <p:nvPr/>
        </p:nvSpPr>
        <p:spPr>
          <a:xfrm>
            <a:off x="6812280" y="2615184"/>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16A34A"/>
                </a:solidFill>
                <a:latin typeface="Aptos" pitchFamily="34" charset="0"/>
                <a:ea typeface="Aptos" pitchFamily="34" charset="-122"/>
                <a:cs typeface="Aptos" pitchFamily="34" charset="-120"/>
              </a:rPr>
              <a:t>✓</a:t>
            </a:r>
            <a:endParaRPr lang="en-US" sz="1100" dirty="0"/>
          </a:p>
        </p:txBody>
      </p:sp>
      <p:sp>
        <p:nvSpPr>
          <p:cNvPr id="19" name="Text 16"/>
          <p:cNvSpPr/>
          <p:nvPr/>
        </p:nvSpPr>
        <p:spPr>
          <a:xfrm>
            <a:off x="7040880" y="2615184"/>
            <a:ext cx="137160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Column mapping</a:t>
            </a:r>
            <a:endParaRPr lang="en-US" sz="980" dirty="0"/>
          </a:p>
        </p:txBody>
      </p:sp>
      <p:sp>
        <p:nvSpPr>
          <p:cNvPr id="20" name="Text 17"/>
          <p:cNvSpPr/>
          <p:nvPr/>
        </p:nvSpPr>
        <p:spPr>
          <a:xfrm>
            <a:off x="6812280" y="2962656"/>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16A34A"/>
                </a:solidFill>
                <a:latin typeface="Aptos" pitchFamily="34" charset="0"/>
                <a:ea typeface="Aptos" pitchFamily="34" charset="-122"/>
                <a:cs typeface="Aptos" pitchFamily="34" charset="-120"/>
              </a:rPr>
              <a:t>✓</a:t>
            </a:r>
            <a:endParaRPr lang="en-US" sz="1100" dirty="0"/>
          </a:p>
        </p:txBody>
      </p:sp>
      <p:sp>
        <p:nvSpPr>
          <p:cNvPr id="21" name="Text 18"/>
          <p:cNvSpPr/>
          <p:nvPr/>
        </p:nvSpPr>
        <p:spPr>
          <a:xfrm>
            <a:off x="7040880" y="2962656"/>
            <a:ext cx="137160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Data quality report</a:t>
            </a:r>
            <a:endParaRPr lang="en-US" sz="980" dirty="0"/>
          </a:p>
        </p:txBody>
      </p:sp>
      <p:sp>
        <p:nvSpPr>
          <p:cNvPr id="22" name="Text 19"/>
          <p:cNvSpPr/>
          <p:nvPr/>
        </p:nvSpPr>
        <p:spPr>
          <a:xfrm>
            <a:off x="6812280" y="3310128"/>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16A34A"/>
                </a:solidFill>
                <a:latin typeface="Aptos" pitchFamily="34" charset="0"/>
                <a:ea typeface="Aptos" pitchFamily="34" charset="-122"/>
                <a:cs typeface="Aptos" pitchFamily="34" charset="-120"/>
              </a:rPr>
              <a:t>✓</a:t>
            </a:r>
            <a:endParaRPr lang="en-US" sz="1100" dirty="0"/>
          </a:p>
        </p:txBody>
      </p:sp>
      <p:sp>
        <p:nvSpPr>
          <p:cNvPr id="23" name="Text 20"/>
          <p:cNvSpPr/>
          <p:nvPr/>
        </p:nvSpPr>
        <p:spPr>
          <a:xfrm>
            <a:off x="7040880" y="3310128"/>
            <a:ext cx="137160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Sales metrics</a:t>
            </a:r>
            <a:endParaRPr lang="en-US" sz="980" dirty="0"/>
          </a:p>
        </p:txBody>
      </p:sp>
      <p:sp>
        <p:nvSpPr>
          <p:cNvPr id="24" name="Text 21"/>
          <p:cNvSpPr/>
          <p:nvPr/>
        </p:nvSpPr>
        <p:spPr>
          <a:xfrm>
            <a:off x="6812280" y="3657600"/>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16A34A"/>
                </a:solidFill>
                <a:latin typeface="Aptos" pitchFamily="34" charset="0"/>
                <a:ea typeface="Aptos" pitchFamily="34" charset="-122"/>
                <a:cs typeface="Aptos" pitchFamily="34" charset="-120"/>
              </a:rPr>
              <a:t>✓</a:t>
            </a:r>
            <a:endParaRPr lang="en-US" sz="1100" dirty="0"/>
          </a:p>
        </p:txBody>
      </p:sp>
      <p:sp>
        <p:nvSpPr>
          <p:cNvPr id="25" name="Text 22"/>
          <p:cNvSpPr/>
          <p:nvPr/>
        </p:nvSpPr>
        <p:spPr>
          <a:xfrm>
            <a:off x="7040880" y="3657600"/>
            <a:ext cx="137160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Charts</a:t>
            </a:r>
            <a:endParaRPr lang="en-US" sz="980" dirty="0"/>
          </a:p>
        </p:txBody>
      </p:sp>
      <p:sp>
        <p:nvSpPr>
          <p:cNvPr id="26" name="Text 23"/>
          <p:cNvSpPr/>
          <p:nvPr/>
        </p:nvSpPr>
        <p:spPr>
          <a:xfrm>
            <a:off x="6812280" y="4005072"/>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16A34A"/>
                </a:solidFill>
                <a:latin typeface="Aptos" pitchFamily="34" charset="0"/>
                <a:ea typeface="Aptos" pitchFamily="34" charset="-122"/>
                <a:cs typeface="Aptos" pitchFamily="34" charset="-120"/>
              </a:rPr>
              <a:t>✓</a:t>
            </a:r>
            <a:endParaRPr lang="en-US" sz="1100" dirty="0"/>
          </a:p>
        </p:txBody>
      </p:sp>
      <p:sp>
        <p:nvSpPr>
          <p:cNvPr id="27" name="Text 24"/>
          <p:cNvSpPr/>
          <p:nvPr/>
        </p:nvSpPr>
        <p:spPr>
          <a:xfrm>
            <a:off x="7040880" y="4005072"/>
            <a:ext cx="137160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Demo Story Mode</a:t>
            </a:r>
            <a:endParaRPr lang="en-US" sz="980" dirty="0"/>
          </a:p>
        </p:txBody>
      </p:sp>
      <p:sp>
        <p:nvSpPr>
          <p:cNvPr id="28" name="Text 25"/>
          <p:cNvSpPr/>
          <p:nvPr/>
        </p:nvSpPr>
        <p:spPr>
          <a:xfrm>
            <a:off x="6812280" y="4352544"/>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16A34A"/>
                </a:solidFill>
                <a:latin typeface="Aptos" pitchFamily="34" charset="0"/>
                <a:ea typeface="Aptos" pitchFamily="34" charset="-122"/>
                <a:cs typeface="Aptos" pitchFamily="34" charset="-120"/>
              </a:rPr>
              <a:t>✓</a:t>
            </a:r>
            <a:endParaRPr lang="en-US" sz="1100" dirty="0"/>
          </a:p>
        </p:txBody>
      </p:sp>
      <p:sp>
        <p:nvSpPr>
          <p:cNvPr id="29" name="Text 26"/>
          <p:cNvSpPr/>
          <p:nvPr/>
        </p:nvSpPr>
        <p:spPr>
          <a:xfrm>
            <a:off x="7040880" y="4352544"/>
            <a:ext cx="137160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Report export</a:t>
            </a:r>
            <a:endParaRPr lang="en-US" sz="980" dirty="0"/>
          </a:p>
        </p:txBody>
      </p:sp>
      <p:sp>
        <p:nvSpPr>
          <p:cNvPr id="30" name="Shape 27"/>
          <p:cNvSpPr/>
          <p:nvPr/>
        </p:nvSpPr>
        <p:spPr>
          <a:xfrm>
            <a:off x="9189720" y="868680"/>
            <a:ext cx="2240280" cy="4800600"/>
          </a:xfrm>
          <a:prstGeom prst="roundRect">
            <a:avLst>
              <a:gd name="adj" fmla="val 7347"/>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31" name="Text 28"/>
          <p:cNvSpPr/>
          <p:nvPr/>
        </p:nvSpPr>
        <p:spPr>
          <a:xfrm>
            <a:off x="9464040" y="1161288"/>
            <a:ext cx="1371600" cy="228600"/>
          </a:xfrm>
          <a:prstGeom prst="rect">
            <a:avLst/>
          </a:prstGeom>
          <a:noFill/>
          <a:ln/>
        </p:spPr>
        <p:txBody>
          <a:bodyPr wrap="square" lIns="0" tIns="0" rIns="0" bIns="0" rtlCol="0" anchor="t">
            <a:normAutofit/>
          </a:bodyPr>
          <a:lstStyle/>
          <a:p>
            <a:pPr marL="0" indent="0" algn="l">
              <a:lnSpc>
                <a:spcPct val="98000"/>
              </a:lnSpc>
              <a:buNone/>
            </a:pPr>
            <a:r>
              <a:rPr lang="en-US" sz="1700" b="1" dirty="0">
                <a:solidFill>
                  <a:srgbClr val="F59E0B"/>
                </a:solidFill>
                <a:latin typeface="Aptos" pitchFamily="34" charset="0"/>
                <a:ea typeface="Aptos" pitchFamily="34" charset="-122"/>
                <a:cs typeface="Aptos" pitchFamily="34" charset="-120"/>
              </a:rPr>
              <a:t>Improving</a:t>
            </a:r>
            <a:endParaRPr lang="en-US" sz="1700" dirty="0"/>
          </a:p>
        </p:txBody>
      </p:sp>
      <p:sp>
        <p:nvSpPr>
          <p:cNvPr id="32" name="Text 29"/>
          <p:cNvSpPr/>
          <p:nvPr/>
        </p:nvSpPr>
        <p:spPr>
          <a:xfrm>
            <a:off x="9464040" y="1572768"/>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F59E0B"/>
                </a:solidFill>
                <a:latin typeface="Aptos" pitchFamily="34" charset="0"/>
                <a:ea typeface="Aptos" pitchFamily="34" charset="-122"/>
                <a:cs typeface="Aptos" pitchFamily="34" charset="-120"/>
              </a:rPr>
              <a:t>→</a:t>
            </a:r>
            <a:endParaRPr lang="en-US" sz="1100" dirty="0"/>
          </a:p>
        </p:txBody>
      </p:sp>
      <p:sp>
        <p:nvSpPr>
          <p:cNvPr id="33" name="Text 30"/>
          <p:cNvSpPr/>
          <p:nvPr/>
        </p:nvSpPr>
        <p:spPr>
          <a:xfrm>
            <a:off x="9692640" y="1572768"/>
            <a:ext cx="123444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real datasets</a:t>
            </a:r>
            <a:endParaRPr lang="en-US" sz="980" dirty="0"/>
          </a:p>
        </p:txBody>
      </p:sp>
      <p:sp>
        <p:nvSpPr>
          <p:cNvPr id="34" name="Text 31"/>
          <p:cNvSpPr/>
          <p:nvPr/>
        </p:nvSpPr>
        <p:spPr>
          <a:xfrm>
            <a:off x="9464040" y="2011680"/>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F59E0B"/>
                </a:solidFill>
                <a:latin typeface="Aptos" pitchFamily="34" charset="0"/>
                <a:ea typeface="Aptos" pitchFamily="34" charset="-122"/>
                <a:cs typeface="Aptos" pitchFamily="34" charset="-120"/>
              </a:rPr>
              <a:t>→</a:t>
            </a:r>
            <a:endParaRPr lang="en-US" sz="1100" dirty="0"/>
          </a:p>
        </p:txBody>
      </p:sp>
      <p:sp>
        <p:nvSpPr>
          <p:cNvPr id="35" name="Text 32"/>
          <p:cNvSpPr/>
          <p:nvPr/>
        </p:nvSpPr>
        <p:spPr>
          <a:xfrm>
            <a:off x="9692640" y="2011680"/>
            <a:ext cx="123444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mapping edge cases</a:t>
            </a:r>
            <a:endParaRPr lang="en-US" sz="980" dirty="0"/>
          </a:p>
        </p:txBody>
      </p:sp>
      <p:sp>
        <p:nvSpPr>
          <p:cNvPr id="36" name="Text 33"/>
          <p:cNvSpPr/>
          <p:nvPr/>
        </p:nvSpPr>
        <p:spPr>
          <a:xfrm>
            <a:off x="9464040" y="2450592"/>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F59E0B"/>
                </a:solidFill>
                <a:latin typeface="Aptos" pitchFamily="34" charset="0"/>
                <a:ea typeface="Aptos" pitchFamily="34" charset="-122"/>
                <a:cs typeface="Aptos" pitchFamily="34" charset="-120"/>
              </a:rPr>
              <a:t>→</a:t>
            </a:r>
            <a:endParaRPr lang="en-US" sz="1100" dirty="0"/>
          </a:p>
        </p:txBody>
      </p:sp>
      <p:sp>
        <p:nvSpPr>
          <p:cNvPr id="37" name="Text 34"/>
          <p:cNvSpPr/>
          <p:nvPr/>
        </p:nvSpPr>
        <p:spPr>
          <a:xfrm>
            <a:off x="9692640" y="2450592"/>
            <a:ext cx="123444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missing values</a:t>
            </a:r>
            <a:endParaRPr lang="en-US" sz="980" dirty="0"/>
          </a:p>
        </p:txBody>
      </p:sp>
      <p:sp>
        <p:nvSpPr>
          <p:cNvPr id="38" name="Text 35"/>
          <p:cNvSpPr/>
          <p:nvPr/>
        </p:nvSpPr>
        <p:spPr>
          <a:xfrm>
            <a:off x="9464040" y="2889504"/>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F59E0B"/>
                </a:solidFill>
                <a:latin typeface="Aptos" pitchFamily="34" charset="0"/>
                <a:ea typeface="Aptos" pitchFamily="34" charset="-122"/>
                <a:cs typeface="Aptos" pitchFamily="34" charset="-120"/>
              </a:rPr>
              <a:t>→</a:t>
            </a:r>
            <a:endParaRPr lang="en-US" sz="1100" dirty="0"/>
          </a:p>
        </p:txBody>
      </p:sp>
      <p:sp>
        <p:nvSpPr>
          <p:cNvPr id="39" name="Text 36"/>
          <p:cNvSpPr/>
          <p:nvPr/>
        </p:nvSpPr>
        <p:spPr>
          <a:xfrm>
            <a:off x="9692640" y="2889504"/>
            <a:ext cx="123444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error messages</a:t>
            </a:r>
            <a:endParaRPr lang="en-US" sz="980" dirty="0"/>
          </a:p>
        </p:txBody>
      </p:sp>
      <p:sp>
        <p:nvSpPr>
          <p:cNvPr id="40" name="Text 37"/>
          <p:cNvSpPr/>
          <p:nvPr/>
        </p:nvSpPr>
        <p:spPr>
          <a:xfrm>
            <a:off x="9464040" y="3328416"/>
            <a:ext cx="182880" cy="128016"/>
          </a:xfrm>
          <a:prstGeom prst="rect">
            <a:avLst/>
          </a:prstGeom>
          <a:noFill/>
          <a:ln/>
        </p:spPr>
        <p:txBody>
          <a:bodyPr wrap="square" lIns="0" tIns="0" rIns="0" bIns="0" rtlCol="0" anchor="t">
            <a:normAutofit/>
          </a:bodyPr>
          <a:lstStyle/>
          <a:p>
            <a:pPr marL="0" indent="0" algn="l">
              <a:lnSpc>
                <a:spcPct val="98000"/>
              </a:lnSpc>
              <a:buNone/>
            </a:pPr>
            <a:r>
              <a:rPr lang="en-US" sz="1100" b="1" dirty="0">
                <a:solidFill>
                  <a:srgbClr val="F59E0B"/>
                </a:solidFill>
                <a:latin typeface="Aptos" pitchFamily="34" charset="0"/>
                <a:ea typeface="Aptos" pitchFamily="34" charset="-122"/>
                <a:cs typeface="Aptos" pitchFamily="34" charset="-120"/>
              </a:rPr>
              <a:t>→</a:t>
            </a:r>
            <a:endParaRPr lang="en-US" sz="1100" dirty="0"/>
          </a:p>
        </p:txBody>
      </p:sp>
      <p:sp>
        <p:nvSpPr>
          <p:cNvPr id="41" name="Text 38"/>
          <p:cNvSpPr/>
          <p:nvPr/>
        </p:nvSpPr>
        <p:spPr>
          <a:xfrm>
            <a:off x="9692640" y="3328416"/>
            <a:ext cx="1234440" cy="128016"/>
          </a:xfrm>
          <a:prstGeom prst="rect">
            <a:avLst/>
          </a:prstGeom>
          <a:noFill/>
          <a:ln/>
        </p:spPr>
        <p:txBody>
          <a:bodyPr wrap="square" lIns="0" tIns="0" rIns="0" bIns="0" rtlCol="0" anchor="t">
            <a:normAutofit/>
          </a:bodyPr>
          <a:lstStyle/>
          <a:p>
            <a:pPr marL="0" indent="0" algn="l">
              <a:lnSpc>
                <a:spcPct val="98000"/>
              </a:lnSpc>
              <a:buNone/>
            </a:pPr>
            <a:r>
              <a:rPr lang="en-US" sz="980" dirty="0">
                <a:solidFill>
                  <a:srgbClr val="07111F"/>
                </a:solidFill>
                <a:latin typeface="Aptos" pitchFamily="34" charset="0"/>
                <a:ea typeface="Aptos" pitchFamily="34" charset="-122"/>
                <a:cs typeface="Aptos" pitchFamily="34" charset="-120"/>
              </a:rPr>
              <a:t>demo stability</a:t>
            </a:r>
            <a:endParaRPr lang="en-US" sz="98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06B6D4">
              <a:alpha val="96000"/>
            </a:srgbClr>
          </a:solidFill>
          <a:ln w="12700">
            <a:solidFill>
              <a:srgbClr val="06B6D4">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rgbClr val="FFFFFF"/>
                </a:solidFill>
                <a:latin typeface="Aptos" pitchFamily="34" charset="0"/>
                <a:ea typeface="Aptos" pitchFamily="34" charset="-122"/>
                <a:cs typeface="Aptos" pitchFamily="34" charset="-120"/>
              </a:rPr>
              <a:t>LIVE DEMO PLAN</a:t>
            </a:r>
            <a:endParaRPr lang="en-US" sz="850" dirty="0"/>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FFFFFF"/>
                </a:solidFill>
                <a:latin typeface="Aptos Display" pitchFamily="34" charset="0"/>
                <a:ea typeface="Aptos Display" pitchFamily="34" charset="-122"/>
                <a:cs typeface="Aptos Display" pitchFamily="34" charset="-120"/>
              </a:rPr>
              <a:t>Show the real prototype.</a:t>
            </a:r>
            <a:endParaRPr lang="en-US" sz="4000" dirty="0"/>
          </a:p>
          <a:p>
            <a:pPr marL="0" indent="0" algn="l">
              <a:lnSpc>
                <a:spcPct val="86000"/>
              </a:lnSpc>
              <a:buNone/>
            </a:pPr>
            <a:r>
              <a:rPr lang="en-US" sz="4000" b="1" dirty="0">
                <a:solidFill>
                  <a:srgbClr val="FFFFFF"/>
                </a:solidFill>
                <a:latin typeface="Aptos Display" pitchFamily="34" charset="0"/>
                <a:ea typeface="Aptos Display" pitchFamily="34" charset="-122"/>
                <a:cs typeface="Aptos Display" pitchFamily="34" charset="-120"/>
              </a:rPr>
              <a:t>Keep the flow controlled.</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9FB2CB"/>
                </a:solidFill>
                <a:latin typeface="Aptos" pitchFamily="34" charset="0"/>
                <a:ea typeface="Aptos" pitchFamily="34" charset="-122"/>
                <a:cs typeface="Aptos" pitchFamily="34" charset="-120"/>
              </a:rPr>
              <a:t>The demo should prove the working core, not test every possible edge case live on stage.</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9FB2CB"/>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9FB2CB"/>
                </a:solidFill>
                <a:latin typeface="Aptos" pitchFamily="34" charset="0"/>
                <a:ea typeface="Aptos" pitchFamily="34" charset="-122"/>
                <a:cs typeface="Aptos" pitchFamily="34" charset="-120"/>
              </a:rPr>
              <a:t>11</a:t>
            </a:r>
            <a:endParaRPr lang="en-US" sz="950" dirty="0"/>
          </a:p>
        </p:txBody>
      </p:sp>
      <p:sp>
        <p:nvSpPr>
          <p:cNvPr id="9" name="Shape 6"/>
          <p:cNvSpPr/>
          <p:nvPr/>
        </p:nvSpPr>
        <p:spPr>
          <a:xfrm>
            <a:off x="566928" y="6382512"/>
            <a:ext cx="11064240" cy="0"/>
          </a:xfrm>
          <a:prstGeom prst="line">
            <a:avLst/>
          </a:prstGeom>
          <a:noFill/>
          <a:ln w="8890">
            <a:solidFill>
              <a:srgbClr val="31465E">
                <a:alpha val="76000"/>
              </a:srgbClr>
            </a:solidFill>
            <a:prstDash val="solid"/>
          </a:ln>
        </p:spPr>
        <p:txBody>
          <a:bodyPr/>
          <a:lstStyle/>
          <a:p>
            <a:endParaRPr lang="de-DE"/>
          </a:p>
        </p:txBody>
      </p:sp>
      <p:sp>
        <p:nvSpPr>
          <p:cNvPr id="10" name="Shape 7"/>
          <p:cNvSpPr/>
          <p:nvPr/>
        </p:nvSpPr>
        <p:spPr>
          <a:xfrm>
            <a:off x="6583680" y="914400"/>
            <a:ext cx="4572000" cy="4343400"/>
          </a:xfrm>
          <a:prstGeom prst="roundRect">
            <a:avLst>
              <a:gd name="adj" fmla="val 3789"/>
            </a:avLst>
          </a:prstGeom>
          <a:solidFill>
            <a:srgbClr val="0B1B2E"/>
          </a:solidFill>
          <a:ln w="10160">
            <a:solidFill>
              <a:srgbClr val="365E7A"/>
            </a:solidFill>
            <a:prstDash val="solid"/>
          </a:ln>
          <a:effectLst>
            <a:outerShdw blurRad="22860" dist="50800" dir="2700000" algn="bl" rotWithShape="0">
              <a:srgbClr val="000000">
                <a:alpha val="12000"/>
              </a:srgbClr>
            </a:outerShdw>
          </a:effectLst>
        </p:spPr>
        <p:txBody>
          <a:bodyPr/>
          <a:lstStyle/>
          <a:p>
            <a:endParaRPr lang="de-DE"/>
          </a:p>
        </p:txBody>
      </p:sp>
      <p:sp>
        <p:nvSpPr>
          <p:cNvPr id="11" name="Shape 8"/>
          <p:cNvSpPr/>
          <p:nvPr/>
        </p:nvSpPr>
        <p:spPr>
          <a:xfrm>
            <a:off x="6967728" y="1325880"/>
            <a:ext cx="329184" cy="329184"/>
          </a:xfrm>
          <a:prstGeom prst="ellipse">
            <a:avLst/>
          </a:prstGeom>
          <a:solidFill>
            <a:srgbClr val="2563EB"/>
          </a:solidFill>
          <a:ln w="12700">
            <a:solidFill>
              <a:srgbClr val="333333">
                <a:alpha val="0"/>
              </a:srgbClr>
            </a:solidFill>
            <a:prstDash val="solid"/>
          </a:ln>
        </p:spPr>
        <p:txBody>
          <a:bodyPr/>
          <a:lstStyle/>
          <a:p>
            <a:endParaRPr lang="de-DE"/>
          </a:p>
        </p:txBody>
      </p:sp>
      <p:sp>
        <p:nvSpPr>
          <p:cNvPr id="12" name="Text 9"/>
          <p:cNvSpPr/>
          <p:nvPr/>
        </p:nvSpPr>
        <p:spPr>
          <a:xfrm>
            <a:off x="7068312" y="1408176"/>
            <a:ext cx="109728" cy="91440"/>
          </a:xfrm>
          <a:prstGeom prst="rect">
            <a:avLst/>
          </a:prstGeom>
          <a:noFill/>
          <a:ln/>
        </p:spPr>
        <p:txBody>
          <a:bodyPr wrap="square" lIns="0" tIns="0" rIns="0" bIns="0" rtlCol="0" anchor="t">
            <a:normAutofit/>
          </a:bodyPr>
          <a:lstStyle/>
          <a:p>
            <a:pPr marL="0" indent="0" algn="ctr">
              <a:lnSpc>
                <a:spcPct val="98000"/>
              </a:lnSpc>
              <a:buNone/>
            </a:pPr>
            <a:r>
              <a:rPr lang="en-US" sz="700" b="1" dirty="0">
                <a:solidFill>
                  <a:srgbClr val="FFFFFF"/>
                </a:solidFill>
                <a:latin typeface="Aptos" pitchFamily="34" charset="0"/>
                <a:ea typeface="Aptos" pitchFamily="34" charset="-122"/>
                <a:cs typeface="Aptos" pitchFamily="34" charset="-120"/>
              </a:rPr>
              <a:t>1</a:t>
            </a:r>
            <a:endParaRPr lang="en-US" sz="700" dirty="0"/>
          </a:p>
        </p:txBody>
      </p:sp>
      <p:sp>
        <p:nvSpPr>
          <p:cNvPr id="13" name="Text 10"/>
          <p:cNvSpPr/>
          <p:nvPr/>
        </p:nvSpPr>
        <p:spPr>
          <a:xfrm>
            <a:off x="7452360" y="1371600"/>
            <a:ext cx="3017520" cy="164592"/>
          </a:xfrm>
          <a:prstGeom prst="rect">
            <a:avLst/>
          </a:prstGeom>
          <a:noFill/>
          <a:ln/>
        </p:spPr>
        <p:txBody>
          <a:bodyPr wrap="square" lIns="0" tIns="0" rIns="0" bIns="0" rtlCol="0" anchor="t">
            <a:normAutofit/>
          </a:bodyPr>
          <a:lstStyle/>
          <a:p>
            <a:pPr marL="0" indent="0" algn="l">
              <a:lnSpc>
                <a:spcPct val="98000"/>
              </a:lnSpc>
              <a:buNone/>
            </a:pPr>
            <a:r>
              <a:rPr lang="en-US" sz="1350" b="1" dirty="0">
                <a:solidFill>
                  <a:srgbClr val="FFFFFF"/>
                </a:solidFill>
                <a:latin typeface="Aptos" pitchFamily="34" charset="0"/>
                <a:ea typeface="Aptos" pitchFamily="34" charset="-122"/>
                <a:cs typeface="Aptos" pitchFamily="34" charset="-120"/>
              </a:rPr>
              <a:t>Load sample or own file</a:t>
            </a:r>
            <a:endParaRPr lang="en-US" sz="1350" dirty="0"/>
          </a:p>
        </p:txBody>
      </p:sp>
      <p:sp>
        <p:nvSpPr>
          <p:cNvPr id="14" name="Shape 11"/>
          <p:cNvSpPr/>
          <p:nvPr/>
        </p:nvSpPr>
        <p:spPr>
          <a:xfrm>
            <a:off x="6967728" y="2039112"/>
            <a:ext cx="329184" cy="329184"/>
          </a:xfrm>
          <a:prstGeom prst="ellipse">
            <a:avLst/>
          </a:prstGeom>
          <a:solidFill>
            <a:srgbClr val="16A34A"/>
          </a:solidFill>
          <a:ln w="12700">
            <a:solidFill>
              <a:srgbClr val="333333">
                <a:alpha val="0"/>
              </a:srgbClr>
            </a:solidFill>
            <a:prstDash val="solid"/>
          </a:ln>
        </p:spPr>
        <p:txBody>
          <a:bodyPr/>
          <a:lstStyle/>
          <a:p>
            <a:endParaRPr lang="de-DE"/>
          </a:p>
        </p:txBody>
      </p:sp>
      <p:sp>
        <p:nvSpPr>
          <p:cNvPr id="15" name="Text 12"/>
          <p:cNvSpPr/>
          <p:nvPr/>
        </p:nvSpPr>
        <p:spPr>
          <a:xfrm>
            <a:off x="7068312" y="2121408"/>
            <a:ext cx="109728" cy="91440"/>
          </a:xfrm>
          <a:prstGeom prst="rect">
            <a:avLst/>
          </a:prstGeom>
          <a:noFill/>
          <a:ln/>
        </p:spPr>
        <p:txBody>
          <a:bodyPr wrap="square" lIns="0" tIns="0" rIns="0" bIns="0" rtlCol="0" anchor="t">
            <a:normAutofit/>
          </a:bodyPr>
          <a:lstStyle/>
          <a:p>
            <a:pPr marL="0" indent="0" algn="ctr">
              <a:lnSpc>
                <a:spcPct val="98000"/>
              </a:lnSpc>
              <a:buNone/>
            </a:pPr>
            <a:r>
              <a:rPr lang="en-US" sz="700" b="1" dirty="0">
                <a:solidFill>
                  <a:srgbClr val="FFFFFF"/>
                </a:solidFill>
                <a:latin typeface="Aptos" pitchFamily="34" charset="0"/>
                <a:ea typeface="Aptos" pitchFamily="34" charset="-122"/>
                <a:cs typeface="Aptos" pitchFamily="34" charset="-120"/>
              </a:rPr>
              <a:t>2</a:t>
            </a:r>
            <a:endParaRPr lang="en-US" sz="700" dirty="0"/>
          </a:p>
        </p:txBody>
      </p:sp>
      <p:sp>
        <p:nvSpPr>
          <p:cNvPr id="16" name="Text 13"/>
          <p:cNvSpPr/>
          <p:nvPr/>
        </p:nvSpPr>
        <p:spPr>
          <a:xfrm>
            <a:off x="7452360" y="2084832"/>
            <a:ext cx="3017520" cy="164592"/>
          </a:xfrm>
          <a:prstGeom prst="rect">
            <a:avLst/>
          </a:prstGeom>
          <a:noFill/>
          <a:ln/>
        </p:spPr>
        <p:txBody>
          <a:bodyPr wrap="square" lIns="0" tIns="0" rIns="0" bIns="0" rtlCol="0" anchor="t">
            <a:normAutofit/>
          </a:bodyPr>
          <a:lstStyle/>
          <a:p>
            <a:pPr marL="0" indent="0" algn="l">
              <a:lnSpc>
                <a:spcPct val="98000"/>
              </a:lnSpc>
              <a:buNone/>
            </a:pPr>
            <a:r>
              <a:rPr lang="en-US" sz="1350" dirty="0">
                <a:solidFill>
                  <a:srgbClr val="FFFFFF"/>
                </a:solidFill>
                <a:latin typeface="Aptos" pitchFamily="34" charset="0"/>
                <a:ea typeface="Aptos" pitchFamily="34" charset="-122"/>
                <a:cs typeface="Aptos" pitchFamily="34" charset="-120"/>
              </a:rPr>
              <a:t>Show preview + quality</a:t>
            </a:r>
            <a:endParaRPr lang="en-US" sz="1350" dirty="0"/>
          </a:p>
        </p:txBody>
      </p:sp>
      <p:sp>
        <p:nvSpPr>
          <p:cNvPr id="17" name="Shape 14"/>
          <p:cNvSpPr/>
          <p:nvPr/>
        </p:nvSpPr>
        <p:spPr>
          <a:xfrm>
            <a:off x="6967728" y="2752344"/>
            <a:ext cx="329184" cy="329184"/>
          </a:xfrm>
          <a:prstGeom prst="ellipse">
            <a:avLst/>
          </a:prstGeom>
          <a:solidFill>
            <a:srgbClr val="F59E0B"/>
          </a:solidFill>
          <a:ln w="12700">
            <a:solidFill>
              <a:srgbClr val="333333">
                <a:alpha val="0"/>
              </a:srgbClr>
            </a:solidFill>
            <a:prstDash val="solid"/>
          </a:ln>
        </p:spPr>
        <p:txBody>
          <a:bodyPr/>
          <a:lstStyle/>
          <a:p>
            <a:endParaRPr lang="de-DE"/>
          </a:p>
        </p:txBody>
      </p:sp>
      <p:sp>
        <p:nvSpPr>
          <p:cNvPr id="18" name="Text 15"/>
          <p:cNvSpPr/>
          <p:nvPr/>
        </p:nvSpPr>
        <p:spPr>
          <a:xfrm>
            <a:off x="7068312" y="2834640"/>
            <a:ext cx="109728" cy="91440"/>
          </a:xfrm>
          <a:prstGeom prst="rect">
            <a:avLst/>
          </a:prstGeom>
          <a:noFill/>
          <a:ln/>
        </p:spPr>
        <p:txBody>
          <a:bodyPr wrap="square" lIns="0" tIns="0" rIns="0" bIns="0" rtlCol="0" anchor="t">
            <a:normAutofit/>
          </a:bodyPr>
          <a:lstStyle/>
          <a:p>
            <a:pPr marL="0" indent="0" algn="ctr">
              <a:lnSpc>
                <a:spcPct val="98000"/>
              </a:lnSpc>
              <a:buNone/>
            </a:pPr>
            <a:r>
              <a:rPr lang="en-US" sz="700" b="1" dirty="0">
                <a:solidFill>
                  <a:srgbClr val="FFFFFF"/>
                </a:solidFill>
                <a:latin typeface="Aptos" pitchFamily="34" charset="0"/>
                <a:ea typeface="Aptos" pitchFamily="34" charset="-122"/>
                <a:cs typeface="Aptos" pitchFamily="34" charset="-120"/>
              </a:rPr>
              <a:t>3</a:t>
            </a:r>
            <a:endParaRPr lang="en-US" sz="700" dirty="0"/>
          </a:p>
        </p:txBody>
      </p:sp>
      <p:sp>
        <p:nvSpPr>
          <p:cNvPr id="19" name="Text 16"/>
          <p:cNvSpPr/>
          <p:nvPr/>
        </p:nvSpPr>
        <p:spPr>
          <a:xfrm>
            <a:off x="7452360" y="2798064"/>
            <a:ext cx="3017520" cy="164592"/>
          </a:xfrm>
          <a:prstGeom prst="rect">
            <a:avLst/>
          </a:prstGeom>
          <a:noFill/>
          <a:ln/>
        </p:spPr>
        <p:txBody>
          <a:bodyPr wrap="square" lIns="0" tIns="0" rIns="0" bIns="0" rtlCol="0" anchor="t">
            <a:normAutofit/>
          </a:bodyPr>
          <a:lstStyle/>
          <a:p>
            <a:pPr marL="0" indent="0" algn="l">
              <a:lnSpc>
                <a:spcPct val="98000"/>
              </a:lnSpc>
              <a:buNone/>
            </a:pPr>
            <a:r>
              <a:rPr lang="en-US" sz="1350" dirty="0">
                <a:solidFill>
                  <a:srgbClr val="FFFFFF"/>
                </a:solidFill>
                <a:latin typeface="Aptos" pitchFamily="34" charset="0"/>
                <a:ea typeface="Aptos" pitchFamily="34" charset="-122"/>
                <a:cs typeface="Aptos" pitchFamily="34" charset="-120"/>
              </a:rPr>
              <a:t>Ask a question</a:t>
            </a:r>
            <a:endParaRPr lang="en-US" sz="1350" dirty="0"/>
          </a:p>
        </p:txBody>
      </p:sp>
      <p:sp>
        <p:nvSpPr>
          <p:cNvPr id="20" name="Shape 17"/>
          <p:cNvSpPr/>
          <p:nvPr/>
        </p:nvSpPr>
        <p:spPr>
          <a:xfrm>
            <a:off x="6967728" y="3465576"/>
            <a:ext cx="329184" cy="329184"/>
          </a:xfrm>
          <a:prstGeom prst="ellipse">
            <a:avLst/>
          </a:prstGeom>
          <a:solidFill>
            <a:srgbClr val="7C3AED"/>
          </a:solidFill>
          <a:ln w="12700">
            <a:solidFill>
              <a:srgbClr val="333333">
                <a:alpha val="0"/>
              </a:srgbClr>
            </a:solidFill>
            <a:prstDash val="solid"/>
          </a:ln>
        </p:spPr>
        <p:txBody>
          <a:bodyPr/>
          <a:lstStyle/>
          <a:p>
            <a:endParaRPr lang="de-DE"/>
          </a:p>
        </p:txBody>
      </p:sp>
      <p:sp>
        <p:nvSpPr>
          <p:cNvPr id="21" name="Text 18"/>
          <p:cNvSpPr/>
          <p:nvPr/>
        </p:nvSpPr>
        <p:spPr>
          <a:xfrm>
            <a:off x="7068312" y="3547872"/>
            <a:ext cx="109728" cy="91440"/>
          </a:xfrm>
          <a:prstGeom prst="rect">
            <a:avLst/>
          </a:prstGeom>
          <a:noFill/>
          <a:ln/>
        </p:spPr>
        <p:txBody>
          <a:bodyPr wrap="square" lIns="0" tIns="0" rIns="0" bIns="0" rtlCol="0" anchor="t">
            <a:normAutofit/>
          </a:bodyPr>
          <a:lstStyle/>
          <a:p>
            <a:pPr marL="0" indent="0" algn="ctr">
              <a:lnSpc>
                <a:spcPct val="98000"/>
              </a:lnSpc>
              <a:buNone/>
            </a:pPr>
            <a:r>
              <a:rPr lang="en-US" sz="700" b="1" dirty="0">
                <a:solidFill>
                  <a:srgbClr val="FFFFFF"/>
                </a:solidFill>
                <a:latin typeface="Aptos" pitchFamily="34" charset="0"/>
                <a:ea typeface="Aptos" pitchFamily="34" charset="-122"/>
                <a:cs typeface="Aptos" pitchFamily="34" charset="-120"/>
              </a:rPr>
              <a:t>4</a:t>
            </a:r>
            <a:endParaRPr lang="en-US" sz="700" dirty="0"/>
          </a:p>
        </p:txBody>
      </p:sp>
      <p:sp>
        <p:nvSpPr>
          <p:cNvPr id="22" name="Text 19"/>
          <p:cNvSpPr/>
          <p:nvPr/>
        </p:nvSpPr>
        <p:spPr>
          <a:xfrm>
            <a:off x="7452360" y="3511296"/>
            <a:ext cx="3017520" cy="164592"/>
          </a:xfrm>
          <a:prstGeom prst="rect">
            <a:avLst/>
          </a:prstGeom>
          <a:noFill/>
          <a:ln/>
        </p:spPr>
        <p:txBody>
          <a:bodyPr wrap="square" lIns="0" tIns="0" rIns="0" bIns="0" rtlCol="0" anchor="t">
            <a:normAutofit/>
          </a:bodyPr>
          <a:lstStyle/>
          <a:p>
            <a:pPr marL="0" indent="0" algn="l">
              <a:lnSpc>
                <a:spcPct val="98000"/>
              </a:lnSpc>
              <a:buNone/>
            </a:pPr>
            <a:r>
              <a:rPr lang="en-US" sz="1350" dirty="0">
                <a:solidFill>
                  <a:srgbClr val="FFFFFF"/>
                </a:solidFill>
                <a:latin typeface="Aptos" pitchFamily="34" charset="0"/>
                <a:ea typeface="Aptos" pitchFamily="34" charset="-122"/>
                <a:cs typeface="Aptos" pitchFamily="34" charset="-120"/>
              </a:rPr>
              <a:t>Show metrics + charts</a:t>
            </a:r>
            <a:endParaRPr lang="en-US" sz="1350" dirty="0"/>
          </a:p>
        </p:txBody>
      </p:sp>
      <p:sp>
        <p:nvSpPr>
          <p:cNvPr id="23" name="Shape 20"/>
          <p:cNvSpPr/>
          <p:nvPr/>
        </p:nvSpPr>
        <p:spPr>
          <a:xfrm>
            <a:off x="6967728" y="4178808"/>
            <a:ext cx="329184" cy="329184"/>
          </a:xfrm>
          <a:prstGeom prst="ellipse">
            <a:avLst/>
          </a:prstGeom>
          <a:solidFill>
            <a:srgbClr val="06B6D4"/>
          </a:solidFill>
          <a:ln w="12700">
            <a:solidFill>
              <a:srgbClr val="333333">
                <a:alpha val="0"/>
              </a:srgbClr>
            </a:solidFill>
            <a:prstDash val="solid"/>
          </a:ln>
        </p:spPr>
        <p:txBody>
          <a:bodyPr/>
          <a:lstStyle/>
          <a:p>
            <a:endParaRPr lang="de-DE"/>
          </a:p>
        </p:txBody>
      </p:sp>
      <p:sp>
        <p:nvSpPr>
          <p:cNvPr id="24" name="Text 21"/>
          <p:cNvSpPr/>
          <p:nvPr/>
        </p:nvSpPr>
        <p:spPr>
          <a:xfrm>
            <a:off x="7068312" y="4261104"/>
            <a:ext cx="109728" cy="91440"/>
          </a:xfrm>
          <a:prstGeom prst="rect">
            <a:avLst/>
          </a:prstGeom>
          <a:noFill/>
          <a:ln/>
        </p:spPr>
        <p:txBody>
          <a:bodyPr wrap="square" lIns="0" tIns="0" rIns="0" bIns="0" rtlCol="0" anchor="t">
            <a:normAutofit/>
          </a:bodyPr>
          <a:lstStyle/>
          <a:p>
            <a:pPr marL="0" indent="0" algn="ctr">
              <a:lnSpc>
                <a:spcPct val="98000"/>
              </a:lnSpc>
              <a:buNone/>
            </a:pPr>
            <a:r>
              <a:rPr lang="en-US" sz="700" b="1" dirty="0">
                <a:solidFill>
                  <a:srgbClr val="FFFFFF"/>
                </a:solidFill>
                <a:latin typeface="Aptos" pitchFamily="34" charset="0"/>
                <a:ea typeface="Aptos" pitchFamily="34" charset="-122"/>
                <a:cs typeface="Aptos" pitchFamily="34" charset="-120"/>
              </a:rPr>
              <a:t>5</a:t>
            </a:r>
            <a:endParaRPr lang="en-US" sz="700" dirty="0"/>
          </a:p>
        </p:txBody>
      </p:sp>
      <p:sp>
        <p:nvSpPr>
          <p:cNvPr id="25" name="Text 22"/>
          <p:cNvSpPr/>
          <p:nvPr/>
        </p:nvSpPr>
        <p:spPr>
          <a:xfrm>
            <a:off x="7452360" y="4224528"/>
            <a:ext cx="3017520" cy="164592"/>
          </a:xfrm>
          <a:prstGeom prst="rect">
            <a:avLst/>
          </a:prstGeom>
          <a:noFill/>
          <a:ln/>
        </p:spPr>
        <p:txBody>
          <a:bodyPr wrap="square" lIns="0" tIns="0" rIns="0" bIns="0" rtlCol="0" anchor="t">
            <a:normAutofit/>
          </a:bodyPr>
          <a:lstStyle/>
          <a:p>
            <a:pPr marL="0" indent="0" algn="l">
              <a:lnSpc>
                <a:spcPct val="98000"/>
              </a:lnSpc>
              <a:buNone/>
            </a:pPr>
            <a:r>
              <a:rPr lang="en-US" sz="1350" dirty="0">
                <a:solidFill>
                  <a:srgbClr val="FFFFFF"/>
                </a:solidFill>
                <a:latin typeface="Aptos" pitchFamily="34" charset="0"/>
                <a:ea typeface="Aptos" pitchFamily="34" charset="-122"/>
                <a:cs typeface="Aptos" pitchFamily="34" charset="-120"/>
              </a:rPr>
              <a:t>Explain what this proves</a:t>
            </a:r>
            <a:endParaRPr lang="en-US" sz="13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7C3AED">
              <a:alpha val="92000"/>
            </a:srgbClr>
          </a:solidFill>
          <a:ln w="12700">
            <a:solidFill>
              <a:srgbClr val="7C3AED">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chemeClr val="bg1"/>
                </a:solidFill>
                <a:latin typeface="Aptos" pitchFamily="34" charset="0"/>
                <a:ea typeface="Aptos" pitchFamily="34" charset="-122"/>
                <a:cs typeface="Aptos" pitchFamily="34" charset="-120"/>
              </a:rPr>
              <a:t>BEST PRACTICES</a:t>
            </a:r>
            <a:endParaRPr lang="en-US" sz="850" dirty="0">
              <a:solidFill>
                <a:schemeClr val="bg1"/>
              </a:solidFill>
            </a:endParaRPr>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The PoC stays focused</a:t>
            </a:r>
            <a:endParaRPr lang="en-US" sz="4000" dirty="0"/>
          </a:p>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and explainable.</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475569"/>
                </a:solidFill>
                <a:latin typeface="Aptos" pitchFamily="34" charset="0"/>
                <a:ea typeface="Aptos" pitchFamily="34" charset="-122"/>
                <a:cs typeface="Aptos" pitchFamily="34" charset="-120"/>
              </a:rPr>
              <a:t>The most important decisions were about reliability, scope and demo clarity.</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475569"/>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475569"/>
                </a:solidFill>
                <a:latin typeface="Aptos" pitchFamily="34" charset="0"/>
                <a:ea typeface="Aptos" pitchFamily="34" charset="-122"/>
                <a:cs typeface="Aptos" pitchFamily="34" charset="-120"/>
              </a:rPr>
              <a:t>12</a:t>
            </a:r>
            <a:endParaRPr lang="en-US" sz="950" dirty="0"/>
          </a:p>
        </p:txBody>
      </p:sp>
      <p:sp>
        <p:nvSpPr>
          <p:cNvPr id="9" name="Shape 6"/>
          <p:cNvSpPr/>
          <p:nvPr/>
        </p:nvSpPr>
        <p:spPr>
          <a:xfrm>
            <a:off x="566928" y="6382512"/>
            <a:ext cx="11064240" cy="0"/>
          </a:xfrm>
          <a:prstGeom prst="line">
            <a:avLst/>
          </a:prstGeom>
          <a:noFill/>
          <a:ln w="8890">
            <a:solidFill>
              <a:srgbClr val="CBD5E1">
                <a:alpha val="76000"/>
              </a:srgbClr>
            </a:solidFill>
            <a:prstDash val="solid"/>
          </a:ln>
        </p:spPr>
        <p:txBody>
          <a:bodyPr/>
          <a:lstStyle/>
          <a:p>
            <a:endParaRPr lang="de-DE"/>
          </a:p>
        </p:txBody>
      </p:sp>
      <p:sp>
        <p:nvSpPr>
          <p:cNvPr id="10" name="Shape 7"/>
          <p:cNvSpPr/>
          <p:nvPr/>
        </p:nvSpPr>
        <p:spPr>
          <a:xfrm>
            <a:off x="6537960" y="960120"/>
            <a:ext cx="2240280" cy="960120"/>
          </a:xfrm>
          <a:prstGeom prst="roundRect">
            <a:avLst>
              <a:gd name="adj" fmla="val 17143"/>
            </a:avLst>
          </a:prstGeom>
          <a:solidFill>
            <a:srgbClr val="FFFFFF"/>
          </a:solidFill>
          <a:ln w="10160">
            <a:solidFill>
              <a:srgbClr val="2563EB">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1" name="Text 8"/>
          <p:cNvSpPr/>
          <p:nvPr/>
        </p:nvSpPr>
        <p:spPr>
          <a:xfrm>
            <a:off x="6702552" y="116128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Focused scope</a:t>
            </a:r>
            <a:endParaRPr lang="en-US" sz="1250" dirty="0"/>
          </a:p>
        </p:txBody>
      </p:sp>
      <p:sp>
        <p:nvSpPr>
          <p:cNvPr id="12" name="Text 9"/>
          <p:cNvSpPr/>
          <p:nvPr/>
        </p:nvSpPr>
        <p:spPr>
          <a:xfrm>
            <a:off x="6702552" y="1472184"/>
            <a:ext cx="1874520" cy="219456"/>
          </a:xfrm>
          <a:prstGeom prst="rect">
            <a:avLst/>
          </a:prstGeom>
          <a:noFill/>
          <a:ln/>
        </p:spPr>
        <p:txBody>
          <a:bodyPr wrap="square" lIns="0" tIns="0" rIns="0" bIns="0" rtlCol="0" anchor="t">
            <a:normAutofit/>
          </a:bodyPr>
          <a:lstStyle/>
          <a:p>
            <a:pPr marL="0" indent="0" algn="l">
              <a:lnSpc>
                <a:spcPct val="98000"/>
              </a:lnSpc>
              <a:buNone/>
            </a:pPr>
            <a:r>
              <a:rPr lang="en-US" sz="860" dirty="0">
                <a:solidFill>
                  <a:srgbClr val="475569"/>
                </a:solidFill>
                <a:latin typeface="Aptos" pitchFamily="34" charset="0"/>
                <a:ea typeface="Aptos" pitchFamily="34" charset="-122"/>
                <a:cs typeface="Aptos" pitchFamily="34" charset="-120"/>
              </a:rPr>
              <a:t>sales data only, not a general chatbot</a:t>
            </a:r>
            <a:endParaRPr lang="en-US" sz="860" dirty="0"/>
          </a:p>
        </p:txBody>
      </p:sp>
      <p:sp>
        <p:nvSpPr>
          <p:cNvPr id="13" name="Shape 10"/>
          <p:cNvSpPr/>
          <p:nvPr/>
        </p:nvSpPr>
        <p:spPr>
          <a:xfrm>
            <a:off x="9052560" y="960120"/>
            <a:ext cx="2240280" cy="960120"/>
          </a:xfrm>
          <a:prstGeom prst="roundRect">
            <a:avLst>
              <a:gd name="adj" fmla="val 17143"/>
            </a:avLst>
          </a:prstGeom>
          <a:solidFill>
            <a:srgbClr val="FFFFFF"/>
          </a:solidFill>
          <a:ln w="10160">
            <a:solidFill>
              <a:srgbClr val="2563EB">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4" name="Text 11"/>
          <p:cNvSpPr/>
          <p:nvPr/>
        </p:nvSpPr>
        <p:spPr>
          <a:xfrm>
            <a:off x="9217152" y="116128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Separation of concerns</a:t>
            </a:r>
            <a:endParaRPr lang="en-US" sz="1250" dirty="0"/>
          </a:p>
        </p:txBody>
      </p:sp>
      <p:sp>
        <p:nvSpPr>
          <p:cNvPr id="15" name="Text 12"/>
          <p:cNvSpPr/>
          <p:nvPr/>
        </p:nvSpPr>
        <p:spPr>
          <a:xfrm>
            <a:off x="9217152" y="1472184"/>
            <a:ext cx="1874520" cy="219456"/>
          </a:xfrm>
          <a:prstGeom prst="rect">
            <a:avLst/>
          </a:prstGeom>
          <a:noFill/>
          <a:ln/>
        </p:spPr>
        <p:txBody>
          <a:bodyPr wrap="square" lIns="0" tIns="0" rIns="0" bIns="0" rtlCol="0" anchor="t">
            <a:normAutofit/>
          </a:bodyPr>
          <a:lstStyle/>
          <a:p>
            <a:pPr marL="0" indent="0" algn="l">
              <a:lnSpc>
                <a:spcPct val="98000"/>
              </a:lnSpc>
              <a:buNone/>
            </a:pPr>
            <a:r>
              <a:rPr lang="en-US" sz="860" dirty="0">
                <a:solidFill>
                  <a:srgbClr val="475569"/>
                </a:solidFill>
                <a:latin typeface="Aptos" pitchFamily="34" charset="0"/>
                <a:ea typeface="Aptos" pitchFamily="34" charset="-122"/>
                <a:cs typeface="Aptos" pitchFamily="34" charset="-120"/>
              </a:rPr>
              <a:t>calculation and explanation are separated</a:t>
            </a:r>
            <a:endParaRPr lang="en-US" sz="860" dirty="0"/>
          </a:p>
        </p:txBody>
      </p:sp>
      <p:sp>
        <p:nvSpPr>
          <p:cNvPr id="16" name="Shape 13"/>
          <p:cNvSpPr/>
          <p:nvPr/>
        </p:nvSpPr>
        <p:spPr>
          <a:xfrm>
            <a:off x="6537960" y="2194560"/>
            <a:ext cx="2240280" cy="960120"/>
          </a:xfrm>
          <a:prstGeom prst="roundRect">
            <a:avLst>
              <a:gd name="adj" fmla="val 17143"/>
            </a:avLst>
          </a:prstGeom>
          <a:solidFill>
            <a:srgbClr val="FFFFFF"/>
          </a:solidFill>
          <a:ln w="10160">
            <a:solidFill>
              <a:srgbClr val="16A34A">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7" name="Text 14"/>
          <p:cNvSpPr/>
          <p:nvPr/>
        </p:nvSpPr>
        <p:spPr>
          <a:xfrm>
            <a:off x="6702552" y="239572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Validate first</a:t>
            </a:r>
            <a:endParaRPr lang="en-US" sz="1250" dirty="0"/>
          </a:p>
        </p:txBody>
      </p:sp>
      <p:sp>
        <p:nvSpPr>
          <p:cNvPr id="18" name="Text 15"/>
          <p:cNvSpPr/>
          <p:nvPr/>
        </p:nvSpPr>
        <p:spPr>
          <a:xfrm>
            <a:off x="6702552" y="2706624"/>
            <a:ext cx="1874520" cy="219456"/>
          </a:xfrm>
          <a:prstGeom prst="rect">
            <a:avLst/>
          </a:prstGeom>
          <a:noFill/>
          <a:ln/>
        </p:spPr>
        <p:txBody>
          <a:bodyPr wrap="square" lIns="0" tIns="0" rIns="0" bIns="0" rtlCol="0" anchor="t">
            <a:normAutofit/>
          </a:bodyPr>
          <a:lstStyle/>
          <a:p>
            <a:pPr marL="0" indent="0" algn="l">
              <a:lnSpc>
                <a:spcPct val="98000"/>
              </a:lnSpc>
              <a:buNone/>
            </a:pPr>
            <a:r>
              <a:rPr lang="en-US" sz="860" dirty="0">
                <a:solidFill>
                  <a:srgbClr val="475569"/>
                </a:solidFill>
                <a:latin typeface="Aptos" pitchFamily="34" charset="0"/>
                <a:ea typeface="Aptos" pitchFamily="34" charset="-122"/>
                <a:cs typeface="Aptos" pitchFamily="34" charset="-120"/>
              </a:rPr>
              <a:t>clear errors before analysis</a:t>
            </a:r>
            <a:endParaRPr lang="en-US" sz="860" dirty="0"/>
          </a:p>
        </p:txBody>
      </p:sp>
      <p:sp>
        <p:nvSpPr>
          <p:cNvPr id="19" name="Shape 16"/>
          <p:cNvSpPr/>
          <p:nvPr/>
        </p:nvSpPr>
        <p:spPr>
          <a:xfrm>
            <a:off x="9052560" y="2194560"/>
            <a:ext cx="2240280" cy="960120"/>
          </a:xfrm>
          <a:prstGeom prst="roundRect">
            <a:avLst>
              <a:gd name="adj" fmla="val 17143"/>
            </a:avLst>
          </a:prstGeom>
          <a:solidFill>
            <a:srgbClr val="FFFFFF"/>
          </a:solidFill>
          <a:ln w="10160">
            <a:solidFill>
              <a:srgbClr val="16A34A">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0" name="Text 17"/>
          <p:cNvSpPr/>
          <p:nvPr/>
        </p:nvSpPr>
        <p:spPr>
          <a:xfrm>
            <a:off x="9217152" y="239572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Realistic testing</a:t>
            </a:r>
            <a:endParaRPr lang="en-US" sz="1250" dirty="0"/>
          </a:p>
        </p:txBody>
      </p:sp>
      <p:sp>
        <p:nvSpPr>
          <p:cNvPr id="21" name="Text 18"/>
          <p:cNvSpPr/>
          <p:nvPr/>
        </p:nvSpPr>
        <p:spPr>
          <a:xfrm>
            <a:off x="9217152" y="2706624"/>
            <a:ext cx="1874520" cy="219456"/>
          </a:xfrm>
          <a:prstGeom prst="rect">
            <a:avLst/>
          </a:prstGeom>
          <a:noFill/>
          <a:ln/>
        </p:spPr>
        <p:txBody>
          <a:bodyPr wrap="square" lIns="0" tIns="0" rIns="0" bIns="0" rtlCol="0" anchor="t">
            <a:normAutofit/>
          </a:bodyPr>
          <a:lstStyle/>
          <a:p>
            <a:pPr marL="0" indent="0" algn="l">
              <a:lnSpc>
                <a:spcPct val="98000"/>
              </a:lnSpc>
              <a:buNone/>
            </a:pPr>
            <a:r>
              <a:rPr lang="en-US" sz="860" dirty="0">
                <a:solidFill>
                  <a:srgbClr val="475569"/>
                </a:solidFill>
                <a:latin typeface="Aptos" pitchFamily="34" charset="0"/>
                <a:ea typeface="Aptos" pitchFamily="34" charset="-122"/>
                <a:cs typeface="Aptos" pitchFamily="34" charset="-120"/>
              </a:rPr>
              <a:t>sample data plus own files</a:t>
            </a:r>
            <a:endParaRPr lang="en-US" sz="860" dirty="0"/>
          </a:p>
        </p:txBody>
      </p:sp>
      <p:sp>
        <p:nvSpPr>
          <p:cNvPr id="22" name="Shape 19"/>
          <p:cNvSpPr/>
          <p:nvPr/>
        </p:nvSpPr>
        <p:spPr>
          <a:xfrm>
            <a:off x="6537960" y="3429000"/>
            <a:ext cx="2240280" cy="960120"/>
          </a:xfrm>
          <a:prstGeom prst="roundRect">
            <a:avLst>
              <a:gd name="adj" fmla="val 17143"/>
            </a:avLst>
          </a:prstGeom>
          <a:solidFill>
            <a:srgbClr val="FFFFFF"/>
          </a:solidFill>
          <a:ln w="10160">
            <a:solidFill>
              <a:srgbClr val="7C3AED">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3" name="Text 20"/>
          <p:cNvSpPr/>
          <p:nvPr/>
        </p:nvSpPr>
        <p:spPr>
          <a:xfrm>
            <a:off x="6702552" y="363016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Predictable demo</a:t>
            </a:r>
            <a:endParaRPr lang="en-US" sz="1250" dirty="0"/>
          </a:p>
        </p:txBody>
      </p:sp>
      <p:sp>
        <p:nvSpPr>
          <p:cNvPr id="24" name="Text 21"/>
          <p:cNvSpPr/>
          <p:nvPr/>
        </p:nvSpPr>
        <p:spPr>
          <a:xfrm>
            <a:off x="6702552" y="3941064"/>
            <a:ext cx="1874520" cy="219456"/>
          </a:xfrm>
          <a:prstGeom prst="rect">
            <a:avLst/>
          </a:prstGeom>
          <a:noFill/>
          <a:ln/>
        </p:spPr>
        <p:txBody>
          <a:bodyPr wrap="square" lIns="0" tIns="0" rIns="0" bIns="0" rtlCol="0" anchor="t">
            <a:normAutofit/>
          </a:bodyPr>
          <a:lstStyle/>
          <a:p>
            <a:pPr marL="0" indent="0" algn="l">
              <a:lnSpc>
                <a:spcPct val="98000"/>
              </a:lnSpc>
              <a:buNone/>
            </a:pPr>
            <a:r>
              <a:rPr lang="en-US" sz="860" dirty="0">
                <a:solidFill>
                  <a:srgbClr val="475569"/>
                </a:solidFill>
                <a:latin typeface="Aptos" pitchFamily="34" charset="0"/>
                <a:ea typeface="Aptos" pitchFamily="34" charset="-122"/>
                <a:cs typeface="Aptos" pitchFamily="34" charset="-120"/>
              </a:rPr>
              <a:t>use a controlled demo flow</a:t>
            </a:r>
            <a:endParaRPr lang="en-US" sz="860" dirty="0"/>
          </a:p>
        </p:txBody>
      </p:sp>
      <p:sp>
        <p:nvSpPr>
          <p:cNvPr id="25" name="Shape 22"/>
          <p:cNvSpPr/>
          <p:nvPr/>
        </p:nvSpPr>
        <p:spPr>
          <a:xfrm>
            <a:off x="9052560" y="3429000"/>
            <a:ext cx="2240280" cy="960120"/>
          </a:xfrm>
          <a:prstGeom prst="roundRect">
            <a:avLst>
              <a:gd name="adj" fmla="val 17143"/>
            </a:avLst>
          </a:prstGeom>
          <a:solidFill>
            <a:srgbClr val="FFFFFF"/>
          </a:solidFill>
          <a:ln w="10160">
            <a:solidFill>
              <a:srgbClr val="7C3AED">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6" name="Text 23"/>
          <p:cNvSpPr/>
          <p:nvPr/>
        </p:nvSpPr>
        <p:spPr>
          <a:xfrm>
            <a:off x="9217152" y="363016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Transparent output</a:t>
            </a:r>
            <a:endParaRPr lang="en-US" sz="1250" dirty="0"/>
          </a:p>
        </p:txBody>
      </p:sp>
      <p:sp>
        <p:nvSpPr>
          <p:cNvPr id="27" name="Text 24"/>
          <p:cNvSpPr/>
          <p:nvPr/>
        </p:nvSpPr>
        <p:spPr>
          <a:xfrm>
            <a:off x="9217152" y="3941064"/>
            <a:ext cx="1874520" cy="219456"/>
          </a:xfrm>
          <a:prstGeom prst="rect">
            <a:avLst/>
          </a:prstGeom>
          <a:noFill/>
          <a:ln/>
        </p:spPr>
        <p:txBody>
          <a:bodyPr wrap="square" lIns="0" tIns="0" rIns="0" bIns="0" rtlCol="0" anchor="t">
            <a:normAutofit/>
          </a:bodyPr>
          <a:lstStyle/>
          <a:p>
            <a:pPr marL="0" indent="0" algn="l">
              <a:lnSpc>
                <a:spcPct val="98000"/>
              </a:lnSpc>
              <a:buNone/>
            </a:pPr>
            <a:r>
              <a:rPr lang="en-US" sz="860" dirty="0">
                <a:solidFill>
                  <a:srgbClr val="475569"/>
                </a:solidFill>
                <a:latin typeface="Aptos" pitchFamily="34" charset="0"/>
                <a:ea typeface="Aptos" pitchFamily="34" charset="-122"/>
                <a:cs typeface="Aptos" pitchFamily="34" charset="-120"/>
              </a:rPr>
              <a:t>show provenance and data quality</a:t>
            </a:r>
            <a:endParaRPr lang="en-US" sz="86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16A34A">
              <a:alpha val="96000"/>
            </a:srgbClr>
          </a:solidFill>
          <a:ln w="12700">
            <a:solidFill>
              <a:srgbClr val="16A34A">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rgbClr val="FFFFFF"/>
                </a:solidFill>
                <a:latin typeface="Aptos" pitchFamily="34" charset="0"/>
                <a:ea typeface="Aptos" pitchFamily="34" charset="-122"/>
                <a:cs typeface="Aptos" pitchFamily="34" charset="-120"/>
              </a:rPr>
              <a:t>LEARNINGS</a:t>
            </a:r>
            <a:endParaRPr lang="en-US" sz="850" dirty="0"/>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FFFFFF"/>
                </a:solidFill>
                <a:latin typeface="Aptos Display" pitchFamily="34" charset="0"/>
                <a:ea typeface="Aptos Display" pitchFamily="34" charset="-122"/>
                <a:cs typeface="Aptos Display" pitchFamily="34" charset="-120"/>
              </a:rPr>
              <a:t>Real datasets are messier</a:t>
            </a:r>
            <a:endParaRPr lang="en-US" sz="4000" dirty="0"/>
          </a:p>
          <a:p>
            <a:pPr marL="0" indent="0" algn="l">
              <a:lnSpc>
                <a:spcPct val="86000"/>
              </a:lnSpc>
              <a:buNone/>
            </a:pPr>
            <a:r>
              <a:rPr lang="en-US" sz="4000" b="1" dirty="0">
                <a:solidFill>
                  <a:srgbClr val="FFFFFF"/>
                </a:solidFill>
                <a:latin typeface="Aptos Display" pitchFamily="34" charset="0"/>
                <a:ea typeface="Aptos Display" pitchFamily="34" charset="-122"/>
                <a:cs typeface="Aptos Display" pitchFamily="34" charset="-120"/>
              </a:rPr>
              <a:t>than sample data.</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9FB2CB"/>
                </a:solidFill>
                <a:latin typeface="Aptos" pitchFamily="34" charset="0"/>
                <a:ea typeface="Aptos" pitchFamily="34" charset="-122"/>
                <a:cs typeface="Aptos" pitchFamily="34" charset="-120"/>
              </a:rPr>
              <a:t>The most valuable learning was not about adding features. It was about making the prototype handle realistic files better.</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9FB2CB"/>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9FB2CB"/>
                </a:solidFill>
                <a:latin typeface="Aptos" pitchFamily="34" charset="0"/>
                <a:ea typeface="Aptos" pitchFamily="34" charset="-122"/>
                <a:cs typeface="Aptos" pitchFamily="34" charset="-120"/>
              </a:rPr>
              <a:t>13</a:t>
            </a:r>
            <a:endParaRPr lang="en-US" sz="950" dirty="0"/>
          </a:p>
        </p:txBody>
      </p:sp>
      <p:sp>
        <p:nvSpPr>
          <p:cNvPr id="9" name="Shape 6"/>
          <p:cNvSpPr/>
          <p:nvPr/>
        </p:nvSpPr>
        <p:spPr>
          <a:xfrm>
            <a:off x="566928" y="6382512"/>
            <a:ext cx="11064240" cy="0"/>
          </a:xfrm>
          <a:prstGeom prst="line">
            <a:avLst/>
          </a:prstGeom>
          <a:noFill/>
          <a:ln w="8890">
            <a:solidFill>
              <a:srgbClr val="31465E">
                <a:alpha val="76000"/>
              </a:srgbClr>
            </a:solidFill>
            <a:prstDash val="solid"/>
          </a:ln>
        </p:spPr>
        <p:txBody>
          <a:bodyPr/>
          <a:lstStyle/>
          <a:p>
            <a:endParaRPr lang="de-DE"/>
          </a:p>
        </p:txBody>
      </p:sp>
      <p:sp>
        <p:nvSpPr>
          <p:cNvPr id="10" name="Shape 7"/>
          <p:cNvSpPr/>
          <p:nvPr/>
        </p:nvSpPr>
        <p:spPr>
          <a:xfrm>
            <a:off x="6583680" y="914400"/>
            <a:ext cx="4572000" cy="749808"/>
          </a:xfrm>
          <a:prstGeom prst="roundRect">
            <a:avLst>
              <a:gd name="adj" fmla="val 21951"/>
            </a:avLst>
          </a:prstGeom>
          <a:solidFill>
            <a:srgbClr val="0E1C2D"/>
          </a:solidFill>
          <a:ln w="10160">
            <a:solidFill>
              <a:srgbClr val="2563EB">
                <a:alpha val="80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1" name="Text 8"/>
          <p:cNvSpPr/>
          <p:nvPr/>
        </p:nvSpPr>
        <p:spPr>
          <a:xfrm>
            <a:off x="6784848" y="1078992"/>
            <a:ext cx="1920240" cy="201168"/>
          </a:xfrm>
          <a:prstGeom prst="rect">
            <a:avLst/>
          </a:prstGeom>
          <a:noFill/>
          <a:ln/>
        </p:spPr>
        <p:txBody>
          <a:bodyPr wrap="square" lIns="0" tIns="0" rIns="0" bIns="0" rtlCol="0" anchor="t">
            <a:normAutofit/>
          </a:bodyPr>
          <a:lstStyle/>
          <a:p>
            <a:pPr marL="0" indent="0" algn="l">
              <a:lnSpc>
                <a:spcPct val="98000"/>
              </a:lnSpc>
              <a:buNone/>
            </a:pPr>
            <a:r>
              <a:rPr lang="en-US" sz="1400" b="1" dirty="0">
                <a:solidFill>
                  <a:srgbClr val="FFFFFF"/>
                </a:solidFill>
                <a:latin typeface="Aptos" pitchFamily="34" charset="0"/>
                <a:ea typeface="Aptos" pitchFamily="34" charset="-122"/>
                <a:cs typeface="Aptos" pitchFamily="34" charset="-120"/>
              </a:rPr>
              <a:t>Column names differ</a:t>
            </a:r>
            <a:endParaRPr lang="en-US" sz="1400" dirty="0"/>
          </a:p>
        </p:txBody>
      </p:sp>
      <p:sp>
        <p:nvSpPr>
          <p:cNvPr id="12" name="Text 9"/>
          <p:cNvSpPr/>
          <p:nvPr/>
        </p:nvSpPr>
        <p:spPr>
          <a:xfrm>
            <a:off x="8942832" y="1133856"/>
            <a:ext cx="1828800" cy="146304"/>
          </a:xfrm>
          <a:prstGeom prst="rect">
            <a:avLst/>
          </a:prstGeom>
          <a:noFill/>
          <a:ln/>
        </p:spPr>
        <p:txBody>
          <a:bodyPr wrap="square" lIns="0" tIns="0" rIns="0" bIns="0" rtlCol="0" anchor="t">
            <a:normAutofit/>
          </a:bodyPr>
          <a:lstStyle/>
          <a:p>
            <a:pPr marL="0" indent="0" algn="r">
              <a:lnSpc>
                <a:spcPct val="98000"/>
              </a:lnSpc>
              <a:buNone/>
            </a:pPr>
            <a:r>
              <a:rPr lang="en-US" sz="920" dirty="0">
                <a:solidFill>
                  <a:srgbClr val="9FB2CB"/>
                </a:solidFill>
                <a:latin typeface="Aptos" pitchFamily="34" charset="0"/>
                <a:ea typeface="Aptos" pitchFamily="34" charset="-122"/>
                <a:cs typeface="Aptos" pitchFamily="34" charset="-120"/>
              </a:rPr>
              <a:t>product_name, item, Artikel, Beschreibung</a:t>
            </a:r>
            <a:endParaRPr lang="en-US" sz="920" dirty="0"/>
          </a:p>
        </p:txBody>
      </p:sp>
      <p:sp>
        <p:nvSpPr>
          <p:cNvPr id="13" name="Shape 10"/>
          <p:cNvSpPr/>
          <p:nvPr/>
        </p:nvSpPr>
        <p:spPr>
          <a:xfrm>
            <a:off x="6583680" y="1920240"/>
            <a:ext cx="4572000" cy="749808"/>
          </a:xfrm>
          <a:prstGeom prst="roundRect">
            <a:avLst>
              <a:gd name="adj" fmla="val 21951"/>
            </a:avLst>
          </a:prstGeom>
          <a:solidFill>
            <a:srgbClr val="0E1C2D"/>
          </a:solidFill>
          <a:ln w="10160">
            <a:solidFill>
              <a:srgbClr val="06B6D4">
                <a:alpha val="80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4" name="Text 11"/>
          <p:cNvSpPr/>
          <p:nvPr/>
        </p:nvSpPr>
        <p:spPr>
          <a:xfrm>
            <a:off x="6784848" y="2084832"/>
            <a:ext cx="1920240" cy="201168"/>
          </a:xfrm>
          <a:prstGeom prst="rect">
            <a:avLst/>
          </a:prstGeom>
          <a:noFill/>
          <a:ln/>
        </p:spPr>
        <p:txBody>
          <a:bodyPr wrap="square" lIns="0" tIns="0" rIns="0" bIns="0" rtlCol="0" anchor="t">
            <a:normAutofit/>
          </a:bodyPr>
          <a:lstStyle/>
          <a:p>
            <a:pPr marL="0" indent="0" algn="l">
              <a:lnSpc>
                <a:spcPct val="98000"/>
              </a:lnSpc>
              <a:buNone/>
            </a:pPr>
            <a:r>
              <a:rPr lang="en-US" sz="1400" b="1" dirty="0">
                <a:solidFill>
                  <a:srgbClr val="FFFFFF"/>
                </a:solidFill>
                <a:latin typeface="Aptos" pitchFamily="34" charset="0"/>
                <a:ea typeface="Aptos" pitchFamily="34" charset="-122"/>
                <a:cs typeface="Aptos" pitchFamily="34" charset="-120"/>
              </a:rPr>
              <a:t>Formats differ</a:t>
            </a:r>
            <a:endParaRPr lang="en-US" sz="1400" dirty="0"/>
          </a:p>
        </p:txBody>
      </p:sp>
      <p:sp>
        <p:nvSpPr>
          <p:cNvPr id="15" name="Text 12"/>
          <p:cNvSpPr/>
          <p:nvPr/>
        </p:nvSpPr>
        <p:spPr>
          <a:xfrm>
            <a:off x="8942832" y="2139696"/>
            <a:ext cx="1828800" cy="146304"/>
          </a:xfrm>
          <a:prstGeom prst="rect">
            <a:avLst/>
          </a:prstGeom>
          <a:noFill/>
          <a:ln/>
        </p:spPr>
        <p:txBody>
          <a:bodyPr wrap="square" lIns="0" tIns="0" rIns="0" bIns="0" rtlCol="0" anchor="t">
            <a:normAutofit/>
          </a:bodyPr>
          <a:lstStyle/>
          <a:p>
            <a:pPr marL="0" indent="0" algn="r">
              <a:lnSpc>
                <a:spcPct val="98000"/>
              </a:lnSpc>
              <a:buNone/>
            </a:pPr>
            <a:r>
              <a:rPr lang="en-US" sz="920" dirty="0">
                <a:solidFill>
                  <a:srgbClr val="9FB2CB"/>
                </a:solidFill>
                <a:latin typeface="Aptos" pitchFamily="34" charset="0"/>
                <a:ea typeface="Aptos" pitchFamily="34" charset="-122"/>
                <a:cs typeface="Aptos" pitchFamily="34" charset="-120"/>
              </a:rPr>
              <a:t>dates, decimals, CSV delimiters</a:t>
            </a:r>
            <a:endParaRPr lang="en-US" sz="920" dirty="0"/>
          </a:p>
        </p:txBody>
      </p:sp>
      <p:sp>
        <p:nvSpPr>
          <p:cNvPr id="16" name="Shape 13"/>
          <p:cNvSpPr/>
          <p:nvPr/>
        </p:nvSpPr>
        <p:spPr>
          <a:xfrm>
            <a:off x="6583680" y="2926080"/>
            <a:ext cx="4572000" cy="749808"/>
          </a:xfrm>
          <a:prstGeom prst="roundRect">
            <a:avLst>
              <a:gd name="adj" fmla="val 21951"/>
            </a:avLst>
          </a:prstGeom>
          <a:solidFill>
            <a:srgbClr val="0E1C2D"/>
          </a:solidFill>
          <a:ln w="10160">
            <a:solidFill>
              <a:srgbClr val="F59E0B">
                <a:alpha val="80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7" name="Text 14"/>
          <p:cNvSpPr/>
          <p:nvPr/>
        </p:nvSpPr>
        <p:spPr>
          <a:xfrm>
            <a:off x="6784848" y="3090672"/>
            <a:ext cx="1920240" cy="201168"/>
          </a:xfrm>
          <a:prstGeom prst="rect">
            <a:avLst/>
          </a:prstGeom>
          <a:noFill/>
          <a:ln/>
        </p:spPr>
        <p:txBody>
          <a:bodyPr wrap="square" lIns="0" tIns="0" rIns="0" bIns="0" rtlCol="0" anchor="t">
            <a:normAutofit/>
          </a:bodyPr>
          <a:lstStyle/>
          <a:p>
            <a:pPr marL="0" indent="0" algn="l">
              <a:lnSpc>
                <a:spcPct val="98000"/>
              </a:lnSpc>
              <a:buNone/>
            </a:pPr>
            <a:r>
              <a:rPr lang="en-US" sz="1400" b="1" dirty="0">
                <a:solidFill>
                  <a:srgbClr val="FFFFFF"/>
                </a:solidFill>
                <a:latin typeface="Aptos" pitchFamily="34" charset="0"/>
                <a:ea typeface="Aptos" pitchFamily="34" charset="-122"/>
                <a:cs typeface="Aptos" pitchFamily="34" charset="-120"/>
              </a:rPr>
              <a:t>Missing values happen</a:t>
            </a:r>
            <a:endParaRPr lang="en-US" sz="1400" dirty="0"/>
          </a:p>
        </p:txBody>
      </p:sp>
      <p:sp>
        <p:nvSpPr>
          <p:cNvPr id="18" name="Text 15"/>
          <p:cNvSpPr/>
          <p:nvPr/>
        </p:nvSpPr>
        <p:spPr>
          <a:xfrm>
            <a:off x="8942832" y="3145536"/>
            <a:ext cx="1828800" cy="146304"/>
          </a:xfrm>
          <a:prstGeom prst="rect">
            <a:avLst/>
          </a:prstGeom>
          <a:noFill/>
          <a:ln/>
        </p:spPr>
        <p:txBody>
          <a:bodyPr wrap="square" lIns="0" tIns="0" rIns="0" bIns="0" rtlCol="0" anchor="t">
            <a:normAutofit/>
          </a:bodyPr>
          <a:lstStyle/>
          <a:p>
            <a:pPr marL="0" indent="0" algn="r">
              <a:lnSpc>
                <a:spcPct val="98000"/>
              </a:lnSpc>
              <a:buNone/>
            </a:pPr>
            <a:r>
              <a:rPr lang="en-US" sz="920" dirty="0">
                <a:solidFill>
                  <a:srgbClr val="9FB2CB"/>
                </a:solidFill>
                <a:latin typeface="Aptos" pitchFamily="34" charset="0"/>
                <a:ea typeface="Aptos" pitchFamily="34" charset="-122"/>
                <a:cs typeface="Aptos" pitchFamily="34" charset="-120"/>
              </a:rPr>
              <a:t>quantity or revenue can be incomplete</a:t>
            </a:r>
            <a:endParaRPr lang="en-US" sz="920" dirty="0"/>
          </a:p>
        </p:txBody>
      </p:sp>
      <p:sp>
        <p:nvSpPr>
          <p:cNvPr id="19" name="Shape 16"/>
          <p:cNvSpPr/>
          <p:nvPr/>
        </p:nvSpPr>
        <p:spPr>
          <a:xfrm>
            <a:off x="6583680" y="3931920"/>
            <a:ext cx="4572000" cy="749808"/>
          </a:xfrm>
          <a:prstGeom prst="roundRect">
            <a:avLst>
              <a:gd name="adj" fmla="val 21951"/>
            </a:avLst>
          </a:prstGeom>
          <a:solidFill>
            <a:srgbClr val="0E1C2D"/>
          </a:solidFill>
          <a:ln w="10160">
            <a:solidFill>
              <a:srgbClr val="16A34A">
                <a:alpha val="80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0" name="Text 17"/>
          <p:cNvSpPr/>
          <p:nvPr/>
        </p:nvSpPr>
        <p:spPr>
          <a:xfrm>
            <a:off x="6784848" y="4096512"/>
            <a:ext cx="1920240" cy="201168"/>
          </a:xfrm>
          <a:prstGeom prst="rect">
            <a:avLst/>
          </a:prstGeom>
          <a:noFill/>
          <a:ln/>
        </p:spPr>
        <p:txBody>
          <a:bodyPr wrap="square" lIns="0" tIns="0" rIns="0" bIns="0" rtlCol="0" anchor="t">
            <a:normAutofit/>
          </a:bodyPr>
          <a:lstStyle/>
          <a:p>
            <a:pPr marL="0" indent="0" algn="l">
              <a:lnSpc>
                <a:spcPct val="98000"/>
              </a:lnSpc>
              <a:buNone/>
            </a:pPr>
            <a:r>
              <a:rPr lang="en-US" sz="1400" b="1" dirty="0">
                <a:solidFill>
                  <a:srgbClr val="FFFFFF"/>
                </a:solidFill>
                <a:latin typeface="Aptos" pitchFamily="34" charset="0"/>
                <a:ea typeface="Aptos" pitchFamily="34" charset="-122"/>
                <a:cs typeface="Aptos" pitchFamily="34" charset="-120"/>
              </a:rPr>
              <a:t>Validation matters</a:t>
            </a:r>
            <a:endParaRPr lang="en-US" sz="1400" dirty="0"/>
          </a:p>
        </p:txBody>
      </p:sp>
      <p:sp>
        <p:nvSpPr>
          <p:cNvPr id="21" name="Text 18"/>
          <p:cNvSpPr/>
          <p:nvPr/>
        </p:nvSpPr>
        <p:spPr>
          <a:xfrm>
            <a:off x="8942832" y="4151376"/>
            <a:ext cx="1828800" cy="146304"/>
          </a:xfrm>
          <a:prstGeom prst="rect">
            <a:avLst/>
          </a:prstGeom>
          <a:noFill/>
          <a:ln/>
        </p:spPr>
        <p:txBody>
          <a:bodyPr wrap="square" lIns="0" tIns="0" rIns="0" bIns="0" rtlCol="0" anchor="t">
            <a:normAutofit/>
          </a:bodyPr>
          <a:lstStyle/>
          <a:p>
            <a:pPr marL="0" indent="0" algn="r">
              <a:lnSpc>
                <a:spcPct val="98000"/>
              </a:lnSpc>
              <a:buNone/>
            </a:pPr>
            <a:r>
              <a:rPr lang="en-US" sz="920" dirty="0">
                <a:solidFill>
                  <a:srgbClr val="9FB2CB"/>
                </a:solidFill>
                <a:latin typeface="Aptos" pitchFamily="34" charset="0"/>
                <a:ea typeface="Aptos" pitchFamily="34" charset="-122"/>
                <a:cs typeface="Aptos" pitchFamily="34" charset="-120"/>
              </a:rPr>
              <a:t>bad data should not produce confident answers</a:t>
            </a:r>
            <a:endParaRPr lang="en-US" sz="92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5" y="0"/>
            <a:ext cx="12191695" cy="6858000"/>
          </a:xfrm>
          <a:prstGeom prst="rect">
            <a:avLst/>
          </a:prstGeom>
        </p:spPr>
      </p:pic>
      <p:sp>
        <p:nvSpPr>
          <p:cNvPr id="3" name="Shape 0"/>
          <p:cNvSpPr/>
          <p:nvPr/>
        </p:nvSpPr>
        <p:spPr>
          <a:xfrm>
            <a:off x="658368" y="337312"/>
            <a:ext cx="2560320" cy="347472"/>
          </a:xfrm>
          <a:prstGeom prst="roundRect">
            <a:avLst>
              <a:gd name="adj" fmla="val 47368"/>
            </a:avLst>
          </a:prstGeom>
          <a:solidFill>
            <a:srgbClr val="2563EB">
              <a:alpha val="92000"/>
            </a:srgbClr>
          </a:solidFill>
          <a:ln w="12700">
            <a:solidFill>
              <a:srgbClr val="2563EB">
                <a:alpha val="0"/>
              </a:srgbClr>
            </a:solidFill>
            <a:prstDash val="solid"/>
          </a:ln>
        </p:spPr>
        <p:txBody>
          <a:bodyPr/>
          <a:lstStyle/>
          <a:p>
            <a:endParaRPr lang="de-DE"/>
          </a:p>
        </p:txBody>
      </p:sp>
      <p:sp>
        <p:nvSpPr>
          <p:cNvPr id="4" name="Text 1"/>
          <p:cNvSpPr/>
          <p:nvPr/>
        </p:nvSpPr>
        <p:spPr>
          <a:xfrm>
            <a:off x="676656" y="411480"/>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chemeClr val="bg1"/>
                </a:solidFill>
                <a:latin typeface="Aptos" pitchFamily="34" charset="0"/>
                <a:ea typeface="Aptos" pitchFamily="34" charset="-122"/>
                <a:cs typeface="Aptos" pitchFamily="34" charset="-120"/>
              </a:rPr>
              <a:t>CURRENT</a:t>
            </a:r>
            <a:r>
              <a:rPr lang="en-US" sz="850" b="1" dirty="0">
                <a:solidFill>
                  <a:srgbClr val="2563EB"/>
                </a:solidFill>
                <a:latin typeface="Aptos" pitchFamily="34" charset="0"/>
                <a:ea typeface="Aptos" pitchFamily="34" charset="-122"/>
                <a:cs typeface="Aptos" pitchFamily="34" charset="-120"/>
              </a:rPr>
              <a:t> </a:t>
            </a:r>
            <a:r>
              <a:rPr lang="en-US" sz="850" b="1" dirty="0">
                <a:solidFill>
                  <a:schemeClr val="bg1"/>
                </a:solidFill>
                <a:latin typeface="Aptos" pitchFamily="34" charset="0"/>
                <a:ea typeface="Aptos" pitchFamily="34" charset="-122"/>
                <a:cs typeface="Aptos" pitchFamily="34" charset="-120"/>
              </a:rPr>
              <a:t>CHALLENGES</a:t>
            </a:r>
            <a:endParaRPr lang="en-US" sz="850" dirty="0">
              <a:solidFill>
                <a:schemeClr val="bg1"/>
              </a:solidFill>
            </a:endParaRPr>
          </a:p>
        </p:txBody>
      </p:sp>
      <p:sp>
        <p:nvSpPr>
          <p:cNvPr id="5" name="Text 2"/>
          <p:cNvSpPr/>
          <p:nvPr/>
        </p:nvSpPr>
        <p:spPr>
          <a:xfrm>
            <a:off x="731520" y="942848"/>
            <a:ext cx="5669280" cy="2019808"/>
          </a:xfrm>
          <a:prstGeom prst="rect">
            <a:avLst/>
          </a:prstGeom>
          <a:noFill/>
          <a:ln/>
        </p:spPr>
        <p:txBody>
          <a:bodyPr wrap="square" lIns="0" tIns="0" rIns="0" bIns="0" rtlCol="0" anchor="t">
            <a:normAutofit lnSpcReduction="10000"/>
          </a:bodyPr>
          <a:lstStyle/>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The hard part is not the chart.</a:t>
            </a:r>
            <a:endParaRPr lang="en-US" sz="4000" dirty="0"/>
          </a:p>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It is trustworthy input handling.</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475569"/>
                </a:solidFill>
                <a:latin typeface="Aptos" pitchFamily="34" charset="0"/>
                <a:ea typeface="Aptos" pitchFamily="34" charset="-122"/>
                <a:cs typeface="Aptos" pitchFamily="34" charset="-120"/>
              </a:rPr>
              <a:t>A sales dashboard looks simple, but correct input interpretation is the basis for every valid result.</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475569"/>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475569"/>
                </a:solidFill>
                <a:latin typeface="Aptos" pitchFamily="34" charset="0"/>
                <a:ea typeface="Aptos" pitchFamily="34" charset="-122"/>
                <a:cs typeface="Aptos" pitchFamily="34" charset="-120"/>
              </a:rPr>
              <a:t>14</a:t>
            </a:r>
            <a:endParaRPr lang="en-US" sz="950" dirty="0"/>
          </a:p>
        </p:txBody>
      </p:sp>
      <p:sp>
        <p:nvSpPr>
          <p:cNvPr id="9" name="Shape 6"/>
          <p:cNvSpPr/>
          <p:nvPr/>
        </p:nvSpPr>
        <p:spPr>
          <a:xfrm>
            <a:off x="566928" y="6382512"/>
            <a:ext cx="11064240" cy="0"/>
          </a:xfrm>
          <a:prstGeom prst="line">
            <a:avLst/>
          </a:prstGeom>
          <a:noFill/>
          <a:ln w="8890">
            <a:solidFill>
              <a:srgbClr val="CBD5E1">
                <a:alpha val="76000"/>
              </a:srgbClr>
            </a:solidFill>
            <a:prstDash val="solid"/>
          </a:ln>
        </p:spPr>
        <p:txBody>
          <a:bodyPr/>
          <a:lstStyle/>
          <a:p>
            <a:endParaRPr lang="de-DE"/>
          </a:p>
        </p:txBody>
      </p:sp>
      <p:sp>
        <p:nvSpPr>
          <p:cNvPr id="10" name="Shape 7"/>
          <p:cNvSpPr/>
          <p:nvPr/>
        </p:nvSpPr>
        <p:spPr>
          <a:xfrm>
            <a:off x="822960" y="4434840"/>
            <a:ext cx="2331720" cy="868680"/>
          </a:xfrm>
          <a:prstGeom prst="roundRect">
            <a:avLst>
              <a:gd name="adj" fmla="val 18947"/>
            </a:avLst>
          </a:prstGeom>
          <a:solidFill>
            <a:srgbClr val="FFFFFF"/>
          </a:solidFill>
          <a:ln w="10160">
            <a:solidFill>
              <a:srgbClr val="EF4444">
                <a:alpha val="6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1" name="Text 8"/>
          <p:cNvSpPr/>
          <p:nvPr/>
        </p:nvSpPr>
        <p:spPr>
          <a:xfrm>
            <a:off x="969264" y="4599432"/>
            <a:ext cx="1874520" cy="201168"/>
          </a:xfrm>
          <a:prstGeom prst="rect">
            <a:avLst/>
          </a:prstGeom>
          <a:noFill/>
          <a:ln/>
        </p:spPr>
        <p:txBody>
          <a:bodyPr wrap="square" lIns="0" tIns="0" rIns="0" bIns="0" rtlCol="0" anchor="t">
            <a:normAutofit/>
          </a:bodyPr>
          <a:lstStyle/>
          <a:p>
            <a:pPr marL="0" indent="0" algn="l">
              <a:lnSpc>
                <a:spcPct val="98000"/>
              </a:lnSpc>
              <a:buNone/>
            </a:pPr>
            <a:r>
              <a:rPr lang="en-US" sz="1200" b="1" dirty="0">
                <a:solidFill>
                  <a:srgbClr val="07111F"/>
                </a:solidFill>
                <a:latin typeface="Aptos" pitchFamily="34" charset="0"/>
                <a:ea typeface="Aptos" pitchFamily="34" charset="-122"/>
                <a:cs typeface="Aptos" pitchFamily="34" charset="-120"/>
              </a:rPr>
              <a:t>Mapping conflict</a:t>
            </a:r>
            <a:endParaRPr lang="en-US" sz="1200" dirty="0"/>
          </a:p>
        </p:txBody>
      </p:sp>
      <p:sp>
        <p:nvSpPr>
          <p:cNvPr id="12" name="Text 9"/>
          <p:cNvSpPr/>
          <p:nvPr/>
        </p:nvSpPr>
        <p:spPr>
          <a:xfrm>
            <a:off x="969264" y="4910328"/>
            <a:ext cx="1874520" cy="146304"/>
          </a:xfrm>
          <a:prstGeom prst="rect">
            <a:avLst/>
          </a:prstGeom>
          <a:noFill/>
          <a:ln/>
        </p:spPr>
        <p:txBody>
          <a:bodyPr wrap="square" lIns="0" tIns="0" rIns="0" bIns="0" rtlCol="0" anchor="t">
            <a:normAutofit/>
          </a:bodyPr>
          <a:lstStyle/>
          <a:p>
            <a:pPr marL="0" indent="0" algn="l">
              <a:lnSpc>
                <a:spcPct val="98000"/>
              </a:lnSpc>
              <a:buNone/>
            </a:pPr>
            <a:r>
              <a:rPr lang="en-US" sz="850" dirty="0">
                <a:solidFill>
                  <a:srgbClr val="475569"/>
                </a:solidFill>
                <a:latin typeface="Aptos" pitchFamily="34" charset="0"/>
                <a:ea typeface="Aptos" pitchFamily="34" charset="-122"/>
                <a:cs typeface="Aptos" pitchFamily="34" charset="-120"/>
              </a:rPr>
              <a:t>price should not become revenue</a:t>
            </a:r>
            <a:endParaRPr lang="en-US" sz="850" dirty="0"/>
          </a:p>
        </p:txBody>
      </p:sp>
      <p:sp>
        <p:nvSpPr>
          <p:cNvPr id="13" name="Shape 10"/>
          <p:cNvSpPr/>
          <p:nvPr/>
        </p:nvSpPr>
        <p:spPr>
          <a:xfrm>
            <a:off x="3611880" y="4434840"/>
            <a:ext cx="2331720" cy="868680"/>
          </a:xfrm>
          <a:prstGeom prst="roundRect">
            <a:avLst>
              <a:gd name="adj" fmla="val 18947"/>
            </a:avLst>
          </a:prstGeom>
          <a:solidFill>
            <a:srgbClr val="FFFFFF"/>
          </a:solidFill>
          <a:ln w="10160">
            <a:solidFill>
              <a:srgbClr val="F59E0B">
                <a:alpha val="6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4" name="Text 11"/>
          <p:cNvSpPr/>
          <p:nvPr/>
        </p:nvSpPr>
        <p:spPr>
          <a:xfrm>
            <a:off x="3758184" y="4599432"/>
            <a:ext cx="1874520" cy="201168"/>
          </a:xfrm>
          <a:prstGeom prst="rect">
            <a:avLst/>
          </a:prstGeom>
          <a:noFill/>
          <a:ln/>
        </p:spPr>
        <p:txBody>
          <a:bodyPr wrap="square" lIns="0" tIns="0" rIns="0" bIns="0" rtlCol="0" anchor="t">
            <a:normAutofit/>
          </a:bodyPr>
          <a:lstStyle/>
          <a:p>
            <a:pPr marL="0" indent="0" algn="l">
              <a:lnSpc>
                <a:spcPct val="98000"/>
              </a:lnSpc>
              <a:buNone/>
            </a:pPr>
            <a:r>
              <a:rPr lang="en-US" sz="1200" b="1" dirty="0">
                <a:solidFill>
                  <a:srgbClr val="07111F"/>
                </a:solidFill>
                <a:latin typeface="Aptos" pitchFamily="34" charset="0"/>
                <a:ea typeface="Aptos" pitchFamily="34" charset="-122"/>
                <a:cs typeface="Aptos" pitchFamily="34" charset="-120"/>
              </a:rPr>
              <a:t>Date parsing</a:t>
            </a:r>
            <a:endParaRPr lang="en-US" sz="1200" dirty="0"/>
          </a:p>
        </p:txBody>
      </p:sp>
      <p:sp>
        <p:nvSpPr>
          <p:cNvPr id="15" name="Text 12"/>
          <p:cNvSpPr/>
          <p:nvPr/>
        </p:nvSpPr>
        <p:spPr>
          <a:xfrm>
            <a:off x="3758184" y="4910328"/>
            <a:ext cx="1874520" cy="146304"/>
          </a:xfrm>
          <a:prstGeom prst="rect">
            <a:avLst/>
          </a:prstGeom>
          <a:noFill/>
          <a:ln/>
        </p:spPr>
        <p:txBody>
          <a:bodyPr wrap="square" lIns="0" tIns="0" rIns="0" bIns="0" rtlCol="0" anchor="t">
            <a:normAutofit/>
          </a:bodyPr>
          <a:lstStyle/>
          <a:p>
            <a:pPr marL="0" indent="0" algn="l">
              <a:lnSpc>
                <a:spcPct val="98000"/>
              </a:lnSpc>
              <a:buNone/>
            </a:pPr>
            <a:r>
              <a:rPr lang="en-US" sz="850" dirty="0">
                <a:solidFill>
                  <a:srgbClr val="475569"/>
                </a:solidFill>
                <a:latin typeface="Aptos" pitchFamily="34" charset="0"/>
                <a:ea typeface="Aptos" pitchFamily="34" charset="-122"/>
                <a:cs typeface="Aptos" pitchFamily="34" charset="-120"/>
              </a:rPr>
              <a:t>German and English formats</a:t>
            </a:r>
            <a:endParaRPr lang="en-US" sz="850" dirty="0"/>
          </a:p>
        </p:txBody>
      </p:sp>
      <p:sp>
        <p:nvSpPr>
          <p:cNvPr id="16" name="Shape 13"/>
          <p:cNvSpPr/>
          <p:nvPr/>
        </p:nvSpPr>
        <p:spPr>
          <a:xfrm>
            <a:off x="6400800" y="4434840"/>
            <a:ext cx="2331720" cy="868680"/>
          </a:xfrm>
          <a:prstGeom prst="roundRect">
            <a:avLst>
              <a:gd name="adj" fmla="val 18947"/>
            </a:avLst>
          </a:prstGeom>
          <a:solidFill>
            <a:srgbClr val="FFFFFF"/>
          </a:solidFill>
          <a:ln w="10160">
            <a:solidFill>
              <a:srgbClr val="16A34A">
                <a:alpha val="6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7" name="Text 14"/>
          <p:cNvSpPr/>
          <p:nvPr/>
        </p:nvSpPr>
        <p:spPr>
          <a:xfrm>
            <a:off x="6547104" y="4599432"/>
            <a:ext cx="1874520" cy="201168"/>
          </a:xfrm>
          <a:prstGeom prst="rect">
            <a:avLst/>
          </a:prstGeom>
          <a:noFill/>
          <a:ln/>
        </p:spPr>
        <p:txBody>
          <a:bodyPr wrap="square" lIns="0" tIns="0" rIns="0" bIns="0" rtlCol="0" anchor="t">
            <a:normAutofit/>
          </a:bodyPr>
          <a:lstStyle/>
          <a:p>
            <a:pPr marL="0" indent="0" algn="l">
              <a:lnSpc>
                <a:spcPct val="98000"/>
              </a:lnSpc>
              <a:buNone/>
            </a:pPr>
            <a:r>
              <a:rPr lang="en-US" sz="1200" b="1" dirty="0">
                <a:solidFill>
                  <a:srgbClr val="07111F"/>
                </a:solidFill>
                <a:latin typeface="Aptos" pitchFamily="34" charset="0"/>
                <a:ea typeface="Aptos" pitchFamily="34" charset="-122"/>
                <a:cs typeface="Aptos" pitchFamily="34" charset="-120"/>
              </a:rPr>
              <a:t>Revenue fallback</a:t>
            </a:r>
            <a:endParaRPr lang="en-US" sz="1200" dirty="0"/>
          </a:p>
        </p:txBody>
      </p:sp>
      <p:sp>
        <p:nvSpPr>
          <p:cNvPr id="18" name="Text 15"/>
          <p:cNvSpPr/>
          <p:nvPr/>
        </p:nvSpPr>
        <p:spPr>
          <a:xfrm>
            <a:off x="6547104" y="4910328"/>
            <a:ext cx="1874520" cy="146304"/>
          </a:xfrm>
          <a:prstGeom prst="rect">
            <a:avLst/>
          </a:prstGeom>
          <a:noFill/>
          <a:ln/>
        </p:spPr>
        <p:txBody>
          <a:bodyPr wrap="square" lIns="0" tIns="0" rIns="0" bIns="0" rtlCol="0" anchor="t">
            <a:normAutofit/>
          </a:bodyPr>
          <a:lstStyle/>
          <a:p>
            <a:pPr marL="0" indent="0" algn="l">
              <a:lnSpc>
                <a:spcPct val="98000"/>
              </a:lnSpc>
              <a:buNone/>
            </a:pPr>
            <a:r>
              <a:rPr lang="en-US" sz="850" dirty="0">
                <a:solidFill>
                  <a:srgbClr val="475569"/>
                </a:solidFill>
                <a:latin typeface="Aptos" pitchFamily="34" charset="0"/>
                <a:ea typeface="Aptos" pitchFamily="34" charset="-122"/>
                <a:cs typeface="Aptos" pitchFamily="34" charset="-120"/>
              </a:rPr>
              <a:t>revenue or quantity × unit price</a:t>
            </a:r>
            <a:endParaRPr lang="en-US" sz="850" dirty="0"/>
          </a:p>
        </p:txBody>
      </p:sp>
      <p:sp>
        <p:nvSpPr>
          <p:cNvPr id="19" name="Shape 16"/>
          <p:cNvSpPr/>
          <p:nvPr/>
        </p:nvSpPr>
        <p:spPr>
          <a:xfrm>
            <a:off x="9189720" y="4434840"/>
            <a:ext cx="2331720" cy="868680"/>
          </a:xfrm>
          <a:prstGeom prst="roundRect">
            <a:avLst>
              <a:gd name="adj" fmla="val 18947"/>
            </a:avLst>
          </a:prstGeom>
          <a:solidFill>
            <a:srgbClr val="FFFFFF"/>
          </a:solidFill>
          <a:ln w="10160">
            <a:solidFill>
              <a:srgbClr val="7C3AED">
                <a:alpha val="62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0" name="Text 17"/>
          <p:cNvSpPr/>
          <p:nvPr/>
        </p:nvSpPr>
        <p:spPr>
          <a:xfrm>
            <a:off x="9336024" y="4599432"/>
            <a:ext cx="1874520" cy="201168"/>
          </a:xfrm>
          <a:prstGeom prst="rect">
            <a:avLst/>
          </a:prstGeom>
          <a:noFill/>
          <a:ln/>
        </p:spPr>
        <p:txBody>
          <a:bodyPr wrap="square" lIns="0" tIns="0" rIns="0" bIns="0" rtlCol="0" anchor="t">
            <a:normAutofit/>
          </a:bodyPr>
          <a:lstStyle/>
          <a:p>
            <a:pPr marL="0" indent="0" algn="l">
              <a:lnSpc>
                <a:spcPct val="98000"/>
              </a:lnSpc>
              <a:buNone/>
            </a:pPr>
            <a:r>
              <a:rPr lang="en-US" sz="1200" b="1" dirty="0">
                <a:solidFill>
                  <a:srgbClr val="07111F"/>
                </a:solidFill>
                <a:latin typeface="Aptos" pitchFamily="34" charset="0"/>
                <a:ea typeface="Aptos" pitchFamily="34" charset="-122"/>
                <a:cs typeface="Aptos" pitchFamily="34" charset="-120"/>
              </a:rPr>
              <a:t>Chart validity</a:t>
            </a:r>
            <a:endParaRPr lang="en-US" sz="1200" dirty="0"/>
          </a:p>
        </p:txBody>
      </p:sp>
      <p:sp>
        <p:nvSpPr>
          <p:cNvPr id="21" name="Text 18"/>
          <p:cNvSpPr/>
          <p:nvPr/>
        </p:nvSpPr>
        <p:spPr>
          <a:xfrm>
            <a:off x="9336024" y="4910328"/>
            <a:ext cx="1874520" cy="146304"/>
          </a:xfrm>
          <a:prstGeom prst="rect">
            <a:avLst/>
          </a:prstGeom>
          <a:noFill/>
          <a:ln/>
        </p:spPr>
        <p:txBody>
          <a:bodyPr wrap="square" lIns="0" tIns="0" rIns="0" bIns="0" rtlCol="0" anchor="t">
            <a:normAutofit/>
          </a:bodyPr>
          <a:lstStyle/>
          <a:p>
            <a:pPr marL="0" indent="0" algn="l">
              <a:lnSpc>
                <a:spcPct val="98000"/>
              </a:lnSpc>
              <a:buNone/>
            </a:pPr>
            <a:r>
              <a:rPr lang="en-US" sz="850" dirty="0">
                <a:solidFill>
                  <a:srgbClr val="475569"/>
                </a:solidFill>
                <a:latin typeface="Aptos" pitchFamily="34" charset="0"/>
                <a:ea typeface="Aptos" pitchFamily="34" charset="-122"/>
                <a:cs typeface="Aptos" pitchFamily="34" charset="-120"/>
              </a:rPr>
              <a:t>no chart without valid data</a:t>
            </a:r>
            <a:endParaRPr lang="en-US" sz="850" dirty="0"/>
          </a:p>
        </p:txBody>
      </p:sp>
      <p:sp>
        <p:nvSpPr>
          <p:cNvPr id="22" name="Shape 19"/>
          <p:cNvSpPr/>
          <p:nvPr/>
        </p:nvSpPr>
        <p:spPr>
          <a:xfrm>
            <a:off x="7040880" y="960120"/>
            <a:ext cx="3977640" cy="1965960"/>
          </a:xfrm>
          <a:prstGeom prst="roundRect">
            <a:avLst>
              <a:gd name="adj" fmla="val 8372"/>
            </a:avLst>
          </a:prstGeom>
          <a:solidFill>
            <a:srgbClr val="FFFFFF"/>
          </a:solidFill>
          <a:ln w="10160">
            <a:solidFill>
              <a:srgbClr val="D8E2F0"/>
            </a:solidFill>
            <a:prstDash val="solid"/>
          </a:ln>
          <a:effectLst>
            <a:outerShdw blurRad="22860" dist="50800" dir="2700000" algn="bl" rotWithShape="0">
              <a:srgbClr val="000000">
                <a:alpha val="12000"/>
              </a:srgbClr>
            </a:outerShdw>
          </a:effectLst>
        </p:spPr>
        <p:txBody>
          <a:bodyPr/>
          <a:lstStyle/>
          <a:p>
            <a:endParaRPr lang="de-DE"/>
          </a:p>
        </p:txBody>
      </p:sp>
      <p:sp>
        <p:nvSpPr>
          <p:cNvPr id="23" name="Text 20"/>
          <p:cNvSpPr/>
          <p:nvPr/>
        </p:nvSpPr>
        <p:spPr>
          <a:xfrm>
            <a:off x="7360920" y="1261872"/>
            <a:ext cx="1828800" cy="182880"/>
          </a:xfrm>
          <a:prstGeom prst="rect">
            <a:avLst/>
          </a:prstGeom>
          <a:noFill/>
          <a:ln/>
        </p:spPr>
        <p:txBody>
          <a:bodyPr wrap="square" lIns="0" tIns="0" rIns="0" bIns="0" rtlCol="0" anchor="t">
            <a:normAutofit/>
          </a:bodyPr>
          <a:lstStyle/>
          <a:p>
            <a:pPr marL="0" indent="0" algn="l">
              <a:lnSpc>
                <a:spcPct val="98000"/>
              </a:lnSpc>
              <a:buNone/>
            </a:pPr>
            <a:r>
              <a:rPr lang="en-US" sz="1500" b="1" dirty="0">
                <a:solidFill>
                  <a:srgbClr val="07111F"/>
                </a:solidFill>
                <a:latin typeface="Aptos" pitchFamily="34" charset="0"/>
                <a:ea typeface="Aptos" pitchFamily="34" charset="-122"/>
                <a:cs typeface="Aptos" pitchFamily="34" charset="-120"/>
              </a:rPr>
              <a:t>Latest improvement</a:t>
            </a:r>
            <a:endParaRPr lang="en-US" sz="1500" dirty="0"/>
          </a:p>
        </p:txBody>
      </p:sp>
      <p:sp>
        <p:nvSpPr>
          <p:cNvPr id="24" name="Text 21"/>
          <p:cNvSpPr/>
          <p:nvPr/>
        </p:nvSpPr>
        <p:spPr>
          <a:xfrm>
            <a:off x="7360920" y="1664208"/>
            <a:ext cx="3063240" cy="548640"/>
          </a:xfrm>
          <a:prstGeom prst="rect">
            <a:avLst/>
          </a:prstGeom>
          <a:noFill/>
          <a:ln/>
        </p:spPr>
        <p:txBody>
          <a:bodyPr wrap="square" lIns="0" tIns="0" rIns="0" bIns="0" rtlCol="0" anchor="t">
            <a:normAutofit/>
          </a:bodyPr>
          <a:lstStyle/>
          <a:p>
            <a:pPr marL="0" indent="0" algn="l">
              <a:lnSpc>
                <a:spcPct val="98000"/>
              </a:lnSpc>
              <a:buNone/>
            </a:pPr>
            <a:r>
              <a:rPr lang="en-US" sz="1250" dirty="0">
                <a:solidFill>
                  <a:srgbClr val="475569"/>
                </a:solidFill>
                <a:latin typeface="Aptos" pitchFamily="34" charset="0"/>
                <a:ea typeface="Aptos" pitchFamily="34" charset="-122"/>
                <a:cs typeface="Aptos" pitchFamily="34" charset="-120"/>
              </a:rPr>
              <a:t>We tested own files and refined the mapping logic so that unit price is not incorrectly interpreted as total revenue.</a:t>
            </a:r>
            <a:endParaRPr lang="en-US" sz="12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7C3AED">
              <a:alpha val="96000"/>
            </a:srgbClr>
          </a:solidFill>
          <a:ln w="12700">
            <a:solidFill>
              <a:srgbClr val="7C3AED">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rgbClr val="FFFFFF"/>
                </a:solidFill>
                <a:latin typeface="Aptos" pitchFamily="34" charset="0"/>
                <a:ea typeface="Aptos" pitchFamily="34" charset="-122"/>
                <a:cs typeface="Aptos" pitchFamily="34" charset="-120"/>
              </a:rPr>
              <a:t>REFINED FOCUS</a:t>
            </a:r>
            <a:endParaRPr lang="en-US" sz="850" dirty="0"/>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FFFFFF"/>
                </a:solidFill>
                <a:latin typeface="Aptos Display" pitchFamily="34" charset="0"/>
                <a:ea typeface="Aptos Display" pitchFamily="34" charset="-122"/>
                <a:cs typeface="Aptos Display" pitchFamily="34" charset="-120"/>
              </a:rPr>
              <a:t>Less chatbot.</a:t>
            </a:r>
            <a:endParaRPr lang="en-US" sz="4000" dirty="0"/>
          </a:p>
          <a:p>
            <a:pPr marL="0" indent="0" algn="l">
              <a:lnSpc>
                <a:spcPct val="86000"/>
              </a:lnSpc>
              <a:buNone/>
            </a:pPr>
            <a:r>
              <a:rPr lang="en-US" sz="4000" b="1" dirty="0">
                <a:solidFill>
                  <a:srgbClr val="FFFFFF"/>
                </a:solidFill>
                <a:latin typeface="Aptos Display" pitchFamily="34" charset="0"/>
                <a:ea typeface="Aptos Display" pitchFamily="34" charset="-122"/>
                <a:cs typeface="Aptos Display" pitchFamily="34" charset="-120"/>
              </a:rPr>
              <a:t>More reliable analysis.</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9FB2CB"/>
                </a:solidFill>
                <a:latin typeface="Aptos" pitchFamily="34" charset="0"/>
                <a:ea typeface="Aptos" pitchFamily="34" charset="-122"/>
                <a:cs typeface="Aptos" pitchFamily="34" charset="-120"/>
              </a:rPr>
              <a:t>The project direction did not change completely. But the focus became more precise during implementation.</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9FB2CB"/>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9FB2CB"/>
                </a:solidFill>
                <a:latin typeface="Aptos" pitchFamily="34" charset="0"/>
                <a:ea typeface="Aptos" pitchFamily="34" charset="-122"/>
                <a:cs typeface="Aptos" pitchFamily="34" charset="-120"/>
              </a:rPr>
              <a:t>15</a:t>
            </a:r>
            <a:endParaRPr lang="en-US" sz="950" dirty="0"/>
          </a:p>
        </p:txBody>
      </p:sp>
      <p:sp>
        <p:nvSpPr>
          <p:cNvPr id="9" name="Shape 6"/>
          <p:cNvSpPr/>
          <p:nvPr/>
        </p:nvSpPr>
        <p:spPr>
          <a:xfrm>
            <a:off x="566928" y="6382512"/>
            <a:ext cx="11064240" cy="0"/>
          </a:xfrm>
          <a:prstGeom prst="line">
            <a:avLst/>
          </a:prstGeom>
          <a:noFill/>
          <a:ln w="8890">
            <a:solidFill>
              <a:srgbClr val="31465E">
                <a:alpha val="76000"/>
              </a:srgbClr>
            </a:solidFill>
            <a:prstDash val="solid"/>
          </a:ln>
        </p:spPr>
        <p:txBody>
          <a:bodyPr/>
          <a:lstStyle/>
          <a:p>
            <a:endParaRPr lang="de-DE"/>
          </a:p>
        </p:txBody>
      </p:sp>
      <p:sp>
        <p:nvSpPr>
          <p:cNvPr id="10" name="Shape 7"/>
          <p:cNvSpPr/>
          <p:nvPr/>
        </p:nvSpPr>
        <p:spPr>
          <a:xfrm>
            <a:off x="6629400" y="1051560"/>
            <a:ext cx="2148840" cy="3474720"/>
          </a:xfrm>
          <a:prstGeom prst="roundRect">
            <a:avLst>
              <a:gd name="adj" fmla="val 7660"/>
            </a:avLst>
          </a:prstGeom>
          <a:solidFill>
            <a:srgbClr val="0E1C2D"/>
          </a:solidFill>
          <a:ln w="10160">
            <a:solidFill>
              <a:srgbClr val="F59E0B">
                <a:alpha val="70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1" name="Text 8"/>
          <p:cNvSpPr/>
          <p:nvPr/>
        </p:nvSpPr>
        <p:spPr>
          <a:xfrm>
            <a:off x="6903720" y="1417320"/>
            <a:ext cx="1280160" cy="210312"/>
          </a:xfrm>
          <a:prstGeom prst="rect">
            <a:avLst/>
          </a:prstGeom>
          <a:noFill/>
          <a:ln/>
        </p:spPr>
        <p:txBody>
          <a:bodyPr wrap="square" lIns="0" tIns="0" rIns="0" bIns="0" rtlCol="0" anchor="t">
            <a:normAutofit/>
          </a:bodyPr>
          <a:lstStyle/>
          <a:p>
            <a:pPr marL="0" indent="0" algn="l">
              <a:lnSpc>
                <a:spcPct val="98000"/>
              </a:lnSpc>
              <a:buNone/>
            </a:pPr>
            <a:r>
              <a:rPr lang="en-US" sz="1500" b="1" dirty="0">
                <a:solidFill>
                  <a:srgbClr val="F59E0B"/>
                </a:solidFill>
                <a:latin typeface="Aptos" pitchFamily="34" charset="0"/>
                <a:ea typeface="Aptos" pitchFamily="34" charset="-122"/>
                <a:cs typeface="Aptos" pitchFamily="34" charset="-120"/>
              </a:rPr>
              <a:t>Initial idea</a:t>
            </a:r>
            <a:endParaRPr lang="en-US" sz="1500" dirty="0"/>
          </a:p>
        </p:txBody>
      </p:sp>
      <p:sp>
        <p:nvSpPr>
          <p:cNvPr id="12" name="Text 9"/>
          <p:cNvSpPr/>
          <p:nvPr/>
        </p:nvSpPr>
        <p:spPr>
          <a:xfrm>
            <a:off x="6903720" y="1874520"/>
            <a:ext cx="1463040" cy="777240"/>
          </a:xfrm>
          <a:prstGeom prst="rect">
            <a:avLst/>
          </a:prstGeom>
          <a:noFill/>
          <a:ln/>
        </p:spPr>
        <p:txBody>
          <a:bodyPr wrap="square" lIns="0" tIns="0" rIns="0" bIns="0" rtlCol="0" anchor="t">
            <a:normAutofit/>
          </a:bodyPr>
          <a:lstStyle/>
          <a:p>
            <a:pPr marL="0" indent="0" algn="l">
              <a:lnSpc>
                <a:spcPct val="98000"/>
              </a:lnSpc>
              <a:buNone/>
            </a:pPr>
            <a:r>
              <a:rPr lang="en-US" sz="1300" dirty="0">
                <a:solidFill>
                  <a:srgbClr val="FFFFFF"/>
                </a:solidFill>
                <a:latin typeface="Aptos" pitchFamily="34" charset="0"/>
                <a:ea typeface="Aptos" pitchFamily="34" charset="-122"/>
                <a:cs typeface="Aptos" pitchFamily="34" charset="-120"/>
              </a:rPr>
              <a:t>AI-supported sales analysis with natural language questions.</a:t>
            </a:r>
            <a:endParaRPr lang="en-US" sz="1300" dirty="0"/>
          </a:p>
        </p:txBody>
      </p:sp>
      <p:sp>
        <p:nvSpPr>
          <p:cNvPr id="13" name="Shape 10"/>
          <p:cNvSpPr/>
          <p:nvPr/>
        </p:nvSpPr>
        <p:spPr>
          <a:xfrm>
            <a:off x="8915400" y="2788920"/>
            <a:ext cx="457200" cy="0"/>
          </a:xfrm>
          <a:prstGeom prst="line">
            <a:avLst/>
          </a:prstGeom>
          <a:noFill/>
          <a:ln w="20320">
            <a:solidFill>
              <a:srgbClr val="A3E635"/>
            </a:solidFill>
            <a:prstDash val="solid"/>
            <a:headEnd type="none"/>
            <a:tailEnd type="triangle"/>
          </a:ln>
        </p:spPr>
        <p:txBody>
          <a:bodyPr/>
          <a:lstStyle/>
          <a:p>
            <a:endParaRPr lang="de-DE"/>
          </a:p>
        </p:txBody>
      </p:sp>
      <p:sp>
        <p:nvSpPr>
          <p:cNvPr id="14" name="Shape 11"/>
          <p:cNvSpPr/>
          <p:nvPr/>
        </p:nvSpPr>
        <p:spPr>
          <a:xfrm>
            <a:off x="9528048" y="1051560"/>
            <a:ext cx="2148840" cy="3474720"/>
          </a:xfrm>
          <a:prstGeom prst="roundRect">
            <a:avLst>
              <a:gd name="adj" fmla="val 7660"/>
            </a:avLst>
          </a:prstGeom>
          <a:solidFill>
            <a:srgbClr val="0E1C2D"/>
          </a:solidFill>
          <a:ln w="10160">
            <a:solidFill>
              <a:srgbClr val="16A34A">
                <a:alpha val="8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5" name="Text 12"/>
          <p:cNvSpPr/>
          <p:nvPr/>
        </p:nvSpPr>
        <p:spPr>
          <a:xfrm>
            <a:off x="9802368" y="1417320"/>
            <a:ext cx="1280160" cy="210312"/>
          </a:xfrm>
          <a:prstGeom prst="rect">
            <a:avLst/>
          </a:prstGeom>
          <a:noFill/>
          <a:ln/>
        </p:spPr>
        <p:txBody>
          <a:bodyPr wrap="square" lIns="0" tIns="0" rIns="0" bIns="0" rtlCol="0" anchor="t">
            <a:normAutofit/>
          </a:bodyPr>
          <a:lstStyle/>
          <a:p>
            <a:pPr marL="0" indent="0" algn="l">
              <a:lnSpc>
                <a:spcPct val="98000"/>
              </a:lnSpc>
              <a:buNone/>
            </a:pPr>
            <a:r>
              <a:rPr lang="en-US" sz="1500" b="1" dirty="0">
                <a:solidFill>
                  <a:srgbClr val="16A34A"/>
                </a:solidFill>
                <a:latin typeface="Aptos" pitchFamily="34" charset="0"/>
                <a:ea typeface="Aptos" pitchFamily="34" charset="-122"/>
                <a:cs typeface="Aptos" pitchFamily="34" charset="-120"/>
              </a:rPr>
              <a:t>Refined focus</a:t>
            </a:r>
            <a:endParaRPr lang="en-US" sz="1500" dirty="0"/>
          </a:p>
        </p:txBody>
      </p:sp>
      <p:sp>
        <p:nvSpPr>
          <p:cNvPr id="16" name="Text 13"/>
          <p:cNvSpPr/>
          <p:nvPr/>
        </p:nvSpPr>
        <p:spPr>
          <a:xfrm>
            <a:off x="9802368" y="1874520"/>
            <a:ext cx="1463040" cy="777240"/>
          </a:xfrm>
          <a:prstGeom prst="rect">
            <a:avLst/>
          </a:prstGeom>
          <a:noFill/>
          <a:ln/>
        </p:spPr>
        <p:txBody>
          <a:bodyPr wrap="square" lIns="0" tIns="0" rIns="0" bIns="0" rtlCol="0" anchor="t">
            <a:normAutofit/>
          </a:bodyPr>
          <a:lstStyle/>
          <a:p>
            <a:pPr marL="0" indent="0" algn="l">
              <a:lnSpc>
                <a:spcPct val="98000"/>
              </a:lnSpc>
              <a:buNone/>
            </a:pPr>
            <a:r>
              <a:rPr lang="en-US" sz="1300" dirty="0">
                <a:solidFill>
                  <a:srgbClr val="FFFFFF"/>
                </a:solidFill>
                <a:latin typeface="Aptos" pitchFamily="34" charset="0"/>
                <a:ea typeface="Aptos" pitchFamily="34" charset="-122"/>
                <a:cs typeface="Aptos" pitchFamily="34" charset="-120"/>
              </a:rPr>
              <a:t>Reliable browser-based sales analysis first. AI explanation can be added later.</a:t>
            </a:r>
            <a:endParaRPr lang="en-US" sz="13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58368" y="1005840"/>
            <a:ext cx="2560320" cy="347472"/>
          </a:xfrm>
          <a:prstGeom prst="roundRect">
            <a:avLst>
              <a:gd name="adj" fmla="val 47368"/>
            </a:avLst>
          </a:prstGeom>
          <a:solidFill>
            <a:srgbClr val="16A34A">
              <a:alpha val="92000"/>
            </a:srgbClr>
          </a:solidFill>
          <a:ln w="12700">
            <a:solidFill>
              <a:srgbClr val="16A34A">
                <a:alpha val="0"/>
              </a:srgbClr>
            </a:solidFill>
            <a:prstDash val="solid"/>
          </a:ln>
        </p:spPr>
        <p:txBody>
          <a:bodyPr/>
          <a:lstStyle/>
          <a:p>
            <a:endParaRPr lang="de-DE"/>
          </a:p>
        </p:txBody>
      </p:sp>
      <p:sp>
        <p:nvSpPr>
          <p:cNvPr id="4" name="Text 1"/>
          <p:cNvSpPr/>
          <p:nvPr/>
        </p:nvSpPr>
        <p:spPr>
          <a:xfrm>
            <a:off x="804672" y="1092708"/>
            <a:ext cx="226771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chemeClr val="bg1"/>
                </a:solidFill>
                <a:latin typeface="Aptos" pitchFamily="34" charset="0"/>
                <a:ea typeface="Aptos" pitchFamily="34" charset="-122"/>
                <a:cs typeface="Aptos" pitchFamily="34" charset="-120"/>
              </a:rPr>
              <a:t>NEXT STEPS</a:t>
            </a:r>
            <a:endParaRPr lang="en-US" sz="850" dirty="0">
              <a:solidFill>
                <a:schemeClr val="bg1"/>
              </a:solidFill>
            </a:endParaRPr>
          </a:p>
        </p:txBody>
      </p:sp>
      <p:sp>
        <p:nvSpPr>
          <p:cNvPr id="5" name="Text 2"/>
          <p:cNvSpPr/>
          <p:nvPr/>
        </p:nvSpPr>
        <p:spPr>
          <a:xfrm>
            <a:off x="658368" y="1572768"/>
            <a:ext cx="5669280" cy="1508760"/>
          </a:xfrm>
          <a:prstGeom prst="rect">
            <a:avLst/>
          </a:prstGeom>
          <a:noFill/>
          <a:ln/>
        </p:spPr>
        <p:txBody>
          <a:bodyPr wrap="square" lIns="0" tIns="0" rIns="0" bIns="0" rtlCol="0" anchor="t">
            <a:normAutofit/>
          </a:bodyPr>
          <a:lstStyle/>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Test more. Polish demo.</a:t>
            </a:r>
            <a:endParaRPr lang="en-US" sz="4000" dirty="0"/>
          </a:p>
          <a:p>
            <a:pPr marL="0" indent="0" algn="l">
              <a:lnSpc>
                <a:spcPct val="86000"/>
              </a:lnSpc>
              <a:buNone/>
            </a:pPr>
            <a:r>
              <a:rPr lang="en-US" sz="4000" b="1" dirty="0">
                <a:solidFill>
                  <a:srgbClr val="07111F"/>
                </a:solidFill>
                <a:latin typeface="Aptos Display" pitchFamily="34" charset="0"/>
                <a:ea typeface="Aptos Display" pitchFamily="34" charset="-122"/>
                <a:cs typeface="Aptos Display" pitchFamily="34" charset="-120"/>
              </a:rPr>
              <a:t>Prepare final PoC.</a:t>
            </a:r>
            <a:endParaRPr lang="en-US" sz="4000" dirty="0"/>
          </a:p>
        </p:txBody>
      </p:sp>
      <p:sp>
        <p:nvSpPr>
          <p:cNvPr id="6" name="Text 3"/>
          <p:cNvSpPr/>
          <p:nvPr/>
        </p:nvSpPr>
        <p:spPr>
          <a:xfrm>
            <a:off x="676656" y="3172968"/>
            <a:ext cx="4937760" cy="731520"/>
          </a:xfrm>
          <a:prstGeom prst="rect">
            <a:avLst/>
          </a:prstGeom>
          <a:noFill/>
          <a:ln/>
        </p:spPr>
        <p:txBody>
          <a:bodyPr wrap="square" lIns="0" tIns="0" rIns="0" bIns="0" rtlCol="0" anchor="t">
            <a:normAutofit/>
          </a:bodyPr>
          <a:lstStyle/>
          <a:p>
            <a:pPr marL="0" indent="0" algn="l">
              <a:lnSpc>
                <a:spcPct val="105000"/>
              </a:lnSpc>
              <a:buNone/>
            </a:pPr>
            <a:r>
              <a:rPr lang="en-US" sz="1550" dirty="0">
                <a:solidFill>
                  <a:srgbClr val="475569"/>
                </a:solidFill>
                <a:latin typeface="Aptos" pitchFamily="34" charset="0"/>
                <a:ea typeface="Aptos" pitchFamily="34" charset="-122"/>
                <a:cs typeface="Aptos" pitchFamily="34" charset="-120"/>
              </a:rPr>
              <a:t>The next phase focuses on robustness, presentation quality and discussion of what SMEs would actually need.</a:t>
            </a:r>
            <a:endParaRPr lang="en-US" sz="1550" dirty="0"/>
          </a:p>
        </p:txBody>
      </p:sp>
      <p:sp>
        <p:nvSpPr>
          <p:cNvPr id="7" name="Text 4"/>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475569"/>
                </a:solidFill>
                <a:latin typeface="Aptos" pitchFamily="34" charset="0"/>
                <a:ea typeface="Aptos" pitchFamily="34" charset="-122"/>
                <a:cs typeface="Aptos" pitchFamily="34" charset="-120"/>
              </a:rPr>
              <a:t>Presentation II · Interim Proof of Concept</a:t>
            </a:r>
            <a:endParaRPr lang="en-US" sz="850" dirty="0"/>
          </a:p>
        </p:txBody>
      </p:sp>
      <p:sp>
        <p:nvSpPr>
          <p:cNvPr id="8" name="Text 5"/>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475569"/>
                </a:solidFill>
                <a:latin typeface="Aptos" pitchFamily="34" charset="0"/>
                <a:ea typeface="Aptos" pitchFamily="34" charset="-122"/>
                <a:cs typeface="Aptos" pitchFamily="34" charset="-120"/>
              </a:rPr>
              <a:t>16</a:t>
            </a:r>
            <a:endParaRPr lang="en-US" sz="950" dirty="0"/>
          </a:p>
        </p:txBody>
      </p:sp>
      <p:sp>
        <p:nvSpPr>
          <p:cNvPr id="9" name="Shape 6"/>
          <p:cNvSpPr/>
          <p:nvPr/>
        </p:nvSpPr>
        <p:spPr>
          <a:xfrm>
            <a:off x="566928" y="6382512"/>
            <a:ext cx="11064240" cy="0"/>
          </a:xfrm>
          <a:prstGeom prst="line">
            <a:avLst/>
          </a:prstGeom>
          <a:noFill/>
          <a:ln w="8890">
            <a:solidFill>
              <a:srgbClr val="CBD5E1">
                <a:alpha val="76000"/>
              </a:srgbClr>
            </a:solidFill>
            <a:prstDash val="solid"/>
          </a:ln>
        </p:spPr>
        <p:txBody>
          <a:bodyPr/>
          <a:lstStyle/>
          <a:p>
            <a:endParaRPr lang="de-DE"/>
          </a:p>
        </p:txBody>
      </p:sp>
      <p:sp>
        <p:nvSpPr>
          <p:cNvPr id="10" name="Shape 7"/>
          <p:cNvSpPr/>
          <p:nvPr/>
        </p:nvSpPr>
        <p:spPr>
          <a:xfrm>
            <a:off x="6537960" y="960120"/>
            <a:ext cx="2240280" cy="960120"/>
          </a:xfrm>
          <a:prstGeom prst="roundRect">
            <a:avLst>
              <a:gd name="adj" fmla="val 17143"/>
            </a:avLst>
          </a:prstGeom>
          <a:solidFill>
            <a:srgbClr val="FFFFFF"/>
          </a:solidFill>
          <a:ln w="10160">
            <a:solidFill>
              <a:srgbClr val="2563EB">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1" name="Text 8"/>
          <p:cNvSpPr/>
          <p:nvPr/>
        </p:nvSpPr>
        <p:spPr>
          <a:xfrm>
            <a:off x="6702552" y="116128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More real datasets</a:t>
            </a:r>
            <a:endParaRPr lang="en-US" sz="1250" dirty="0"/>
          </a:p>
        </p:txBody>
      </p:sp>
      <p:sp>
        <p:nvSpPr>
          <p:cNvPr id="12" name="Text 9"/>
          <p:cNvSpPr/>
          <p:nvPr/>
        </p:nvSpPr>
        <p:spPr>
          <a:xfrm>
            <a:off x="6702552" y="1472184"/>
            <a:ext cx="1874520" cy="219456"/>
          </a:xfrm>
          <a:prstGeom prst="rect">
            <a:avLst/>
          </a:prstGeom>
          <a:noFill/>
          <a:ln/>
        </p:spPr>
        <p:txBody>
          <a:bodyPr wrap="square" lIns="0" tIns="0" rIns="0" bIns="0" rtlCol="0" anchor="t">
            <a:normAutofit/>
          </a:bodyPr>
          <a:lstStyle/>
          <a:p>
            <a:pPr marL="0" indent="0" algn="l">
              <a:lnSpc>
                <a:spcPct val="98000"/>
              </a:lnSpc>
              <a:buNone/>
            </a:pPr>
            <a:r>
              <a:rPr lang="en-US" sz="870" dirty="0">
                <a:solidFill>
                  <a:srgbClr val="475569"/>
                </a:solidFill>
                <a:latin typeface="Aptos" pitchFamily="34" charset="0"/>
                <a:ea typeface="Aptos" pitchFamily="34" charset="-122"/>
                <a:cs typeface="Aptos" pitchFamily="34" charset="-120"/>
              </a:rPr>
              <a:t>test different formats</a:t>
            </a:r>
            <a:endParaRPr lang="en-US" sz="870" dirty="0"/>
          </a:p>
        </p:txBody>
      </p:sp>
      <p:sp>
        <p:nvSpPr>
          <p:cNvPr id="13" name="Shape 10"/>
          <p:cNvSpPr/>
          <p:nvPr/>
        </p:nvSpPr>
        <p:spPr>
          <a:xfrm>
            <a:off x="9052560" y="960120"/>
            <a:ext cx="2240280" cy="960120"/>
          </a:xfrm>
          <a:prstGeom prst="roundRect">
            <a:avLst>
              <a:gd name="adj" fmla="val 17143"/>
            </a:avLst>
          </a:prstGeom>
          <a:solidFill>
            <a:srgbClr val="FFFFFF"/>
          </a:solidFill>
          <a:ln w="10160">
            <a:solidFill>
              <a:srgbClr val="2563EB">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4" name="Text 11"/>
          <p:cNvSpPr/>
          <p:nvPr/>
        </p:nvSpPr>
        <p:spPr>
          <a:xfrm>
            <a:off x="9217152" y="116128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Improve mapping</a:t>
            </a:r>
            <a:endParaRPr lang="en-US" sz="1250" dirty="0"/>
          </a:p>
        </p:txBody>
      </p:sp>
      <p:sp>
        <p:nvSpPr>
          <p:cNvPr id="15" name="Text 12"/>
          <p:cNvSpPr/>
          <p:nvPr/>
        </p:nvSpPr>
        <p:spPr>
          <a:xfrm>
            <a:off x="9217152" y="1472184"/>
            <a:ext cx="1874520" cy="219456"/>
          </a:xfrm>
          <a:prstGeom prst="rect">
            <a:avLst/>
          </a:prstGeom>
          <a:noFill/>
          <a:ln/>
        </p:spPr>
        <p:txBody>
          <a:bodyPr wrap="square" lIns="0" tIns="0" rIns="0" bIns="0" rtlCol="0" anchor="t">
            <a:normAutofit/>
          </a:bodyPr>
          <a:lstStyle/>
          <a:p>
            <a:pPr marL="0" indent="0" algn="l">
              <a:lnSpc>
                <a:spcPct val="98000"/>
              </a:lnSpc>
              <a:buNone/>
            </a:pPr>
            <a:r>
              <a:rPr lang="en-US" sz="870" dirty="0">
                <a:solidFill>
                  <a:srgbClr val="475569"/>
                </a:solidFill>
                <a:latin typeface="Aptos" pitchFamily="34" charset="0"/>
                <a:ea typeface="Aptos" pitchFamily="34" charset="-122"/>
                <a:cs typeface="Aptos" pitchFamily="34" charset="-120"/>
              </a:rPr>
              <a:t>edge cases and German columns</a:t>
            </a:r>
            <a:endParaRPr lang="en-US" sz="870" dirty="0"/>
          </a:p>
        </p:txBody>
      </p:sp>
      <p:sp>
        <p:nvSpPr>
          <p:cNvPr id="16" name="Shape 13"/>
          <p:cNvSpPr/>
          <p:nvPr/>
        </p:nvSpPr>
        <p:spPr>
          <a:xfrm>
            <a:off x="6537960" y="2194560"/>
            <a:ext cx="2240280" cy="960120"/>
          </a:xfrm>
          <a:prstGeom prst="roundRect">
            <a:avLst>
              <a:gd name="adj" fmla="val 17143"/>
            </a:avLst>
          </a:prstGeom>
          <a:solidFill>
            <a:srgbClr val="FFFFFF"/>
          </a:solidFill>
          <a:ln w="10160">
            <a:solidFill>
              <a:srgbClr val="16A34A">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7" name="Text 14"/>
          <p:cNvSpPr/>
          <p:nvPr/>
        </p:nvSpPr>
        <p:spPr>
          <a:xfrm>
            <a:off x="6702552" y="239572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Clearer errors</a:t>
            </a:r>
            <a:endParaRPr lang="en-US" sz="1250" dirty="0"/>
          </a:p>
        </p:txBody>
      </p:sp>
      <p:sp>
        <p:nvSpPr>
          <p:cNvPr id="18" name="Text 15"/>
          <p:cNvSpPr/>
          <p:nvPr/>
        </p:nvSpPr>
        <p:spPr>
          <a:xfrm>
            <a:off x="6702552" y="2706624"/>
            <a:ext cx="1874520" cy="219456"/>
          </a:xfrm>
          <a:prstGeom prst="rect">
            <a:avLst/>
          </a:prstGeom>
          <a:noFill/>
          <a:ln/>
        </p:spPr>
        <p:txBody>
          <a:bodyPr wrap="square" lIns="0" tIns="0" rIns="0" bIns="0" rtlCol="0" anchor="t">
            <a:normAutofit/>
          </a:bodyPr>
          <a:lstStyle/>
          <a:p>
            <a:pPr marL="0" indent="0" algn="l">
              <a:lnSpc>
                <a:spcPct val="98000"/>
              </a:lnSpc>
              <a:buNone/>
            </a:pPr>
            <a:r>
              <a:rPr lang="en-US" sz="870" dirty="0">
                <a:solidFill>
                  <a:srgbClr val="475569"/>
                </a:solidFill>
                <a:latin typeface="Aptos" pitchFamily="34" charset="0"/>
                <a:ea typeface="Aptos" pitchFamily="34" charset="-122"/>
                <a:cs typeface="Aptos" pitchFamily="34" charset="-120"/>
              </a:rPr>
              <a:t>helpful messages, not technical noise</a:t>
            </a:r>
            <a:endParaRPr lang="en-US" sz="870" dirty="0"/>
          </a:p>
        </p:txBody>
      </p:sp>
      <p:sp>
        <p:nvSpPr>
          <p:cNvPr id="19" name="Shape 16"/>
          <p:cNvSpPr/>
          <p:nvPr/>
        </p:nvSpPr>
        <p:spPr>
          <a:xfrm>
            <a:off x="9052560" y="2194560"/>
            <a:ext cx="2240280" cy="960120"/>
          </a:xfrm>
          <a:prstGeom prst="roundRect">
            <a:avLst>
              <a:gd name="adj" fmla="val 17143"/>
            </a:avLst>
          </a:prstGeom>
          <a:solidFill>
            <a:srgbClr val="FFFFFF"/>
          </a:solidFill>
          <a:ln w="10160">
            <a:solidFill>
              <a:srgbClr val="16A34A">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0" name="Text 17"/>
          <p:cNvSpPr/>
          <p:nvPr/>
        </p:nvSpPr>
        <p:spPr>
          <a:xfrm>
            <a:off x="9217152" y="239572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Final demo flow</a:t>
            </a:r>
            <a:endParaRPr lang="en-US" sz="1250" dirty="0"/>
          </a:p>
        </p:txBody>
      </p:sp>
      <p:sp>
        <p:nvSpPr>
          <p:cNvPr id="21" name="Text 18"/>
          <p:cNvSpPr/>
          <p:nvPr/>
        </p:nvSpPr>
        <p:spPr>
          <a:xfrm>
            <a:off x="9217152" y="2706624"/>
            <a:ext cx="1874520" cy="219456"/>
          </a:xfrm>
          <a:prstGeom prst="rect">
            <a:avLst/>
          </a:prstGeom>
          <a:noFill/>
          <a:ln/>
        </p:spPr>
        <p:txBody>
          <a:bodyPr wrap="square" lIns="0" tIns="0" rIns="0" bIns="0" rtlCol="0" anchor="t">
            <a:normAutofit/>
          </a:bodyPr>
          <a:lstStyle/>
          <a:p>
            <a:pPr marL="0" indent="0" algn="l">
              <a:lnSpc>
                <a:spcPct val="98000"/>
              </a:lnSpc>
              <a:buNone/>
            </a:pPr>
            <a:r>
              <a:rPr lang="en-US" sz="870" dirty="0">
                <a:solidFill>
                  <a:srgbClr val="475569"/>
                </a:solidFill>
                <a:latin typeface="Aptos" pitchFamily="34" charset="0"/>
                <a:ea typeface="Aptos" pitchFamily="34" charset="-122"/>
                <a:cs typeface="Aptos" pitchFamily="34" charset="-120"/>
              </a:rPr>
              <a:t>smooth and repeatable</a:t>
            </a:r>
            <a:endParaRPr lang="en-US" sz="870" dirty="0"/>
          </a:p>
        </p:txBody>
      </p:sp>
      <p:sp>
        <p:nvSpPr>
          <p:cNvPr id="22" name="Shape 19"/>
          <p:cNvSpPr/>
          <p:nvPr/>
        </p:nvSpPr>
        <p:spPr>
          <a:xfrm>
            <a:off x="6537960" y="3429000"/>
            <a:ext cx="2240280" cy="960120"/>
          </a:xfrm>
          <a:prstGeom prst="roundRect">
            <a:avLst>
              <a:gd name="adj" fmla="val 17143"/>
            </a:avLst>
          </a:prstGeom>
          <a:solidFill>
            <a:srgbClr val="FFFFFF"/>
          </a:solidFill>
          <a:ln w="10160">
            <a:solidFill>
              <a:srgbClr val="7C3AED">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3" name="Text 20"/>
          <p:cNvSpPr/>
          <p:nvPr/>
        </p:nvSpPr>
        <p:spPr>
          <a:xfrm>
            <a:off x="6702552" y="363016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Optional AI API</a:t>
            </a:r>
            <a:endParaRPr lang="en-US" sz="1250" dirty="0"/>
          </a:p>
        </p:txBody>
      </p:sp>
      <p:sp>
        <p:nvSpPr>
          <p:cNvPr id="24" name="Text 21"/>
          <p:cNvSpPr/>
          <p:nvPr/>
        </p:nvSpPr>
        <p:spPr>
          <a:xfrm>
            <a:off x="6702552" y="3941064"/>
            <a:ext cx="1874520" cy="219456"/>
          </a:xfrm>
          <a:prstGeom prst="rect">
            <a:avLst/>
          </a:prstGeom>
          <a:noFill/>
          <a:ln/>
        </p:spPr>
        <p:txBody>
          <a:bodyPr wrap="square" lIns="0" tIns="0" rIns="0" bIns="0" rtlCol="0" anchor="t">
            <a:normAutofit/>
          </a:bodyPr>
          <a:lstStyle/>
          <a:p>
            <a:pPr marL="0" indent="0" algn="l">
              <a:lnSpc>
                <a:spcPct val="98000"/>
              </a:lnSpc>
              <a:buNone/>
            </a:pPr>
            <a:r>
              <a:rPr lang="en-US" sz="870" dirty="0">
                <a:solidFill>
                  <a:srgbClr val="475569"/>
                </a:solidFill>
                <a:latin typeface="Aptos" pitchFamily="34" charset="0"/>
                <a:ea typeface="Aptos" pitchFamily="34" charset="-122"/>
                <a:cs typeface="Aptos" pitchFamily="34" charset="-120"/>
              </a:rPr>
              <a:t>future explanation extension</a:t>
            </a:r>
            <a:endParaRPr lang="en-US" sz="870" dirty="0"/>
          </a:p>
        </p:txBody>
      </p:sp>
      <p:sp>
        <p:nvSpPr>
          <p:cNvPr id="25" name="Shape 22"/>
          <p:cNvSpPr/>
          <p:nvPr/>
        </p:nvSpPr>
        <p:spPr>
          <a:xfrm>
            <a:off x="9052560" y="3429000"/>
            <a:ext cx="2240280" cy="960120"/>
          </a:xfrm>
          <a:prstGeom prst="roundRect">
            <a:avLst>
              <a:gd name="adj" fmla="val 17143"/>
            </a:avLst>
          </a:prstGeom>
          <a:solidFill>
            <a:srgbClr val="FFFFFF"/>
          </a:solidFill>
          <a:ln w="10160">
            <a:solidFill>
              <a:srgbClr val="7C3AED">
                <a:alpha val="5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26" name="Text 23"/>
          <p:cNvSpPr/>
          <p:nvPr/>
        </p:nvSpPr>
        <p:spPr>
          <a:xfrm>
            <a:off x="9217152" y="3630168"/>
            <a:ext cx="1874520" cy="201168"/>
          </a:xfrm>
          <a:prstGeom prst="rect">
            <a:avLst/>
          </a:prstGeom>
          <a:noFill/>
          <a:ln/>
        </p:spPr>
        <p:txBody>
          <a:bodyPr wrap="square" lIns="0" tIns="0" rIns="0" bIns="0" rtlCol="0" anchor="t">
            <a:normAutofit/>
          </a:bodyPr>
          <a:lstStyle/>
          <a:p>
            <a:pPr marL="0" indent="0" algn="l">
              <a:lnSpc>
                <a:spcPct val="98000"/>
              </a:lnSpc>
              <a:buNone/>
            </a:pPr>
            <a:r>
              <a:rPr lang="en-US" sz="1250" b="1" dirty="0">
                <a:solidFill>
                  <a:srgbClr val="07111F"/>
                </a:solidFill>
                <a:latin typeface="Aptos" pitchFamily="34" charset="0"/>
                <a:ea typeface="Aptos" pitchFamily="34" charset="-122"/>
                <a:cs typeface="Aptos" pitchFamily="34" charset="-120"/>
              </a:rPr>
              <a:t>Discussion</a:t>
            </a:r>
            <a:endParaRPr lang="en-US" sz="1250" dirty="0"/>
          </a:p>
        </p:txBody>
      </p:sp>
      <p:sp>
        <p:nvSpPr>
          <p:cNvPr id="27" name="Text 24"/>
          <p:cNvSpPr/>
          <p:nvPr/>
        </p:nvSpPr>
        <p:spPr>
          <a:xfrm>
            <a:off x="9217152" y="3941064"/>
            <a:ext cx="1874520" cy="219456"/>
          </a:xfrm>
          <a:prstGeom prst="rect">
            <a:avLst/>
          </a:prstGeom>
          <a:noFill/>
          <a:ln/>
        </p:spPr>
        <p:txBody>
          <a:bodyPr wrap="square" lIns="0" tIns="0" rIns="0" bIns="0" rtlCol="0" anchor="t">
            <a:normAutofit/>
          </a:bodyPr>
          <a:lstStyle/>
          <a:p>
            <a:pPr marL="0" indent="0" algn="l">
              <a:lnSpc>
                <a:spcPct val="98000"/>
              </a:lnSpc>
              <a:buNone/>
            </a:pPr>
            <a:r>
              <a:rPr lang="en-US" sz="870" dirty="0">
                <a:solidFill>
                  <a:srgbClr val="475569"/>
                </a:solidFill>
                <a:latin typeface="Aptos" pitchFamily="34" charset="0"/>
                <a:ea typeface="Aptos" pitchFamily="34" charset="-122"/>
                <a:cs typeface="Aptos" pitchFamily="34" charset="-120"/>
              </a:rPr>
              <a:t>which features matter most?</a:t>
            </a:r>
            <a:endParaRPr lang="en-US" sz="870" dirty="0"/>
          </a:p>
        </p:txBody>
      </p:sp>
      <p:sp>
        <p:nvSpPr>
          <p:cNvPr id="28" name="Text 25"/>
          <p:cNvSpPr/>
          <p:nvPr/>
        </p:nvSpPr>
        <p:spPr>
          <a:xfrm>
            <a:off x="786384" y="4919472"/>
            <a:ext cx="1828800" cy="256032"/>
          </a:xfrm>
          <a:prstGeom prst="rect">
            <a:avLst/>
          </a:prstGeom>
          <a:noFill/>
          <a:ln/>
        </p:spPr>
        <p:txBody>
          <a:bodyPr wrap="square" lIns="0" tIns="0" rIns="0" bIns="0" rtlCol="0" anchor="t">
            <a:normAutofit/>
          </a:bodyPr>
          <a:lstStyle/>
          <a:p>
            <a:pPr marL="0" indent="0" algn="l">
              <a:lnSpc>
                <a:spcPct val="98000"/>
              </a:lnSpc>
              <a:buNone/>
            </a:pPr>
            <a:r>
              <a:rPr lang="en-US" sz="1800" b="1" dirty="0">
                <a:solidFill>
                  <a:srgbClr val="07111F"/>
                </a:solidFill>
                <a:latin typeface="Aptos" pitchFamily="34" charset="0"/>
                <a:ea typeface="Aptos" pitchFamily="34" charset="-122"/>
                <a:cs typeface="Aptos" pitchFamily="34" charset="-120"/>
              </a:rPr>
              <a:t>Group discussion</a:t>
            </a:r>
            <a:endParaRPr lang="en-US" sz="1800" dirty="0"/>
          </a:p>
        </p:txBody>
      </p:sp>
      <p:sp>
        <p:nvSpPr>
          <p:cNvPr id="29" name="Text 26"/>
          <p:cNvSpPr/>
          <p:nvPr/>
        </p:nvSpPr>
        <p:spPr>
          <a:xfrm>
            <a:off x="804672" y="5285232"/>
            <a:ext cx="5212080" cy="438912"/>
          </a:xfrm>
          <a:prstGeom prst="rect">
            <a:avLst/>
          </a:prstGeom>
          <a:noFill/>
          <a:ln/>
        </p:spPr>
        <p:txBody>
          <a:bodyPr wrap="square" lIns="0" tIns="0" rIns="0" bIns="0" rtlCol="0" anchor="t">
            <a:normAutofit/>
          </a:bodyPr>
          <a:lstStyle/>
          <a:p>
            <a:pPr marL="0" indent="0" algn="l">
              <a:lnSpc>
                <a:spcPct val="98000"/>
              </a:lnSpc>
              <a:buNone/>
            </a:pPr>
            <a:r>
              <a:rPr lang="en-US" sz="1300" dirty="0">
                <a:solidFill>
                  <a:srgbClr val="475569"/>
                </a:solidFill>
                <a:latin typeface="Aptos" pitchFamily="34" charset="0"/>
                <a:ea typeface="Aptos" pitchFamily="34" charset="-122"/>
                <a:cs typeface="Aptos" pitchFamily="34" charset="-120"/>
              </a:rPr>
              <a:t>Which features would be most useful for SMEs? Should the app focus more on insights, recommendations, or data quality?</a:t>
            </a:r>
            <a:endParaRPr lang="en-US" sz="13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1695" cy="6858000"/>
          </a:xfrm>
          <a:prstGeom prst="rect">
            <a:avLst/>
          </a:prstGeom>
        </p:spPr>
      </p:pic>
      <p:sp>
        <p:nvSpPr>
          <p:cNvPr id="3" name="Shape 0"/>
          <p:cNvSpPr/>
          <p:nvPr/>
        </p:nvSpPr>
        <p:spPr>
          <a:xfrm>
            <a:off x="676656" y="731520"/>
            <a:ext cx="1463040" cy="347472"/>
          </a:xfrm>
          <a:prstGeom prst="roundRect">
            <a:avLst>
              <a:gd name="adj" fmla="val 47368"/>
            </a:avLst>
          </a:prstGeom>
          <a:solidFill>
            <a:srgbClr val="16A34A">
              <a:alpha val="96000"/>
            </a:srgbClr>
          </a:solidFill>
          <a:ln w="12700">
            <a:solidFill>
              <a:srgbClr val="16A34A">
                <a:alpha val="0"/>
              </a:srgbClr>
            </a:solidFill>
            <a:prstDash val="solid"/>
          </a:ln>
        </p:spPr>
        <p:txBody>
          <a:bodyPr/>
          <a:lstStyle/>
          <a:p>
            <a:endParaRPr lang="de-DE"/>
          </a:p>
        </p:txBody>
      </p:sp>
      <p:sp>
        <p:nvSpPr>
          <p:cNvPr id="4" name="Text 1"/>
          <p:cNvSpPr/>
          <p:nvPr/>
        </p:nvSpPr>
        <p:spPr>
          <a:xfrm>
            <a:off x="822960" y="818388"/>
            <a:ext cx="1170432" cy="164592"/>
          </a:xfrm>
          <a:prstGeom prst="rect">
            <a:avLst/>
          </a:prstGeom>
          <a:noFill/>
          <a:ln/>
        </p:spPr>
        <p:txBody>
          <a:bodyPr wrap="square" lIns="0" tIns="0" rIns="0" bIns="0" rtlCol="0" anchor="t">
            <a:normAutofit/>
          </a:bodyPr>
          <a:lstStyle/>
          <a:p>
            <a:pPr marL="0" indent="0" algn="ctr">
              <a:lnSpc>
                <a:spcPct val="98000"/>
              </a:lnSpc>
              <a:buNone/>
            </a:pPr>
            <a:r>
              <a:rPr lang="en-US" sz="850" b="1" dirty="0">
                <a:solidFill>
                  <a:srgbClr val="FFFFFF"/>
                </a:solidFill>
                <a:latin typeface="Aptos" pitchFamily="34" charset="0"/>
                <a:ea typeface="Aptos" pitchFamily="34" charset="-122"/>
                <a:cs typeface="Aptos" pitchFamily="34" charset="-120"/>
              </a:rPr>
              <a:t>KEY MESSAGE</a:t>
            </a:r>
            <a:endParaRPr lang="en-US" sz="850" dirty="0"/>
          </a:p>
        </p:txBody>
      </p:sp>
      <p:sp>
        <p:nvSpPr>
          <p:cNvPr id="5" name="Text 2"/>
          <p:cNvSpPr/>
          <p:nvPr/>
        </p:nvSpPr>
        <p:spPr>
          <a:xfrm>
            <a:off x="658368" y="1325880"/>
            <a:ext cx="8046720" cy="914400"/>
          </a:xfrm>
          <a:prstGeom prst="rect">
            <a:avLst/>
          </a:prstGeom>
          <a:noFill/>
          <a:ln/>
        </p:spPr>
        <p:txBody>
          <a:bodyPr wrap="square" lIns="0" tIns="0" rIns="0" bIns="0" rtlCol="0" anchor="t">
            <a:normAutofit/>
          </a:bodyPr>
          <a:lstStyle/>
          <a:p>
            <a:pPr marL="0" indent="0" algn="l">
              <a:lnSpc>
                <a:spcPct val="88000"/>
              </a:lnSpc>
              <a:buNone/>
            </a:pPr>
            <a:r>
              <a:rPr lang="en-US" sz="4300" b="1" dirty="0">
                <a:solidFill>
                  <a:srgbClr val="FFFFFF"/>
                </a:solidFill>
                <a:latin typeface="Aptos Display" pitchFamily="34" charset="0"/>
                <a:ea typeface="Aptos Display" pitchFamily="34" charset="-122"/>
                <a:cs typeface="Aptos Display" pitchFamily="34" charset="-120"/>
              </a:rPr>
              <a:t>The PoC proves the core workflow is feasible.</a:t>
            </a:r>
            <a:endParaRPr lang="en-US" sz="4300" dirty="0"/>
          </a:p>
        </p:txBody>
      </p:sp>
      <p:sp>
        <p:nvSpPr>
          <p:cNvPr id="6" name="Text 3"/>
          <p:cNvSpPr/>
          <p:nvPr/>
        </p:nvSpPr>
        <p:spPr>
          <a:xfrm>
            <a:off x="694944" y="2487168"/>
            <a:ext cx="6766560" cy="457200"/>
          </a:xfrm>
          <a:prstGeom prst="rect">
            <a:avLst/>
          </a:prstGeom>
          <a:noFill/>
          <a:ln/>
        </p:spPr>
        <p:txBody>
          <a:bodyPr wrap="square" lIns="0" tIns="0" rIns="0" bIns="0" rtlCol="0" anchor="t">
            <a:normAutofit/>
          </a:bodyPr>
          <a:lstStyle/>
          <a:p>
            <a:pPr marL="0" indent="0" algn="l">
              <a:lnSpc>
                <a:spcPct val="98000"/>
              </a:lnSpc>
              <a:buNone/>
            </a:pPr>
            <a:r>
              <a:rPr lang="en-US" sz="2000" b="1" dirty="0">
                <a:solidFill>
                  <a:srgbClr val="A3E635"/>
                </a:solidFill>
                <a:latin typeface="Aptos" pitchFamily="34" charset="0"/>
                <a:ea typeface="Aptos" pitchFamily="34" charset="-122"/>
                <a:cs typeface="Aptos" pitchFamily="34" charset="-120"/>
              </a:rPr>
              <a:t>Upload sales data → analyze it deterministically → explain the results clearly.</a:t>
            </a:r>
            <a:endParaRPr lang="en-US" sz="2000" dirty="0"/>
          </a:p>
        </p:txBody>
      </p:sp>
      <p:sp>
        <p:nvSpPr>
          <p:cNvPr id="7" name="Shape 4"/>
          <p:cNvSpPr/>
          <p:nvPr/>
        </p:nvSpPr>
        <p:spPr>
          <a:xfrm>
            <a:off x="749808" y="4315968"/>
            <a:ext cx="2331720" cy="932688"/>
          </a:xfrm>
          <a:prstGeom prst="roundRect">
            <a:avLst>
              <a:gd name="adj" fmla="val 17647"/>
            </a:avLst>
          </a:prstGeom>
          <a:solidFill>
            <a:srgbClr val="0E1C2D"/>
          </a:solidFill>
          <a:ln w="10160">
            <a:solidFill>
              <a:srgbClr val="2563EB">
                <a:alpha val="8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8" name="Text 5"/>
          <p:cNvSpPr/>
          <p:nvPr/>
        </p:nvSpPr>
        <p:spPr>
          <a:xfrm>
            <a:off x="896112" y="4498848"/>
            <a:ext cx="1920240" cy="237744"/>
          </a:xfrm>
          <a:prstGeom prst="rect">
            <a:avLst/>
          </a:prstGeom>
          <a:noFill/>
          <a:ln/>
        </p:spPr>
        <p:txBody>
          <a:bodyPr wrap="square" lIns="0" tIns="0" rIns="0" bIns="0" rtlCol="0" anchor="t">
            <a:normAutofit/>
          </a:bodyPr>
          <a:lstStyle/>
          <a:p>
            <a:pPr marL="0" indent="0" algn="l">
              <a:lnSpc>
                <a:spcPct val="98000"/>
              </a:lnSpc>
              <a:buNone/>
            </a:pPr>
            <a:r>
              <a:rPr lang="en-US" sz="1600" b="1" dirty="0">
                <a:solidFill>
                  <a:srgbClr val="FFFFFF"/>
                </a:solidFill>
                <a:latin typeface="Aptos" pitchFamily="34" charset="0"/>
                <a:ea typeface="Aptos" pitchFamily="34" charset="-122"/>
                <a:cs typeface="Aptos" pitchFamily="34" charset="-120"/>
              </a:rPr>
              <a:t>Focused</a:t>
            </a:r>
            <a:endParaRPr lang="en-US" sz="1600" dirty="0"/>
          </a:p>
        </p:txBody>
      </p:sp>
      <p:sp>
        <p:nvSpPr>
          <p:cNvPr id="9" name="Text 6"/>
          <p:cNvSpPr/>
          <p:nvPr/>
        </p:nvSpPr>
        <p:spPr>
          <a:xfrm>
            <a:off x="896112" y="4846320"/>
            <a:ext cx="1920240" cy="146304"/>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9FB2CB"/>
                </a:solidFill>
                <a:latin typeface="Aptos" pitchFamily="34" charset="0"/>
                <a:ea typeface="Aptos" pitchFamily="34" charset="-122"/>
                <a:cs typeface="Aptos" pitchFamily="34" charset="-120"/>
              </a:rPr>
              <a:t>sales data only</a:t>
            </a:r>
            <a:endParaRPr lang="en-US" sz="950" dirty="0"/>
          </a:p>
        </p:txBody>
      </p:sp>
      <p:sp>
        <p:nvSpPr>
          <p:cNvPr id="10" name="Shape 7"/>
          <p:cNvSpPr/>
          <p:nvPr/>
        </p:nvSpPr>
        <p:spPr>
          <a:xfrm>
            <a:off x="3538728" y="4315968"/>
            <a:ext cx="2331720" cy="932688"/>
          </a:xfrm>
          <a:prstGeom prst="roundRect">
            <a:avLst>
              <a:gd name="adj" fmla="val 17647"/>
            </a:avLst>
          </a:prstGeom>
          <a:solidFill>
            <a:srgbClr val="0E1C2D"/>
          </a:solidFill>
          <a:ln w="10160">
            <a:solidFill>
              <a:srgbClr val="16A34A">
                <a:alpha val="8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1" name="Text 8"/>
          <p:cNvSpPr/>
          <p:nvPr/>
        </p:nvSpPr>
        <p:spPr>
          <a:xfrm>
            <a:off x="3685032" y="4498848"/>
            <a:ext cx="1920240" cy="237744"/>
          </a:xfrm>
          <a:prstGeom prst="rect">
            <a:avLst/>
          </a:prstGeom>
          <a:noFill/>
          <a:ln/>
        </p:spPr>
        <p:txBody>
          <a:bodyPr wrap="square" lIns="0" tIns="0" rIns="0" bIns="0" rtlCol="0" anchor="t">
            <a:normAutofit/>
          </a:bodyPr>
          <a:lstStyle/>
          <a:p>
            <a:pPr marL="0" indent="0" algn="l">
              <a:lnSpc>
                <a:spcPct val="98000"/>
              </a:lnSpc>
              <a:buNone/>
            </a:pPr>
            <a:r>
              <a:rPr lang="en-US" sz="1600" b="1" dirty="0">
                <a:solidFill>
                  <a:srgbClr val="FFFFFF"/>
                </a:solidFill>
                <a:latin typeface="Aptos" pitchFamily="34" charset="0"/>
                <a:ea typeface="Aptos" pitchFamily="34" charset="-122"/>
                <a:cs typeface="Aptos" pitchFamily="34" charset="-120"/>
              </a:rPr>
              <a:t>Reliable</a:t>
            </a:r>
            <a:endParaRPr lang="en-US" sz="1600" dirty="0"/>
          </a:p>
        </p:txBody>
      </p:sp>
      <p:sp>
        <p:nvSpPr>
          <p:cNvPr id="12" name="Text 9"/>
          <p:cNvSpPr/>
          <p:nvPr/>
        </p:nvSpPr>
        <p:spPr>
          <a:xfrm>
            <a:off x="3685032" y="4846320"/>
            <a:ext cx="1920240" cy="146304"/>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9FB2CB"/>
                </a:solidFill>
                <a:latin typeface="Aptos" pitchFamily="34" charset="0"/>
                <a:ea typeface="Aptos" pitchFamily="34" charset="-122"/>
                <a:cs typeface="Aptos" pitchFamily="34" charset="-120"/>
              </a:rPr>
              <a:t>code calculates</a:t>
            </a:r>
            <a:endParaRPr lang="en-US" sz="950" dirty="0"/>
          </a:p>
        </p:txBody>
      </p:sp>
      <p:sp>
        <p:nvSpPr>
          <p:cNvPr id="13" name="Shape 10"/>
          <p:cNvSpPr/>
          <p:nvPr/>
        </p:nvSpPr>
        <p:spPr>
          <a:xfrm>
            <a:off x="6327648" y="4315968"/>
            <a:ext cx="2331720" cy="932688"/>
          </a:xfrm>
          <a:prstGeom prst="roundRect">
            <a:avLst>
              <a:gd name="adj" fmla="val 17647"/>
            </a:avLst>
          </a:prstGeom>
          <a:solidFill>
            <a:srgbClr val="0E1C2D"/>
          </a:solidFill>
          <a:ln w="10160">
            <a:solidFill>
              <a:srgbClr val="F59E0B">
                <a:alpha val="8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4" name="Text 11"/>
          <p:cNvSpPr/>
          <p:nvPr/>
        </p:nvSpPr>
        <p:spPr>
          <a:xfrm>
            <a:off x="6473952" y="4498848"/>
            <a:ext cx="1920240" cy="237744"/>
          </a:xfrm>
          <a:prstGeom prst="rect">
            <a:avLst/>
          </a:prstGeom>
          <a:noFill/>
          <a:ln/>
        </p:spPr>
        <p:txBody>
          <a:bodyPr wrap="square" lIns="0" tIns="0" rIns="0" bIns="0" rtlCol="0" anchor="t">
            <a:normAutofit/>
          </a:bodyPr>
          <a:lstStyle/>
          <a:p>
            <a:pPr marL="0" indent="0" algn="l">
              <a:lnSpc>
                <a:spcPct val="98000"/>
              </a:lnSpc>
              <a:buNone/>
            </a:pPr>
            <a:r>
              <a:rPr lang="en-US" sz="1600" b="1" dirty="0">
                <a:solidFill>
                  <a:srgbClr val="FFFFFF"/>
                </a:solidFill>
                <a:latin typeface="Aptos" pitchFamily="34" charset="0"/>
                <a:ea typeface="Aptos" pitchFamily="34" charset="-122"/>
                <a:cs typeface="Aptos" pitchFamily="34" charset="-120"/>
              </a:rPr>
              <a:t>Clear</a:t>
            </a:r>
            <a:endParaRPr lang="en-US" sz="1600" dirty="0"/>
          </a:p>
        </p:txBody>
      </p:sp>
      <p:sp>
        <p:nvSpPr>
          <p:cNvPr id="15" name="Text 12"/>
          <p:cNvSpPr/>
          <p:nvPr/>
        </p:nvSpPr>
        <p:spPr>
          <a:xfrm>
            <a:off x="6473952" y="4846320"/>
            <a:ext cx="1920240" cy="146304"/>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9FB2CB"/>
                </a:solidFill>
                <a:latin typeface="Aptos" pitchFamily="34" charset="0"/>
                <a:ea typeface="Aptos" pitchFamily="34" charset="-122"/>
                <a:cs typeface="Aptos" pitchFamily="34" charset="-120"/>
              </a:rPr>
              <a:t>business language</a:t>
            </a:r>
            <a:endParaRPr lang="en-US" sz="950" dirty="0"/>
          </a:p>
        </p:txBody>
      </p:sp>
      <p:sp>
        <p:nvSpPr>
          <p:cNvPr id="16" name="Shape 13"/>
          <p:cNvSpPr/>
          <p:nvPr/>
        </p:nvSpPr>
        <p:spPr>
          <a:xfrm>
            <a:off x="9116568" y="4315968"/>
            <a:ext cx="2331720" cy="932688"/>
          </a:xfrm>
          <a:prstGeom prst="roundRect">
            <a:avLst>
              <a:gd name="adj" fmla="val 17647"/>
            </a:avLst>
          </a:prstGeom>
          <a:solidFill>
            <a:srgbClr val="0E1C2D"/>
          </a:solidFill>
          <a:ln w="10160">
            <a:solidFill>
              <a:srgbClr val="7C3AED">
                <a:alpha val="85000"/>
              </a:srgbClr>
            </a:solidFill>
            <a:prstDash val="solid"/>
          </a:ln>
          <a:effectLst>
            <a:outerShdw blurRad="22860" dist="50800" dir="2700000" algn="bl" rotWithShape="0">
              <a:srgbClr val="000000">
                <a:alpha val="12000"/>
              </a:srgbClr>
            </a:outerShdw>
          </a:effectLst>
        </p:spPr>
        <p:txBody>
          <a:bodyPr/>
          <a:lstStyle/>
          <a:p>
            <a:endParaRPr lang="de-DE"/>
          </a:p>
        </p:txBody>
      </p:sp>
      <p:sp>
        <p:nvSpPr>
          <p:cNvPr id="17" name="Text 14"/>
          <p:cNvSpPr/>
          <p:nvPr/>
        </p:nvSpPr>
        <p:spPr>
          <a:xfrm>
            <a:off x="9262872" y="4498848"/>
            <a:ext cx="1920240" cy="237744"/>
          </a:xfrm>
          <a:prstGeom prst="rect">
            <a:avLst/>
          </a:prstGeom>
          <a:noFill/>
          <a:ln/>
        </p:spPr>
        <p:txBody>
          <a:bodyPr wrap="square" lIns="0" tIns="0" rIns="0" bIns="0" rtlCol="0" anchor="t">
            <a:normAutofit/>
          </a:bodyPr>
          <a:lstStyle/>
          <a:p>
            <a:pPr marL="0" indent="0" algn="l">
              <a:lnSpc>
                <a:spcPct val="98000"/>
              </a:lnSpc>
              <a:buNone/>
            </a:pPr>
            <a:r>
              <a:rPr lang="en-US" sz="1600" b="1" dirty="0">
                <a:solidFill>
                  <a:srgbClr val="FFFFFF"/>
                </a:solidFill>
                <a:latin typeface="Aptos" pitchFamily="34" charset="0"/>
                <a:ea typeface="Aptos" pitchFamily="34" charset="-122"/>
                <a:cs typeface="Aptos" pitchFamily="34" charset="-120"/>
              </a:rPr>
              <a:t>Demo-ready</a:t>
            </a:r>
            <a:endParaRPr lang="en-US" sz="1600" dirty="0"/>
          </a:p>
        </p:txBody>
      </p:sp>
      <p:sp>
        <p:nvSpPr>
          <p:cNvPr id="18" name="Text 15"/>
          <p:cNvSpPr/>
          <p:nvPr/>
        </p:nvSpPr>
        <p:spPr>
          <a:xfrm>
            <a:off x="9262872" y="4846320"/>
            <a:ext cx="1920240" cy="146304"/>
          </a:xfrm>
          <a:prstGeom prst="rect">
            <a:avLst/>
          </a:prstGeom>
          <a:noFill/>
          <a:ln/>
        </p:spPr>
        <p:txBody>
          <a:bodyPr wrap="square" lIns="0" tIns="0" rIns="0" bIns="0" rtlCol="0" anchor="t">
            <a:normAutofit/>
          </a:bodyPr>
          <a:lstStyle/>
          <a:p>
            <a:pPr marL="0" indent="0" algn="l">
              <a:lnSpc>
                <a:spcPct val="98000"/>
              </a:lnSpc>
              <a:buNone/>
            </a:pPr>
            <a:r>
              <a:rPr lang="en-US" sz="950" dirty="0">
                <a:solidFill>
                  <a:srgbClr val="9FB2CB"/>
                </a:solidFill>
                <a:latin typeface="Aptos" pitchFamily="34" charset="0"/>
                <a:ea typeface="Aptos" pitchFamily="34" charset="-122"/>
                <a:cs typeface="Aptos" pitchFamily="34" charset="-120"/>
              </a:rPr>
              <a:t>live workflow</a:t>
            </a:r>
            <a:endParaRPr lang="en-US" sz="950" dirty="0"/>
          </a:p>
        </p:txBody>
      </p:sp>
      <p:sp>
        <p:nvSpPr>
          <p:cNvPr id="19" name="Text 16"/>
          <p:cNvSpPr/>
          <p:nvPr/>
        </p:nvSpPr>
        <p:spPr>
          <a:xfrm>
            <a:off x="566928" y="6510528"/>
            <a:ext cx="4937760" cy="137160"/>
          </a:xfrm>
          <a:prstGeom prst="rect">
            <a:avLst/>
          </a:prstGeom>
          <a:noFill/>
          <a:ln/>
        </p:spPr>
        <p:txBody>
          <a:bodyPr wrap="square" lIns="0" tIns="0" rIns="0" bIns="0" rtlCol="0" anchor="t">
            <a:normAutofit/>
          </a:bodyPr>
          <a:lstStyle/>
          <a:p>
            <a:pPr marL="0" indent="0" algn="l">
              <a:lnSpc>
                <a:spcPct val="98000"/>
              </a:lnSpc>
              <a:buNone/>
            </a:pPr>
            <a:r>
              <a:rPr lang="en-US" sz="850" b="1" dirty="0">
                <a:solidFill>
                  <a:srgbClr val="9FB2CB"/>
                </a:solidFill>
                <a:latin typeface="Aptos" pitchFamily="34" charset="0"/>
                <a:ea typeface="Aptos" pitchFamily="34" charset="-122"/>
                <a:cs typeface="Aptos" pitchFamily="34" charset="-120"/>
              </a:rPr>
              <a:t>Conclusion</a:t>
            </a:r>
            <a:endParaRPr lang="en-US" sz="850" dirty="0"/>
          </a:p>
        </p:txBody>
      </p:sp>
      <p:sp>
        <p:nvSpPr>
          <p:cNvPr id="20" name="Text 17"/>
          <p:cNvSpPr/>
          <p:nvPr/>
        </p:nvSpPr>
        <p:spPr>
          <a:xfrm>
            <a:off x="11192256" y="6473952"/>
            <a:ext cx="493776" cy="182880"/>
          </a:xfrm>
          <a:prstGeom prst="rect">
            <a:avLst/>
          </a:prstGeom>
          <a:noFill/>
          <a:ln/>
        </p:spPr>
        <p:txBody>
          <a:bodyPr wrap="square" lIns="0" tIns="0" rIns="0" bIns="0" rtlCol="0" anchor="t">
            <a:normAutofit/>
          </a:bodyPr>
          <a:lstStyle/>
          <a:p>
            <a:pPr marL="0" indent="0" algn="r">
              <a:lnSpc>
                <a:spcPct val="98000"/>
              </a:lnSpc>
              <a:buNone/>
            </a:pPr>
            <a:r>
              <a:rPr lang="en-US" sz="950" b="1" dirty="0">
                <a:solidFill>
                  <a:srgbClr val="9FB2CB"/>
                </a:solidFill>
                <a:latin typeface="Aptos" pitchFamily="34" charset="0"/>
                <a:ea typeface="Aptos" pitchFamily="34" charset="-122"/>
                <a:cs typeface="Aptos" pitchFamily="34" charset="-120"/>
              </a:rPr>
              <a:t>17</a:t>
            </a:r>
            <a:endParaRPr lang="en-US" sz="950" dirty="0"/>
          </a:p>
        </p:txBody>
      </p:sp>
      <p:sp>
        <p:nvSpPr>
          <p:cNvPr id="21" name="Shape 18"/>
          <p:cNvSpPr/>
          <p:nvPr/>
        </p:nvSpPr>
        <p:spPr>
          <a:xfrm>
            <a:off x="566928" y="6382512"/>
            <a:ext cx="11064240" cy="0"/>
          </a:xfrm>
          <a:prstGeom prst="line">
            <a:avLst/>
          </a:prstGeom>
          <a:noFill/>
          <a:ln w="8890">
            <a:solidFill>
              <a:srgbClr val="31465E">
                <a:alpha val="76000"/>
              </a:srgbClr>
            </a:solidFill>
            <a:prstDash val="solid"/>
          </a:ln>
        </p:spPr>
        <p:txBody>
          <a:bodyPr/>
          <a:lstStyle/>
          <a:p>
            <a:endParaRPr lang="de-DE"/>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2173</Words>
  <Application>Microsoft Macintosh PowerPoint</Application>
  <PresentationFormat>Widescreen</PresentationFormat>
  <Paragraphs>338</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PoC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Data Analysis Assistant for SMEs — Interim Proof of Concept</dc:title>
  <dc:subject>Presentation II: Interim Proof of Concept</dc:subject>
  <dc:creator>Sahel Amiri</dc:creator>
  <cp:lastModifiedBy>Abumuslimjon Soliev</cp:lastModifiedBy>
  <cp:revision>2</cp:revision>
  <dcterms:created xsi:type="dcterms:W3CDTF">2026-05-31T08:58:04Z</dcterms:created>
  <dcterms:modified xsi:type="dcterms:W3CDTF">2026-06-01T21:14:11Z</dcterms:modified>
</cp:coreProperties>
</file>