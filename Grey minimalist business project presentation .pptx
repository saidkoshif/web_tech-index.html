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Oswald Bold" charset="1" panose="00000800000000000000"/>
      <p:regular r:id="rId14"/>
    </p:embeddedFont>
    <p:embeddedFont>
      <p:font typeface="Montserrat Classic Bold" charset="1" panose="00000800000000000000"/>
      <p:regular r:id="rId15"/>
    </p:embeddedFont>
    <p:embeddedFont>
      <p:font typeface="DM Sans Bold" charset="1" panose="00000000000000000000"/>
      <p:regular r:id="rId16"/>
    </p:embeddedFont>
    <p:embeddedFont>
      <p:font typeface="DM Sans" charset="1" panose="00000000000000000000"/>
      <p:regular r:id="rId17"/>
    </p:embeddedFont>
    <p:embeddedFont>
      <p:font typeface="Montserrat Classic" charset="1" panose="000005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jpeg" Type="http://schemas.openxmlformats.org/officeDocument/2006/relationships/image"/><Relationship Id="rId5" Target="../media/image1.png" Type="http://schemas.openxmlformats.org/officeDocument/2006/relationships/image"/><Relationship Id="rId6" Target="../media/image2.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svg" Type="http://schemas.openxmlformats.org/officeDocument/2006/relationships/image"/><Relationship Id="rId11" Target="../media/image1.png" Type="http://schemas.openxmlformats.org/officeDocument/2006/relationships/image"/><Relationship Id="rId12" Target="../media/image2.svg" Type="http://schemas.openxmlformats.org/officeDocument/2006/relationships/image"/><Relationship Id="rId2" Target="../media/image4.pn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21.png" Type="http://schemas.openxmlformats.org/officeDocument/2006/relationships/image"/><Relationship Id="rId6" Target="../media/image2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21.png" Type="http://schemas.openxmlformats.org/officeDocument/2006/relationships/image"/><Relationship Id="rId6" Target="../media/image2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2F4F5"/>
        </a:solidFill>
      </p:bgPr>
    </p:bg>
    <p:spTree>
      <p:nvGrpSpPr>
        <p:cNvPr id="1" name=""/>
        <p:cNvGrpSpPr/>
        <p:nvPr/>
      </p:nvGrpSpPr>
      <p:grpSpPr>
        <a:xfrm>
          <a:off x="0" y="0"/>
          <a:ext cx="0" cy="0"/>
          <a:chOff x="0" y="0"/>
          <a:chExt cx="0" cy="0"/>
        </a:xfrm>
      </p:grpSpPr>
      <p:sp>
        <p:nvSpPr>
          <p:cNvPr name="Freeform 2" id="2"/>
          <p:cNvSpPr/>
          <p:nvPr/>
        </p:nvSpPr>
        <p:spPr>
          <a:xfrm flipH="false" flipV="false" rot="7659121">
            <a:off x="15091031" y="5585714"/>
            <a:ext cx="7629294" cy="7828566"/>
          </a:xfrm>
          <a:custGeom>
            <a:avLst/>
            <a:gdLst/>
            <a:ahLst/>
            <a:cxnLst/>
            <a:rect r="r" b="b" t="t" l="l"/>
            <a:pathLst>
              <a:path h="7828566" w="7629294">
                <a:moveTo>
                  <a:pt x="0" y="0"/>
                </a:moveTo>
                <a:lnTo>
                  <a:pt x="7629294" y="0"/>
                </a:lnTo>
                <a:lnTo>
                  <a:pt x="7629294" y="7828566"/>
                </a:lnTo>
                <a:lnTo>
                  <a:pt x="0" y="78285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258071" y="-4629150"/>
            <a:ext cx="9022634" cy="9258300"/>
          </a:xfrm>
          <a:custGeom>
            <a:avLst/>
            <a:gdLst/>
            <a:ahLst/>
            <a:cxnLst/>
            <a:rect r="r" b="b" t="t" l="l"/>
            <a:pathLst>
              <a:path h="9258300" w="9022634">
                <a:moveTo>
                  <a:pt x="0" y="0"/>
                </a:moveTo>
                <a:lnTo>
                  <a:pt x="9022634" y="0"/>
                </a:lnTo>
                <a:lnTo>
                  <a:pt x="9022634" y="9258300"/>
                </a:lnTo>
                <a:lnTo>
                  <a:pt x="0" y="9258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4651775" y="2052984"/>
            <a:ext cx="8013972" cy="3442803"/>
            <a:chOff x="0" y="0"/>
            <a:chExt cx="10685296" cy="4590404"/>
          </a:xfrm>
        </p:grpSpPr>
        <p:grpSp>
          <p:nvGrpSpPr>
            <p:cNvPr name="Group 5" id="5"/>
            <p:cNvGrpSpPr/>
            <p:nvPr/>
          </p:nvGrpSpPr>
          <p:grpSpPr>
            <a:xfrm rot="0">
              <a:off x="0" y="8484"/>
              <a:ext cx="10685296" cy="4581920"/>
              <a:chOff x="0" y="0"/>
              <a:chExt cx="1895495" cy="812800"/>
            </a:xfrm>
          </p:grpSpPr>
          <p:sp>
            <p:nvSpPr>
              <p:cNvPr name="Freeform 6" id="6"/>
              <p:cNvSpPr/>
              <p:nvPr/>
            </p:nvSpPr>
            <p:spPr>
              <a:xfrm flipH="false" flipV="false" rot="0">
                <a:off x="0" y="0"/>
                <a:ext cx="1895495" cy="812800"/>
              </a:xfrm>
              <a:custGeom>
                <a:avLst/>
                <a:gdLst/>
                <a:ahLst/>
                <a:cxnLst/>
                <a:rect r="r" b="b" t="t" l="l"/>
                <a:pathLst>
                  <a:path h="812800" w="1895495">
                    <a:moveTo>
                      <a:pt x="0" y="0"/>
                    </a:moveTo>
                    <a:lnTo>
                      <a:pt x="1895495" y="0"/>
                    </a:lnTo>
                    <a:lnTo>
                      <a:pt x="1895495" y="812800"/>
                    </a:lnTo>
                    <a:lnTo>
                      <a:pt x="0" y="812800"/>
                    </a:lnTo>
                    <a:close/>
                  </a:path>
                </a:pathLst>
              </a:custGeom>
              <a:solidFill>
                <a:srgbClr val="000000">
                  <a:alpha val="0"/>
                </a:srgbClr>
              </a:solidFill>
              <a:ln w="38100" cap="sq">
                <a:solidFill>
                  <a:srgbClr val="000000"/>
                </a:solidFill>
                <a:prstDash val="solid"/>
                <a:miter/>
              </a:ln>
            </p:spPr>
          </p:sp>
          <p:sp>
            <p:nvSpPr>
              <p:cNvPr name="TextBox 7" id="7"/>
              <p:cNvSpPr txBox="true"/>
              <p:nvPr/>
            </p:nvSpPr>
            <p:spPr>
              <a:xfrm>
                <a:off x="0" y="-9525"/>
                <a:ext cx="1895495" cy="822325"/>
              </a:xfrm>
              <a:prstGeom prst="rect">
                <a:avLst/>
              </a:prstGeom>
            </p:spPr>
            <p:txBody>
              <a:bodyPr anchor="ctr" rtlCol="false" tIns="50800" lIns="50800" bIns="50800" rIns="50800"/>
              <a:lstStyle/>
              <a:p>
                <a:pPr algn="ctr">
                  <a:lnSpc>
                    <a:spcPts val="2860"/>
                  </a:lnSpc>
                </a:pPr>
              </a:p>
            </p:txBody>
          </p:sp>
        </p:grpSp>
        <p:sp>
          <p:nvSpPr>
            <p:cNvPr name="TextBox 8" id="8"/>
            <p:cNvSpPr txBox="true"/>
            <p:nvPr/>
          </p:nvSpPr>
          <p:spPr>
            <a:xfrm rot="0">
              <a:off x="0" y="1328752"/>
              <a:ext cx="10685296" cy="2939732"/>
            </a:xfrm>
            <a:prstGeom prst="rect">
              <a:avLst/>
            </a:prstGeom>
          </p:spPr>
          <p:txBody>
            <a:bodyPr anchor="t" rtlCol="false" tIns="0" lIns="0" bIns="0" rIns="0">
              <a:spAutoFit/>
            </a:bodyPr>
            <a:lstStyle/>
            <a:p>
              <a:pPr algn="ctr">
                <a:lnSpc>
                  <a:spcPts val="18521"/>
                </a:lnSpc>
              </a:pPr>
              <a:r>
                <a:rPr lang="en-US" b="true" sz="13421" spc="1315">
                  <a:solidFill>
                    <a:srgbClr val="231F20"/>
                  </a:solidFill>
                  <a:latin typeface="Oswald Bold"/>
                  <a:ea typeface="Oswald Bold"/>
                  <a:cs typeface="Oswald Bold"/>
                  <a:sym typeface="Oswald Bold"/>
                </a:rPr>
                <a:t>PROJECT</a:t>
              </a:r>
            </a:p>
          </p:txBody>
        </p:sp>
        <p:sp>
          <p:nvSpPr>
            <p:cNvPr name="TextBox 9" id="9"/>
            <p:cNvSpPr txBox="true"/>
            <p:nvPr/>
          </p:nvSpPr>
          <p:spPr>
            <a:xfrm rot="0">
              <a:off x="1663671" y="-171450"/>
              <a:ext cx="6665184" cy="2118480"/>
            </a:xfrm>
            <a:prstGeom prst="rect">
              <a:avLst/>
            </a:prstGeom>
          </p:spPr>
          <p:txBody>
            <a:bodyPr anchor="t" rtlCol="false" tIns="0" lIns="0" bIns="0" rIns="0">
              <a:spAutoFit/>
            </a:bodyPr>
            <a:lstStyle/>
            <a:p>
              <a:pPr algn="ctr">
                <a:lnSpc>
                  <a:spcPts val="13253"/>
                </a:lnSpc>
              </a:pPr>
              <a:r>
                <a:rPr lang="en-US" b="true" sz="9603" spc="941">
                  <a:solidFill>
                    <a:srgbClr val="231F20"/>
                  </a:solidFill>
                  <a:latin typeface="Oswald Bold"/>
                  <a:ea typeface="Oswald Bold"/>
                  <a:cs typeface="Oswald Bold"/>
                  <a:sym typeface="Oswald Bold"/>
                </a:rPr>
                <a:t>MINI</a:t>
              </a:r>
            </a:p>
          </p:txBody>
        </p:sp>
      </p:grpSp>
      <p:sp>
        <p:nvSpPr>
          <p:cNvPr name="TextBox 10" id="10"/>
          <p:cNvSpPr txBox="true"/>
          <p:nvPr/>
        </p:nvSpPr>
        <p:spPr>
          <a:xfrm rot="0">
            <a:off x="-278936" y="9433322"/>
            <a:ext cx="7931444" cy="625215"/>
          </a:xfrm>
          <a:prstGeom prst="rect">
            <a:avLst/>
          </a:prstGeom>
        </p:spPr>
        <p:txBody>
          <a:bodyPr anchor="t" rtlCol="false" tIns="0" lIns="0" bIns="0" rIns="0">
            <a:spAutoFit/>
          </a:bodyPr>
          <a:lstStyle/>
          <a:p>
            <a:pPr algn="ctr">
              <a:lnSpc>
                <a:spcPts val="5190"/>
              </a:lnSpc>
            </a:pPr>
            <a:r>
              <a:rPr lang="en-US" b="true" sz="3760" spc="199">
                <a:solidFill>
                  <a:srgbClr val="231F20"/>
                </a:solidFill>
                <a:latin typeface="Montserrat Classic Bold"/>
                <a:ea typeface="Montserrat Classic Bold"/>
                <a:cs typeface="Montserrat Classic Bold"/>
                <a:sym typeface="Montserrat Classic Bold"/>
              </a:rPr>
              <a:t>SAIDKOSHIFKHON SOLIEV</a:t>
            </a:r>
          </a:p>
        </p:txBody>
      </p:sp>
      <p:sp>
        <p:nvSpPr>
          <p:cNvPr name="TextBox 11" id="11"/>
          <p:cNvSpPr txBox="true"/>
          <p:nvPr/>
        </p:nvSpPr>
        <p:spPr>
          <a:xfrm rot="0">
            <a:off x="15826839" y="1847960"/>
            <a:ext cx="1865640" cy="579456"/>
          </a:xfrm>
          <a:prstGeom prst="rect">
            <a:avLst/>
          </a:prstGeom>
        </p:spPr>
        <p:txBody>
          <a:bodyPr anchor="t" rtlCol="false" tIns="0" lIns="0" bIns="0" rIns="0">
            <a:spAutoFit/>
          </a:bodyPr>
          <a:lstStyle/>
          <a:p>
            <a:pPr algn="ctr" marL="0" indent="0" lvl="0">
              <a:lnSpc>
                <a:spcPts val="2394"/>
              </a:lnSpc>
              <a:spcBef>
                <a:spcPct val="0"/>
              </a:spcBef>
            </a:pPr>
            <a:r>
              <a:rPr lang="en-US" b="true" sz="1735" spc="170">
                <a:solidFill>
                  <a:srgbClr val="231F20"/>
                </a:solidFill>
                <a:latin typeface="Montserrat Classic Bold"/>
                <a:ea typeface="Montserrat Classic Bold"/>
                <a:cs typeface="Montserrat Classic Bold"/>
                <a:sym typeface="Montserrat Classic Bold"/>
              </a:rPr>
              <a:t>ISMA UNIVERSITY</a:t>
            </a:r>
          </a:p>
        </p:txBody>
      </p:sp>
      <p:sp>
        <p:nvSpPr>
          <p:cNvPr name="TextBox 12" id="12"/>
          <p:cNvSpPr txBox="true"/>
          <p:nvPr/>
        </p:nvSpPr>
        <p:spPr>
          <a:xfrm rot="0">
            <a:off x="5597506" y="5381487"/>
            <a:ext cx="6122510" cy="2214438"/>
          </a:xfrm>
          <a:prstGeom prst="rect">
            <a:avLst/>
          </a:prstGeom>
        </p:spPr>
        <p:txBody>
          <a:bodyPr anchor="t" rtlCol="false" tIns="0" lIns="0" bIns="0" rIns="0">
            <a:spAutoFit/>
          </a:bodyPr>
          <a:lstStyle/>
          <a:p>
            <a:pPr algn="ctr">
              <a:lnSpc>
                <a:spcPts val="8920"/>
              </a:lnSpc>
            </a:pPr>
            <a:r>
              <a:rPr lang="en-US" b="true" sz="6463" spc="633">
                <a:solidFill>
                  <a:srgbClr val="231F20"/>
                </a:solidFill>
                <a:latin typeface="Oswald Bold"/>
                <a:ea typeface="Oswald Bold"/>
                <a:cs typeface="Oswald Bold"/>
                <a:sym typeface="Oswald Bold"/>
              </a:rPr>
              <a:t>AN ALARM CLOCK</a:t>
            </a:r>
          </a:p>
        </p:txBody>
      </p:sp>
      <p:sp>
        <p:nvSpPr>
          <p:cNvPr name="Freeform 13" id="13"/>
          <p:cNvSpPr/>
          <p:nvPr/>
        </p:nvSpPr>
        <p:spPr>
          <a:xfrm flipH="false" flipV="false" rot="0">
            <a:off x="16260018" y="738552"/>
            <a:ext cx="999282" cy="1137984"/>
          </a:xfrm>
          <a:custGeom>
            <a:avLst/>
            <a:gdLst/>
            <a:ahLst/>
            <a:cxnLst/>
            <a:rect r="r" b="b" t="t" l="l"/>
            <a:pathLst>
              <a:path h="1137984" w="999282">
                <a:moveTo>
                  <a:pt x="0" y="0"/>
                </a:moveTo>
                <a:lnTo>
                  <a:pt x="999282" y="0"/>
                </a:lnTo>
                <a:lnTo>
                  <a:pt x="999282" y="1137983"/>
                </a:lnTo>
                <a:lnTo>
                  <a:pt x="0" y="1137983"/>
                </a:lnTo>
                <a:lnTo>
                  <a:pt x="0" y="0"/>
                </a:lnTo>
                <a:close/>
              </a:path>
            </a:pathLst>
          </a:custGeom>
          <a:blipFill>
            <a:blip r:embed="rId4"/>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13662994" y="337474"/>
            <a:ext cx="4296549" cy="9570246"/>
            <a:chOff x="0" y="0"/>
            <a:chExt cx="1131601" cy="2520559"/>
          </a:xfrm>
        </p:grpSpPr>
        <p:sp>
          <p:nvSpPr>
            <p:cNvPr name="Freeform 4" id="4"/>
            <p:cNvSpPr/>
            <p:nvPr/>
          </p:nvSpPr>
          <p:spPr>
            <a:xfrm flipH="false" flipV="false" rot="0">
              <a:off x="0" y="0"/>
              <a:ext cx="1131601" cy="2520559"/>
            </a:xfrm>
            <a:custGeom>
              <a:avLst/>
              <a:gdLst/>
              <a:ahLst/>
              <a:cxnLst/>
              <a:rect r="r" b="b" t="t" l="l"/>
              <a:pathLst>
                <a:path h="2520559" w="1131601">
                  <a:moveTo>
                    <a:pt x="0" y="0"/>
                  </a:moveTo>
                  <a:lnTo>
                    <a:pt x="1131601" y="0"/>
                  </a:lnTo>
                  <a:lnTo>
                    <a:pt x="1131601" y="2520559"/>
                  </a:lnTo>
                  <a:lnTo>
                    <a:pt x="0" y="2520559"/>
                  </a:lnTo>
                  <a:close/>
                </a:path>
              </a:pathLst>
            </a:custGeom>
            <a:solidFill>
              <a:srgbClr val="CCCCCC"/>
            </a:solidFill>
          </p:spPr>
        </p:sp>
        <p:sp>
          <p:nvSpPr>
            <p:cNvPr name="TextBox 5" id="5"/>
            <p:cNvSpPr txBox="true"/>
            <p:nvPr/>
          </p:nvSpPr>
          <p:spPr>
            <a:xfrm>
              <a:off x="0" y="-19050"/>
              <a:ext cx="1131601" cy="2539609"/>
            </a:xfrm>
            <a:prstGeom prst="rect">
              <a:avLst/>
            </a:prstGeom>
          </p:spPr>
          <p:txBody>
            <a:bodyPr anchor="ctr" rtlCol="false" tIns="50800" lIns="50800" bIns="50800" rIns="50800"/>
            <a:lstStyle/>
            <a:p>
              <a:pPr algn="ctr">
                <a:lnSpc>
                  <a:spcPts val="2859"/>
                </a:lnSpc>
              </a:pPr>
            </a:p>
          </p:txBody>
        </p:sp>
      </p:grpSp>
      <p:sp>
        <p:nvSpPr>
          <p:cNvPr name="Freeform 6" id="6"/>
          <p:cNvSpPr/>
          <p:nvPr/>
        </p:nvSpPr>
        <p:spPr>
          <a:xfrm flipH="false" flipV="false" rot="0">
            <a:off x="485379" y="1907588"/>
            <a:ext cx="9752965" cy="1032847"/>
          </a:xfrm>
          <a:custGeom>
            <a:avLst/>
            <a:gdLst/>
            <a:ahLst/>
            <a:cxnLst/>
            <a:rect r="r" b="b" t="t" l="l"/>
            <a:pathLst>
              <a:path h="1032847" w="9752965">
                <a:moveTo>
                  <a:pt x="0" y="0"/>
                </a:moveTo>
                <a:lnTo>
                  <a:pt x="9752965" y="0"/>
                </a:lnTo>
                <a:lnTo>
                  <a:pt x="9752965" y="1032847"/>
                </a:lnTo>
                <a:lnTo>
                  <a:pt x="0" y="1032847"/>
                </a:lnTo>
                <a:lnTo>
                  <a:pt x="0" y="0"/>
                </a:lnTo>
                <a:close/>
              </a:path>
            </a:pathLst>
          </a:custGeom>
          <a:blipFill>
            <a:blip r:embed="rId3"/>
            <a:stretch>
              <a:fillRect l="0" t="-86495" r="0" b="0"/>
            </a:stretch>
          </a:blipFill>
        </p:spPr>
      </p:sp>
      <p:sp>
        <p:nvSpPr>
          <p:cNvPr name="Freeform 7" id="7"/>
          <p:cNvSpPr/>
          <p:nvPr/>
        </p:nvSpPr>
        <p:spPr>
          <a:xfrm flipH="false" flipV="false" rot="0">
            <a:off x="9927588" y="1060055"/>
            <a:ext cx="8031954" cy="8208697"/>
          </a:xfrm>
          <a:custGeom>
            <a:avLst/>
            <a:gdLst/>
            <a:ahLst/>
            <a:cxnLst/>
            <a:rect r="r" b="b" t="t" l="l"/>
            <a:pathLst>
              <a:path h="8208697" w="8031954">
                <a:moveTo>
                  <a:pt x="0" y="0"/>
                </a:moveTo>
                <a:lnTo>
                  <a:pt x="8031955" y="0"/>
                </a:lnTo>
                <a:lnTo>
                  <a:pt x="8031955" y="8208697"/>
                </a:lnTo>
                <a:lnTo>
                  <a:pt x="0" y="8208697"/>
                </a:lnTo>
                <a:lnTo>
                  <a:pt x="0" y="0"/>
                </a:lnTo>
                <a:close/>
              </a:path>
            </a:pathLst>
          </a:custGeom>
          <a:blipFill>
            <a:blip r:embed="rId4"/>
            <a:stretch>
              <a:fillRect l="-1704" t="0" r="-496" b="0"/>
            </a:stretch>
          </a:blipFill>
        </p:spPr>
      </p:sp>
      <p:sp>
        <p:nvSpPr>
          <p:cNvPr name="Freeform 8" id="8"/>
          <p:cNvSpPr/>
          <p:nvPr/>
        </p:nvSpPr>
        <p:spPr>
          <a:xfrm flipH="false" flipV="false" rot="0">
            <a:off x="-2779578" y="7341318"/>
            <a:ext cx="7616557" cy="7815497"/>
          </a:xfrm>
          <a:custGeom>
            <a:avLst/>
            <a:gdLst/>
            <a:ahLst/>
            <a:cxnLst/>
            <a:rect r="r" b="b" t="t" l="l"/>
            <a:pathLst>
              <a:path h="7815497" w="7616557">
                <a:moveTo>
                  <a:pt x="0" y="0"/>
                </a:moveTo>
                <a:lnTo>
                  <a:pt x="7616556" y="0"/>
                </a:lnTo>
                <a:lnTo>
                  <a:pt x="7616556" y="7815497"/>
                </a:lnTo>
                <a:lnTo>
                  <a:pt x="0" y="781549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2142191" y="7210022"/>
            <a:ext cx="9752965" cy="1032847"/>
          </a:xfrm>
          <a:custGeom>
            <a:avLst/>
            <a:gdLst/>
            <a:ahLst/>
            <a:cxnLst/>
            <a:rect r="r" b="b" t="t" l="l"/>
            <a:pathLst>
              <a:path h="1032847" w="9752965">
                <a:moveTo>
                  <a:pt x="0" y="0"/>
                </a:moveTo>
                <a:lnTo>
                  <a:pt x="9752965" y="0"/>
                </a:lnTo>
                <a:lnTo>
                  <a:pt x="9752965" y="1032847"/>
                </a:lnTo>
                <a:lnTo>
                  <a:pt x="0" y="1032847"/>
                </a:lnTo>
                <a:lnTo>
                  <a:pt x="0" y="0"/>
                </a:lnTo>
                <a:close/>
              </a:path>
            </a:pathLst>
          </a:custGeom>
          <a:blipFill>
            <a:blip r:embed="rId3"/>
            <a:stretch>
              <a:fillRect l="0" t="-86495" r="0" b="0"/>
            </a:stretch>
          </a:blipFill>
        </p:spPr>
      </p:sp>
      <p:grpSp>
        <p:nvGrpSpPr>
          <p:cNvPr name="Group 10" id="10"/>
          <p:cNvGrpSpPr/>
          <p:nvPr/>
        </p:nvGrpSpPr>
        <p:grpSpPr>
          <a:xfrm rot="0">
            <a:off x="556840" y="1665909"/>
            <a:ext cx="9533844" cy="7931287"/>
            <a:chOff x="0" y="0"/>
            <a:chExt cx="3652828" cy="3038819"/>
          </a:xfrm>
        </p:grpSpPr>
        <p:sp>
          <p:nvSpPr>
            <p:cNvPr name="Freeform 11" id="11"/>
            <p:cNvSpPr/>
            <p:nvPr/>
          </p:nvSpPr>
          <p:spPr>
            <a:xfrm flipH="false" flipV="false" rot="0">
              <a:off x="0" y="0"/>
              <a:ext cx="3652828" cy="3038819"/>
            </a:xfrm>
            <a:custGeom>
              <a:avLst/>
              <a:gdLst/>
              <a:ahLst/>
              <a:cxnLst/>
              <a:rect r="r" b="b" t="t" l="l"/>
              <a:pathLst>
                <a:path h="3038819" w="3652828">
                  <a:moveTo>
                    <a:pt x="0" y="0"/>
                  </a:moveTo>
                  <a:lnTo>
                    <a:pt x="3652828" y="0"/>
                  </a:lnTo>
                  <a:lnTo>
                    <a:pt x="3652828" y="3038819"/>
                  </a:lnTo>
                  <a:lnTo>
                    <a:pt x="0" y="3038819"/>
                  </a:lnTo>
                  <a:close/>
                </a:path>
              </a:pathLst>
            </a:custGeom>
            <a:solidFill>
              <a:srgbClr val="EFEFEF"/>
            </a:solidFill>
          </p:spPr>
        </p:sp>
        <p:sp>
          <p:nvSpPr>
            <p:cNvPr name="TextBox 12" id="12"/>
            <p:cNvSpPr txBox="true"/>
            <p:nvPr/>
          </p:nvSpPr>
          <p:spPr>
            <a:xfrm>
              <a:off x="0" y="-19050"/>
              <a:ext cx="3652828" cy="3057869"/>
            </a:xfrm>
            <a:prstGeom prst="rect">
              <a:avLst/>
            </a:prstGeom>
          </p:spPr>
          <p:txBody>
            <a:bodyPr anchor="ctr" rtlCol="false" tIns="50800" lIns="50800" bIns="50800" rIns="50800"/>
            <a:lstStyle/>
            <a:p>
              <a:pPr algn="ctr">
                <a:lnSpc>
                  <a:spcPts val="2859"/>
                </a:lnSpc>
              </a:pPr>
            </a:p>
          </p:txBody>
        </p:sp>
      </p:grpSp>
      <p:sp>
        <p:nvSpPr>
          <p:cNvPr name="TextBox 13" id="13"/>
          <p:cNvSpPr txBox="true"/>
          <p:nvPr/>
        </p:nvSpPr>
        <p:spPr>
          <a:xfrm rot="0">
            <a:off x="485379" y="197466"/>
            <a:ext cx="14258506" cy="1049296"/>
          </a:xfrm>
          <a:prstGeom prst="rect">
            <a:avLst/>
          </a:prstGeom>
        </p:spPr>
        <p:txBody>
          <a:bodyPr anchor="t" rtlCol="false" tIns="0" lIns="0" bIns="0" rIns="0">
            <a:spAutoFit/>
          </a:bodyPr>
          <a:lstStyle/>
          <a:p>
            <a:pPr algn="l">
              <a:lnSpc>
                <a:spcPts val="8531"/>
              </a:lnSpc>
            </a:pPr>
            <a:r>
              <a:rPr lang="en-US" sz="6182" spc="605" b="true">
                <a:solidFill>
                  <a:srgbClr val="231F20"/>
                </a:solidFill>
                <a:latin typeface="Oswald Bold"/>
                <a:ea typeface="Oswald Bold"/>
                <a:cs typeface="Oswald Bold"/>
                <a:sym typeface="Oswald Bold"/>
              </a:rPr>
              <a:t>Project Name: Parental  Alarm</a:t>
            </a:r>
          </a:p>
        </p:txBody>
      </p:sp>
      <p:sp>
        <p:nvSpPr>
          <p:cNvPr name="TextBox 14" id="14"/>
          <p:cNvSpPr txBox="true"/>
          <p:nvPr/>
        </p:nvSpPr>
        <p:spPr>
          <a:xfrm rot="0">
            <a:off x="2142191" y="1627809"/>
            <a:ext cx="7948492" cy="8187825"/>
          </a:xfrm>
          <a:prstGeom prst="rect">
            <a:avLst/>
          </a:prstGeom>
        </p:spPr>
        <p:txBody>
          <a:bodyPr anchor="t" rtlCol="false" tIns="0" lIns="0" bIns="0" rIns="0">
            <a:spAutoFit/>
          </a:bodyPr>
          <a:lstStyle/>
          <a:p>
            <a:pPr algn="l">
              <a:lnSpc>
                <a:spcPts val="3096"/>
              </a:lnSpc>
            </a:pPr>
            <a:r>
              <a:rPr lang="en-US" sz="2244" spc="219" b="true">
                <a:solidFill>
                  <a:srgbClr val="231F20"/>
                </a:solidFill>
                <a:latin typeface="DM Sans Bold"/>
                <a:ea typeface="DM Sans Bold"/>
                <a:cs typeface="DM Sans Bold"/>
                <a:sym typeface="DM Sans Bold"/>
              </a:rPr>
              <a:t>Project Name: Parental Accountability Alarm (PAA)</a:t>
            </a:r>
          </a:p>
          <a:p>
            <a:pPr algn="l">
              <a:lnSpc>
                <a:spcPts val="3096"/>
              </a:lnSpc>
            </a:pPr>
            <a:r>
              <a:rPr lang="en-US" sz="2244" spc="219" b="true">
                <a:solidFill>
                  <a:srgbClr val="231F20"/>
                </a:solidFill>
                <a:latin typeface="DM Sans Bold"/>
                <a:ea typeface="DM Sans Bold"/>
                <a:cs typeface="DM Sans Bold"/>
                <a:sym typeface="DM Sans Bold"/>
              </a:rPr>
              <a:t>Objective:</a:t>
            </a:r>
          </a:p>
          <a:p>
            <a:pPr algn="l">
              <a:lnSpc>
                <a:spcPts val="3096"/>
              </a:lnSpc>
            </a:pPr>
            <a:r>
              <a:rPr lang="en-US" sz="2244" spc="219" b="true">
                <a:solidFill>
                  <a:srgbClr val="231F20"/>
                </a:solidFill>
                <a:latin typeface="DM Sans Bold"/>
                <a:ea typeface="DM Sans Bold"/>
                <a:cs typeface="DM Sans Bold"/>
                <a:sym typeface="DM Sans Bold"/>
              </a:rPr>
              <a:t>To create an alarm system where users place their phone in a designated spot by a certain time every night. If they fail to do so, the system sends an alert message to their parents or guardians, promoting accountability and better sleep habits.</a:t>
            </a:r>
          </a:p>
          <a:p>
            <a:pPr algn="l">
              <a:lnSpc>
                <a:spcPts val="3096"/>
              </a:lnSpc>
            </a:pPr>
            <a:r>
              <a:rPr lang="en-US" sz="2244" spc="219" b="true">
                <a:solidFill>
                  <a:srgbClr val="231F20"/>
                </a:solidFill>
                <a:latin typeface="DM Sans Bold"/>
                <a:ea typeface="DM Sans Bold"/>
                <a:cs typeface="DM Sans Bold"/>
                <a:sym typeface="DM Sans Bold"/>
              </a:rPr>
              <a:t>Key Features:</a:t>
            </a:r>
          </a:p>
          <a:p>
            <a:pPr algn="l" marL="484499" indent="-242250" lvl="1">
              <a:lnSpc>
                <a:spcPts val="3096"/>
              </a:lnSpc>
              <a:buFont typeface="Arial"/>
              <a:buChar char="•"/>
            </a:pPr>
            <a:r>
              <a:rPr lang="en-US" b="true" sz="2244" spc="219">
                <a:solidFill>
                  <a:srgbClr val="231F20"/>
                </a:solidFill>
                <a:latin typeface="DM Sans Bold"/>
                <a:ea typeface="DM Sans Bold"/>
                <a:cs typeface="DM Sans Bold"/>
                <a:sym typeface="DM Sans Bold"/>
              </a:rPr>
              <a:t>Alarm Activation: Users must place their phone in the designated spot by a specific time.</a:t>
            </a:r>
          </a:p>
          <a:p>
            <a:pPr algn="l" marL="484499" indent="-242250" lvl="1">
              <a:lnSpc>
                <a:spcPts val="3096"/>
              </a:lnSpc>
              <a:buFont typeface="Arial"/>
              <a:buChar char="•"/>
            </a:pPr>
            <a:r>
              <a:rPr lang="en-US" b="true" sz="2244" spc="219">
                <a:solidFill>
                  <a:srgbClr val="231F20"/>
                </a:solidFill>
                <a:latin typeface="DM Sans Bold"/>
                <a:ea typeface="DM Sans Bold"/>
                <a:cs typeface="DM Sans Bold"/>
                <a:sym typeface="DM Sans Bold"/>
              </a:rPr>
              <a:t>Phone Detection: The system detects whether the phone is placed in time, using Bluetooth, Wi-Fi, or a docking station sensor.</a:t>
            </a:r>
          </a:p>
          <a:p>
            <a:pPr algn="l" marL="484499" indent="-242250" lvl="1">
              <a:lnSpc>
                <a:spcPts val="3096"/>
              </a:lnSpc>
              <a:buFont typeface="Arial"/>
              <a:buChar char="•"/>
            </a:pPr>
            <a:r>
              <a:rPr lang="en-US" b="true" sz="2244" spc="219">
                <a:solidFill>
                  <a:srgbClr val="231F20"/>
                </a:solidFill>
                <a:latin typeface="DM Sans Bold"/>
                <a:ea typeface="DM Sans Bold"/>
                <a:cs typeface="DM Sans Bold"/>
                <a:sym typeface="DM Sans Bold"/>
              </a:rPr>
              <a:t>Alert Mechanism: If the phone isn't placed in time, the system sends a pre-configured message to the parents.</a:t>
            </a:r>
          </a:p>
          <a:p>
            <a:pPr algn="l" marL="484499" indent="-242250" lvl="1">
              <a:lnSpc>
                <a:spcPts val="3096"/>
              </a:lnSpc>
              <a:buFont typeface="Arial"/>
              <a:buChar char="•"/>
            </a:pPr>
            <a:r>
              <a:rPr lang="en-US" b="true" sz="2244" spc="219">
                <a:solidFill>
                  <a:srgbClr val="231F20"/>
                </a:solidFill>
                <a:latin typeface="DM Sans Bold"/>
                <a:ea typeface="DM Sans Bold"/>
                <a:cs typeface="DM Sans Bold"/>
                <a:sym typeface="DM Sans Bold"/>
              </a:rPr>
              <a:t>It also charges the phone.</a:t>
            </a:r>
          </a:p>
          <a:p>
            <a:pPr algn="l" marL="0" indent="0" lvl="0">
              <a:lnSpc>
                <a:spcPts val="3096"/>
              </a:lnSpc>
              <a:spcBef>
                <a:spcPct val="0"/>
              </a:spcBef>
            </a:pPr>
          </a:p>
        </p:txBody>
      </p:sp>
      <p:sp>
        <p:nvSpPr>
          <p:cNvPr name="Freeform 15" id="15"/>
          <p:cNvSpPr/>
          <p:nvPr/>
        </p:nvSpPr>
        <p:spPr>
          <a:xfrm flipH="false" flipV="false" rot="0">
            <a:off x="796134" y="1907588"/>
            <a:ext cx="1156649" cy="1173721"/>
          </a:xfrm>
          <a:custGeom>
            <a:avLst/>
            <a:gdLst/>
            <a:ahLst/>
            <a:cxnLst/>
            <a:rect r="r" b="b" t="t" l="l"/>
            <a:pathLst>
              <a:path h="1173721" w="1156649">
                <a:moveTo>
                  <a:pt x="0" y="0"/>
                </a:moveTo>
                <a:lnTo>
                  <a:pt x="1156649" y="0"/>
                </a:lnTo>
                <a:lnTo>
                  <a:pt x="1156649" y="1173721"/>
                </a:lnTo>
                <a:lnTo>
                  <a:pt x="0" y="117372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90484" y="-343466"/>
            <a:ext cx="2238367" cy="2238367"/>
            <a:chOff x="0" y="0"/>
            <a:chExt cx="2984490" cy="2984490"/>
          </a:xfrm>
        </p:grpSpPr>
        <p:sp>
          <p:nvSpPr>
            <p:cNvPr name="Freeform 4" id="4"/>
            <p:cNvSpPr/>
            <p:nvPr/>
          </p:nvSpPr>
          <p:spPr>
            <a:xfrm flipH="false" flipV="false" rot="0">
              <a:off x="0" y="0"/>
              <a:ext cx="2984490" cy="2984490"/>
            </a:xfrm>
            <a:custGeom>
              <a:avLst/>
              <a:gdLst/>
              <a:ahLst/>
              <a:cxnLst/>
              <a:rect r="r" b="b" t="t" l="l"/>
              <a:pathLst>
                <a:path h="2984490" w="2984490">
                  <a:moveTo>
                    <a:pt x="0" y="0"/>
                  </a:moveTo>
                  <a:lnTo>
                    <a:pt x="2984490" y="0"/>
                  </a:lnTo>
                  <a:lnTo>
                    <a:pt x="2984490" y="2984490"/>
                  </a:lnTo>
                  <a:lnTo>
                    <a:pt x="0" y="29844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51790" y="790551"/>
              <a:ext cx="1280910" cy="1403387"/>
            </a:xfrm>
            <a:custGeom>
              <a:avLst/>
              <a:gdLst/>
              <a:ahLst/>
              <a:cxnLst/>
              <a:rect r="r" b="b" t="t" l="l"/>
              <a:pathLst>
                <a:path h="1403387" w="1280910">
                  <a:moveTo>
                    <a:pt x="0" y="0"/>
                  </a:moveTo>
                  <a:lnTo>
                    <a:pt x="1280910" y="0"/>
                  </a:lnTo>
                  <a:lnTo>
                    <a:pt x="1280910" y="1403388"/>
                  </a:lnTo>
                  <a:lnTo>
                    <a:pt x="0" y="140338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6" id="6"/>
          <p:cNvGrpSpPr/>
          <p:nvPr/>
        </p:nvGrpSpPr>
        <p:grpSpPr>
          <a:xfrm rot="0">
            <a:off x="303425" y="7507899"/>
            <a:ext cx="2238367" cy="2238367"/>
            <a:chOff x="0" y="0"/>
            <a:chExt cx="2984490" cy="2984490"/>
          </a:xfrm>
        </p:grpSpPr>
        <p:sp>
          <p:nvSpPr>
            <p:cNvPr name="Freeform 7" id="7"/>
            <p:cNvSpPr/>
            <p:nvPr/>
          </p:nvSpPr>
          <p:spPr>
            <a:xfrm flipH="false" flipV="false" rot="0">
              <a:off x="0" y="0"/>
              <a:ext cx="2984490" cy="2984490"/>
            </a:xfrm>
            <a:custGeom>
              <a:avLst/>
              <a:gdLst/>
              <a:ahLst/>
              <a:cxnLst/>
              <a:rect r="r" b="b" t="t" l="l"/>
              <a:pathLst>
                <a:path h="2984490" w="2984490">
                  <a:moveTo>
                    <a:pt x="0" y="0"/>
                  </a:moveTo>
                  <a:lnTo>
                    <a:pt x="2984490" y="0"/>
                  </a:lnTo>
                  <a:lnTo>
                    <a:pt x="2984490" y="2984490"/>
                  </a:lnTo>
                  <a:lnTo>
                    <a:pt x="0" y="29844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646450" y="672282"/>
              <a:ext cx="1691591" cy="1614700"/>
            </a:xfrm>
            <a:custGeom>
              <a:avLst/>
              <a:gdLst/>
              <a:ahLst/>
              <a:cxnLst/>
              <a:rect r="r" b="b" t="t" l="l"/>
              <a:pathLst>
                <a:path h="1614700" w="1691591">
                  <a:moveTo>
                    <a:pt x="0" y="0"/>
                  </a:moveTo>
                  <a:lnTo>
                    <a:pt x="1691590" y="0"/>
                  </a:lnTo>
                  <a:lnTo>
                    <a:pt x="1691590" y="1614700"/>
                  </a:lnTo>
                  <a:lnTo>
                    <a:pt x="0" y="16147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grpSp>
        <p:nvGrpSpPr>
          <p:cNvPr name="Group 9" id="9"/>
          <p:cNvGrpSpPr/>
          <p:nvPr/>
        </p:nvGrpSpPr>
        <p:grpSpPr>
          <a:xfrm rot="0">
            <a:off x="16442920" y="-592942"/>
            <a:ext cx="2238367" cy="2238367"/>
            <a:chOff x="0" y="0"/>
            <a:chExt cx="2984490" cy="2984490"/>
          </a:xfrm>
        </p:grpSpPr>
        <p:sp>
          <p:nvSpPr>
            <p:cNvPr name="Freeform 10" id="10"/>
            <p:cNvSpPr/>
            <p:nvPr/>
          </p:nvSpPr>
          <p:spPr>
            <a:xfrm flipH="false" flipV="false" rot="0">
              <a:off x="0" y="0"/>
              <a:ext cx="2984490" cy="2984490"/>
            </a:xfrm>
            <a:custGeom>
              <a:avLst/>
              <a:gdLst/>
              <a:ahLst/>
              <a:cxnLst/>
              <a:rect r="r" b="b" t="t" l="l"/>
              <a:pathLst>
                <a:path h="2984490" w="2984490">
                  <a:moveTo>
                    <a:pt x="0" y="0"/>
                  </a:moveTo>
                  <a:lnTo>
                    <a:pt x="2984490" y="0"/>
                  </a:lnTo>
                  <a:lnTo>
                    <a:pt x="2984490" y="2984490"/>
                  </a:lnTo>
                  <a:lnTo>
                    <a:pt x="0" y="29844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755709" y="744837"/>
              <a:ext cx="1473072" cy="1494815"/>
            </a:xfrm>
            <a:custGeom>
              <a:avLst/>
              <a:gdLst/>
              <a:ahLst/>
              <a:cxnLst/>
              <a:rect r="r" b="b" t="t" l="l"/>
              <a:pathLst>
                <a:path h="1494815" w="1473072">
                  <a:moveTo>
                    <a:pt x="0" y="0"/>
                  </a:moveTo>
                  <a:lnTo>
                    <a:pt x="1473072" y="0"/>
                  </a:lnTo>
                  <a:lnTo>
                    <a:pt x="1473072" y="1494816"/>
                  </a:lnTo>
                  <a:lnTo>
                    <a:pt x="0" y="149481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grpSp>
        <p:nvGrpSpPr>
          <p:cNvPr name="Group 12" id="12"/>
          <p:cNvGrpSpPr/>
          <p:nvPr/>
        </p:nvGrpSpPr>
        <p:grpSpPr>
          <a:xfrm rot="0">
            <a:off x="761229" y="1319353"/>
            <a:ext cx="3474003" cy="1151098"/>
            <a:chOff x="0" y="0"/>
            <a:chExt cx="914964" cy="303170"/>
          </a:xfrm>
        </p:grpSpPr>
        <p:sp>
          <p:nvSpPr>
            <p:cNvPr name="Freeform 13" id="13"/>
            <p:cNvSpPr/>
            <p:nvPr/>
          </p:nvSpPr>
          <p:spPr>
            <a:xfrm flipH="false" flipV="false" rot="0">
              <a:off x="0" y="0"/>
              <a:ext cx="914964" cy="303170"/>
            </a:xfrm>
            <a:custGeom>
              <a:avLst/>
              <a:gdLst/>
              <a:ahLst/>
              <a:cxnLst/>
              <a:rect r="r" b="b" t="t" l="l"/>
              <a:pathLst>
                <a:path h="303170" w="914964">
                  <a:moveTo>
                    <a:pt x="0" y="0"/>
                  </a:moveTo>
                  <a:lnTo>
                    <a:pt x="914964" y="0"/>
                  </a:lnTo>
                  <a:lnTo>
                    <a:pt x="914964" y="303170"/>
                  </a:lnTo>
                  <a:lnTo>
                    <a:pt x="0" y="303170"/>
                  </a:lnTo>
                  <a:close/>
                </a:path>
              </a:pathLst>
            </a:custGeom>
            <a:solidFill>
              <a:srgbClr val="1A1A1A"/>
            </a:solidFill>
          </p:spPr>
        </p:sp>
        <p:sp>
          <p:nvSpPr>
            <p:cNvPr name="TextBox 14" id="14"/>
            <p:cNvSpPr txBox="true"/>
            <p:nvPr/>
          </p:nvSpPr>
          <p:spPr>
            <a:xfrm>
              <a:off x="0" y="-57150"/>
              <a:ext cx="914964" cy="360320"/>
            </a:xfrm>
            <a:prstGeom prst="rect">
              <a:avLst/>
            </a:prstGeom>
          </p:spPr>
          <p:txBody>
            <a:bodyPr anchor="ctr" rtlCol="false" tIns="50800" lIns="50800" bIns="50800" rIns="50800"/>
            <a:lstStyle/>
            <a:p>
              <a:pPr algn="ctr" marL="0" indent="0" lvl="0">
                <a:lnSpc>
                  <a:spcPts val="4114"/>
                </a:lnSpc>
                <a:spcBef>
                  <a:spcPct val="0"/>
                </a:spcBef>
              </a:pPr>
              <a:r>
                <a:rPr lang="en-US" b="true" sz="2981" spc="29">
                  <a:solidFill>
                    <a:srgbClr val="FFFFFF"/>
                  </a:solidFill>
                  <a:latin typeface="DM Sans Bold"/>
                  <a:ea typeface="DM Sans Bold"/>
                  <a:cs typeface="DM Sans Bold"/>
                  <a:sym typeface="DM Sans Bold"/>
                </a:rPr>
                <a:t>Project Strategy &amp; Plan:</a:t>
              </a:r>
            </a:p>
          </p:txBody>
        </p:sp>
      </p:grpSp>
      <p:sp>
        <p:nvSpPr>
          <p:cNvPr name="TextBox 15" id="15"/>
          <p:cNvSpPr txBox="true"/>
          <p:nvPr/>
        </p:nvSpPr>
        <p:spPr>
          <a:xfrm rot="0">
            <a:off x="3152941" y="-114300"/>
            <a:ext cx="11552977" cy="1166783"/>
          </a:xfrm>
          <a:prstGeom prst="rect">
            <a:avLst/>
          </a:prstGeom>
        </p:spPr>
        <p:txBody>
          <a:bodyPr anchor="t" rtlCol="false" tIns="0" lIns="0" bIns="0" rIns="0">
            <a:spAutoFit/>
          </a:bodyPr>
          <a:lstStyle/>
          <a:p>
            <a:pPr algn="ctr">
              <a:lnSpc>
                <a:spcPts val="9587"/>
              </a:lnSpc>
            </a:pPr>
            <a:r>
              <a:rPr lang="en-US" b="true" sz="6947" spc="368">
                <a:solidFill>
                  <a:srgbClr val="231F20"/>
                </a:solidFill>
                <a:latin typeface="Oswald Bold"/>
                <a:ea typeface="Oswald Bold"/>
                <a:cs typeface="Oswald Bold"/>
                <a:sym typeface="Oswald Bold"/>
              </a:rPr>
              <a:t>GOALS AND OBJECTIVES</a:t>
            </a:r>
          </a:p>
        </p:txBody>
      </p:sp>
      <p:sp>
        <p:nvSpPr>
          <p:cNvPr name="TextBox 16" id="16"/>
          <p:cNvSpPr txBox="true"/>
          <p:nvPr/>
        </p:nvSpPr>
        <p:spPr>
          <a:xfrm rot="0">
            <a:off x="303425" y="2591704"/>
            <a:ext cx="4389612" cy="2735342"/>
          </a:xfrm>
          <a:prstGeom prst="rect">
            <a:avLst/>
          </a:prstGeom>
        </p:spPr>
        <p:txBody>
          <a:bodyPr anchor="t" rtlCol="false" tIns="0" lIns="0" bIns="0" rIns="0">
            <a:spAutoFit/>
          </a:bodyPr>
          <a:lstStyle/>
          <a:p>
            <a:pPr algn="ctr" marL="434050" indent="-217025" lvl="1">
              <a:lnSpc>
                <a:spcPts val="2774"/>
              </a:lnSpc>
              <a:buAutoNum type="arabicPeriod" startAt="1"/>
            </a:pPr>
            <a:r>
              <a:rPr lang="en-US" b="true" sz="2010" spc="197">
                <a:solidFill>
                  <a:srgbClr val="231F20"/>
                </a:solidFill>
                <a:latin typeface="DM Sans Bold"/>
                <a:ea typeface="DM Sans Bold"/>
                <a:cs typeface="DM Sans Bold"/>
                <a:sym typeface="DM Sans Bold"/>
              </a:rPr>
              <a:t>Prototype Development: 2 months</a:t>
            </a:r>
          </a:p>
          <a:p>
            <a:pPr algn="ctr" marL="434050" indent="-217025" lvl="1">
              <a:lnSpc>
                <a:spcPts val="2774"/>
              </a:lnSpc>
              <a:buAutoNum type="arabicPeriod" startAt="1"/>
            </a:pPr>
            <a:r>
              <a:rPr lang="en-US" b="true" sz="2010" spc="197">
                <a:solidFill>
                  <a:srgbClr val="231F20"/>
                </a:solidFill>
                <a:latin typeface="DM Sans Bold"/>
                <a:ea typeface="DM Sans Bold"/>
                <a:cs typeface="DM Sans Bold"/>
                <a:sym typeface="DM Sans Bold"/>
              </a:rPr>
              <a:t>App Integration (if using an app): 3 months</a:t>
            </a:r>
          </a:p>
          <a:p>
            <a:pPr algn="ctr" marL="434050" indent="-217025" lvl="1">
              <a:lnSpc>
                <a:spcPts val="2774"/>
              </a:lnSpc>
              <a:buAutoNum type="arabicPeriod" startAt="1"/>
            </a:pPr>
            <a:r>
              <a:rPr lang="en-US" b="true" sz="2010" spc="197">
                <a:solidFill>
                  <a:srgbClr val="231F20"/>
                </a:solidFill>
                <a:latin typeface="DM Sans Bold"/>
                <a:ea typeface="DM Sans Bold"/>
                <a:cs typeface="DM Sans Bold"/>
                <a:sym typeface="DM Sans Bold"/>
              </a:rPr>
              <a:t>Testing and Feedback: 1 month</a:t>
            </a:r>
          </a:p>
          <a:p>
            <a:pPr algn="ctr" marL="434050" indent="-217025" lvl="1">
              <a:lnSpc>
                <a:spcPts val="2774"/>
              </a:lnSpc>
              <a:buAutoNum type="arabicPeriod" startAt="1"/>
            </a:pPr>
            <a:r>
              <a:rPr lang="en-US" b="true" sz="2010" spc="197">
                <a:solidFill>
                  <a:srgbClr val="231F20"/>
                </a:solidFill>
                <a:latin typeface="DM Sans Bold"/>
                <a:ea typeface="DM Sans Bold"/>
                <a:cs typeface="DM Sans Bold"/>
                <a:sym typeface="DM Sans Bold"/>
              </a:rPr>
              <a:t>Final Product Launch: 6 months</a:t>
            </a:r>
          </a:p>
        </p:txBody>
      </p:sp>
      <p:grpSp>
        <p:nvGrpSpPr>
          <p:cNvPr name="Group 17" id="17"/>
          <p:cNvGrpSpPr/>
          <p:nvPr/>
        </p:nvGrpSpPr>
        <p:grpSpPr>
          <a:xfrm rot="0">
            <a:off x="6646690" y="1319353"/>
            <a:ext cx="3474003" cy="1151098"/>
            <a:chOff x="0" y="0"/>
            <a:chExt cx="914964" cy="303170"/>
          </a:xfrm>
        </p:grpSpPr>
        <p:sp>
          <p:nvSpPr>
            <p:cNvPr name="Freeform 18" id="18"/>
            <p:cNvSpPr/>
            <p:nvPr/>
          </p:nvSpPr>
          <p:spPr>
            <a:xfrm flipH="false" flipV="false" rot="0">
              <a:off x="0" y="0"/>
              <a:ext cx="914964" cy="303170"/>
            </a:xfrm>
            <a:custGeom>
              <a:avLst/>
              <a:gdLst/>
              <a:ahLst/>
              <a:cxnLst/>
              <a:rect r="r" b="b" t="t" l="l"/>
              <a:pathLst>
                <a:path h="303170" w="914964">
                  <a:moveTo>
                    <a:pt x="0" y="0"/>
                  </a:moveTo>
                  <a:lnTo>
                    <a:pt x="914964" y="0"/>
                  </a:lnTo>
                  <a:lnTo>
                    <a:pt x="914964" y="303170"/>
                  </a:lnTo>
                  <a:lnTo>
                    <a:pt x="0" y="303170"/>
                  </a:lnTo>
                  <a:close/>
                </a:path>
              </a:pathLst>
            </a:custGeom>
            <a:solidFill>
              <a:srgbClr val="1A1A1A"/>
            </a:solidFill>
          </p:spPr>
        </p:sp>
        <p:sp>
          <p:nvSpPr>
            <p:cNvPr name="TextBox 19" id="19"/>
            <p:cNvSpPr txBox="true"/>
            <p:nvPr/>
          </p:nvSpPr>
          <p:spPr>
            <a:xfrm>
              <a:off x="0" y="-57150"/>
              <a:ext cx="914964" cy="360320"/>
            </a:xfrm>
            <a:prstGeom prst="rect">
              <a:avLst/>
            </a:prstGeom>
          </p:spPr>
          <p:txBody>
            <a:bodyPr anchor="ctr" rtlCol="false" tIns="50800" lIns="50800" bIns="50800" rIns="50800"/>
            <a:lstStyle/>
            <a:p>
              <a:pPr algn="ctr" marL="0" indent="0" lvl="0">
                <a:lnSpc>
                  <a:spcPts val="4114"/>
                </a:lnSpc>
                <a:spcBef>
                  <a:spcPct val="0"/>
                </a:spcBef>
              </a:pPr>
              <a:r>
                <a:rPr lang="en-US" b="true" sz="2981" spc="29">
                  <a:solidFill>
                    <a:srgbClr val="FFFFFF"/>
                  </a:solidFill>
                  <a:latin typeface="DM Sans Bold"/>
                  <a:ea typeface="DM Sans Bold"/>
                  <a:cs typeface="DM Sans Bold"/>
                  <a:sym typeface="DM Sans Bold"/>
                </a:rPr>
                <a:t>Core Business Processes:</a:t>
              </a:r>
            </a:p>
          </p:txBody>
        </p:sp>
      </p:grpSp>
      <p:sp>
        <p:nvSpPr>
          <p:cNvPr name="TextBox 20" id="20"/>
          <p:cNvSpPr txBox="true"/>
          <p:nvPr/>
        </p:nvSpPr>
        <p:spPr>
          <a:xfrm rot="0">
            <a:off x="5257250" y="2591704"/>
            <a:ext cx="6252883" cy="6850142"/>
          </a:xfrm>
          <a:prstGeom prst="rect">
            <a:avLst/>
          </a:prstGeom>
        </p:spPr>
        <p:txBody>
          <a:bodyPr anchor="t" rtlCol="false" tIns="0" lIns="0" bIns="0" rIns="0">
            <a:spAutoFit/>
          </a:bodyPr>
          <a:lstStyle/>
          <a:p>
            <a:pPr algn="l" marL="434050" indent="-217025" lvl="1">
              <a:lnSpc>
                <a:spcPts val="2774"/>
              </a:lnSpc>
              <a:buAutoNum type="arabicPeriod" startAt="1"/>
            </a:pPr>
            <a:r>
              <a:rPr lang="en-US" b="true" sz="2010" spc="197">
                <a:solidFill>
                  <a:srgbClr val="231F20"/>
                </a:solidFill>
                <a:latin typeface="DM Sans Bold"/>
                <a:ea typeface="DM Sans Bold"/>
                <a:cs typeface="DM Sans Bold"/>
                <a:sym typeface="DM Sans Bold"/>
              </a:rPr>
              <a:t>User Registration &amp; Configuration:</a:t>
            </a:r>
          </a:p>
          <a:p>
            <a:pPr algn="l" marL="434050" indent="-217025" lvl="1">
              <a:lnSpc>
                <a:spcPts val="2774"/>
              </a:lnSpc>
              <a:buFont typeface="Arial"/>
              <a:buChar char="•"/>
            </a:pPr>
            <a:r>
              <a:rPr lang="en-US" b="true" sz="2010" spc="197">
                <a:solidFill>
                  <a:srgbClr val="231F20"/>
                </a:solidFill>
                <a:latin typeface="DM Sans Bold"/>
                <a:ea typeface="DM Sans Bold"/>
                <a:cs typeface="DM Sans Bold"/>
                <a:sym typeface="DM Sans Bold"/>
              </a:rPr>
              <a:t>Allow users to register and configure the alarm timing, message content, and parental contact details.</a:t>
            </a:r>
          </a:p>
          <a:p>
            <a:pPr algn="l" marL="434050" indent="-217025" lvl="1">
              <a:lnSpc>
                <a:spcPts val="2774"/>
              </a:lnSpc>
              <a:buAutoNum type="arabicPeriod" startAt="1"/>
            </a:pPr>
            <a:r>
              <a:rPr lang="en-US" b="true" sz="2010" spc="197">
                <a:solidFill>
                  <a:srgbClr val="231F20"/>
                </a:solidFill>
                <a:latin typeface="DM Sans Bold"/>
                <a:ea typeface="DM Sans Bold"/>
                <a:cs typeface="DM Sans Bold"/>
                <a:sym typeface="DM Sans Bold"/>
              </a:rPr>
              <a:t>Phone Detection Process:</a:t>
            </a:r>
          </a:p>
          <a:p>
            <a:pPr algn="l" marL="434050" indent="-217025" lvl="1">
              <a:lnSpc>
                <a:spcPts val="2774"/>
              </a:lnSpc>
              <a:buFont typeface="Arial"/>
              <a:buChar char="•"/>
            </a:pPr>
            <a:r>
              <a:rPr lang="en-US" b="true" sz="2010" spc="197">
                <a:solidFill>
                  <a:srgbClr val="231F20"/>
                </a:solidFill>
                <a:latin typeface="DM Sans Bold"/>
                <a:ea typeface="DM Sans Bold"/>
                <a:cs typeface="DM Sans Bold"/>
                <a:sym typeface="DM Sans Bold"/>
              </a:rPr>
              <a:t>System detects whether the phone is in place using a sensor or docking station.</a:t>
            </a:r>
          </a:p>
          <a:p>
            <a:pPr algn="l" marL="434050" indent="-217025" lvl="1">
              <a:lnSpc>
                <a:spcPts val="2774"/>
              </a:lnSpc>
              <a:buAutoNum type="arabicPeriod" startAt="1"/>
            </a:pPr>
            <a:r>
              <a:rPr lang="en-US" b="true" sz="2010" spc="197">
                <a:solidFill>
                  <a:srgbClr val="231F20"/>
                </a:solidFill>
                <a:latin typeface="DM Sans Bold"/>
                <a:ea typeface="DM Sans Bold"/>
                <a:cs typeface="DM Sans Bold"/>
                <a:sym typeface="DM Sans Bold"/>
              </a:rPr>
              <a:t>Notification &amp; Alert Process:</a:t>
            </a:r>
          </a:p>
          <a:p>
            <a:pPr algn="l" marL="434050" indent="-217025" lvl="1">
              <a:lnSpc>
                <a:spcPts val="2774"/>
              </a:lnSpc>
              <a:buFont typeface="Arial"/>
              <a:buChar char="•"/>
            </a:pPr>
            <a:r>
              <a:rPr lang="en-US" b="true" sz="2010" spc="197">
                <a:solidFill>
                  <a:srgbClr val="231F20"/>
                </a:solidFill>
                <a:latin typeface="DM Sans Bold"/>
                <a:ea typeface="DM Sans Bold"/>
                <a:cs typeface="DM Sans Bold"/>
                <a:sym typeface="DM Sans Bold"/>
              </a:rPr>
              <a:t>If the phone</a:t>
            </a:r>
            <a:r>
              <a:rPr lang="en-US" b="true" sz="2010" spc="197">
                <a:solidFill>
                  <a:srgbClr val="231F20"/>
                </a:solidFill>
                <a:latin typeface="DM Sans Bold"/>
                <a:ea typeface="DM Sans Bold"/>
                <a:cs typeface="DM Sans Bold"/>
                <a:sym typeface="DM Sans Bold"/>
              </a:rPr>
              <a:t> isn't placed in time, the system automatically triggers a message to the parents.</a:t>
            </a:r>
          </a:p>
          <a:p>
            <a:pPr algn="l" marL="434050" indent="-217025" lvl="1">
              <a:lnSpc>
                <a:spcPts val="2774"/>
              </a:lnSpc>
              <a:buAutoNum type="arabicPeriod" startAt="1"/>
            </a:pPr>
            <a:r>
              <a:rPr lang="en-US" b="true" sz="2010" spc="197">
                <a:solidFill>
                  <a:srgbClr val="231F20"/>
                </a:solidFill>
                <a:latin typeface="DM Sans Bold"/>
                <a:ea typeface="DM Sans Bold"/>
                <a:cs typeface="DM Sans Bold"/>
                <a:sym typeface="DM Sans Bold"/>
              </a:rPr>
              <a:t>Data Tracking &amp; Analytics:</a:t>
            </a:r>
          </a:p>
          <a:p>
            <a:pPr algn="l" marL="434050" indent="-217025" lvl="1">
              <a:lnSpc>
                <a:spcPts val="2774"/>
              </a:lnSpc>
              <a:buFont typeface="Arial"/>
              <a:buChar char="•"/>
            </a:pPr>
            <a:r>
              <a:rPr lang="en-US" b="true" sz="2010" spc="197">
                <a:solidFill>
                  <a:srgbClr val="231F20"/>
                </a:solidFill>
                <a:latin typeface="DM Sans Bold"/>
                <a:ea typeface="DM Sans Bold"/>
                <a:cs typeface="DM Sans Bold"/>
                <a:sym typeface="DM Sans Bold"/>
              </a:rPr>
              <a:t>Track users' adherence to the alarm and provide insights into how often they miss placing their phone.</a:t>
            </a:r>
          </a:p>
          <a:p>
            <a:pPr algn="l" marL="434050" indent="-217025" lvl="1">
              <a:lnSpc>
                <a:spcPts val="2774"/>
              </a:lnSpc>
              <a:buAutoNum type="arabicPeriod" startAt="1"/>
            </a:pPr>
            <a:r>
              <a:rPr lang="en-US" b="true" sz="2010" spc="197">
                <a:solidFill>
                  <a:srgbClr val="231F20"/>
                </a:solidFill>
                <a:latin typeface="DM Sans Bold"/>
                <a:ea typeface="DM Sans Bold"/>
                <a:cs typeface="DM Sans Bold"/>
                <a:sym typeface="DM Sans Bold"/>
              </a:rPr>
              <a:t>Customer Support Process:</a:t>
            </a:r>
          </a:p>
          <a:p>
            <a:pPr algn="l" marL="434050" indent="-217025" lvl="1">
              <a:lnSpc>
                <a:spcPts val="2774"/>
              </a:lnSpc>
              <a:buFont typeface="Arial"/>
              <a:buChar char="•"/>
            </a:pPr>
            <a:r>
              <a:rPr lang="en-US" b="true" sz="2010" spc="197">
                <a:solidFill>
                  <a:srgbClr val="231F20"/>
                </a:solidFill>
                <a:latin typeface="DM Sans Bold"/>
                <a:ea typeface="DM Sans Bold"/>
                <a:cs typeface="DM Sans Bold"/>
                <a:sym typeface="DM Sans Bold"/>
              </a:rPr>
              <a:t>Support users with technical issues, feedback, and troubleshooting.</a:t>
            </a:r>
          </a:p>
          <a:p>
            <a:pPr algn="l" marL="0" indent="0" lvl="0">
              <a:lnSpc>
                <a:spcPts val="2774"/>
              </a:lnSpc>
              <a:spcBef>
                <a:spcPct val="0"/>
              </a:spcBef>
            </a:pPr>
          </a:p>
        </p:txBody>
      </p:sp>
      <p:sp>
        <p:nvSpPr>
          <p:cNvPr name="Freeform 21" id="21"/>
          <p:cNvSpPr/>
          <p:nvPr/>
        </p:nvSpPr>
        <p:spPr>
          <a:xfrm flipH="false" flipV="false" rot="0">
            <a:off x="14479722" y="-4833750"/>
            <a:ext cx="7616557" cy="7815497"/>
          </a:xfrm>
          <a:custGeom>
            <a:avLst/>
            <a:gdLst/>
            <a:ahLst/>
            <a:cxnLst/>
            <a:rect r="r" b="b" t="t" l="l"/>
            <a:pathLst>
              <a:path h="7815497" w="7616557">
                <a:moveTo>
                  <a:pt x="0" y="0"/>
                </a:moveTo>
                <a:lnTo>
                  <a:pt x="7616556" y="0"/>
                </a:lnTo>
                <a:lnTo>
                  <a:pt x="7616556" y="7815497"/>
                </a:lnTo>
                <a:lnTo>
                  <a:pt x="0" y="781549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2" id="22"/>
          <p:cNvSpPr/>
          <p:nvPr/>
        </p:nvSpPr>
        <p:spPr>
          <a:xfrm flipH="false" flipV="false" rot="-4176364">
            <a:off x="-2779578" y="5350552"/>
            <a:ext cx="7616557" cy="7815497"/>
          </a:xfrm>
          <a:custGeom>
            <a:avLst/>
            <a:gdLst/>
            <a:ahLst/>
            <a:cxnLst/>
            <a:rect r="r" b="b" t="t" l="l"/>
            <a:pathLst>
              <a:path h="7815497" w="7616557">
                <a:moveTo>
                  <a:pt x="0" y="0"/>
                </a:moveTo>
                <a:lnTo>
                  <a:pt x="7616556" y="0"/>
                </a:lnTo>
                <a:lnTo>
                  <a:pt x="7616556" y="7815496"/>
                </a:lnTo>
                <a:lnTo>
                  <a:pt x="0" y="781549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3" id="23"/>
          <p:cNvGrpSpPr/>
          <p:nvPr/>
        </p:nvGrpSpPr>
        <p:grpSpPr>
          <a:xfrm rot="0">
            <a:off x="12968917" y="1319353"/>
            <a:ext cx="3474003" cy="1151098"/>
            <a:chOff x="0" y="0"/>
            <a:chExt cx="914964" cy="303170"/>
          </a:xfrm>
        </p:grpSpPr>
        <p:sp>
          <p:nvSpPr>
            <p:cNvPr name="Freeform 24" id="24"/>
            <p:cNvSpPr/>
            <p:nvPr/>
          </p:nvSpPr>
          <p:spPr>
            <a:xfrm flipH="false" flipV="false" rot="0">
              <a:off x="0" y="0"/>
              <a:ext cx="914964" cy="303170"/>
            </a:xfrm>
            <a:custGeom>
              <a:avLst/>
              <a:gdLst/>
              <a:ahLst/>
              <a:cxnLst/>
              <a:rect r="r" b="b" t="t" l="l"/>
              <a:pathLst>
                <a:path h="303170" w="914964">
                  <a:moveTo>
                    <a:pt x="0" y="0"/>
                  </a:moveTo>
                  <a:lnTo>
                    <a:pt x="914964" y="0"/>
                  </a:lnTo>
                  <a:lnTo>
                    <a:pt x="914964" y="303170"/>
                  </a:lnTo>
                  <a:lnTo>
                    <a:pt x="0" y="303170"/>
                  </a:lnTo>
                  <a:close/>
                </a:path>
              </a:pathLst>
            </a:custGeom>
            <a:solidFill>
              <a:srgbClr val="1A1A1A"/>
            </a:solidFill>
          </p:spPr>
        </p:sp>
        <p:sp>
          <p:nvSpPr>
            <p:cNvPr name="TextBox 25" id="25"/>
            <p:cNvSpPr txBox="true"/>
            <p:nvPr/>
          </p:nvSpPr>
          <p:spPr>
            <a:xfrm>
              <a:off x="0" y="-57150"/>
              <a:ext cx="914964" cy="360320"/>
            </a:xfrm>
            <a:prstGeom prst="rect">
              <a:avLst/>
            </a:prstGeom>
          </p:spPr>
          <p:txBody>
            <a:bodyPr anchor="ctr" rtlCol="false" tIns="50800" lIns="50800" bIns="50800" rIns="50800"/>
            <a:lstStyle/>
            <a:p>
              <a:pPr algn="ctr">
                <a:lnSpc>
                  <a:spcPts val="4114"/>
                </a:lnSpc>
                <a:spcBef>
                  <a:spcPct val="0"/>
                </a:spcBef>
              </a:pPr>
              <a:r>
                <a:rPr lang="en-US" b="true" sz="2981" spc="29">
                  <a:solidFill>
                    <a:srgbClr val="FFFFFF"/>
                  </a:solidFill>
                  <a:latin typeface="DM Sans Bold"/>
                  <a:ea typeface="DM Sans Bold"/>
                  <a:cs typeface="DM Sans Bold"/>
                  <a:sym typeface="DM Sans Bold"/>
                </a:rPr>
                <a:t>Organizational Structure:</a:t>
              </a:r>
            </a:p>
          </p:txBody>
        </p:sp>
      </p:grpSp>
      <p:sp>
        <p:nvSpPr>
          <p:cNvPr name="TextBox 26" id="26"/>
          <p:cNvSpPr txBox="true"/>
          <p:nvPr/>
        </p:nvSpPr>
        <p:spPr>
          <a:xfrm rot="0">
            <a:off x="11640667" y="2591704"/>
            <a:ext cx="6130502" cy="6850142"/>
          </a:xfrm>
          <a:prstGeom prst="rect">
            <a:avLst/>
          </a:prstGeom>
        </p:spPr>
        <p:txBody>
          <a:bodyPr anchor="t" rtlCol="false" tIns="0" lIns="0" bIns="0" rIns="0">
            <a:spAutoFit/>
          </a:bodyPr>
          <a:lstStyle/>
          <a:p>
            <a:pPr algn="l" marL="434050" indent="-217025" lvl="1">
              <a:lnSpc>
                <a:spcPts val="2774"/>
              </a:lnSpc>
              <a:buAutoNum type="arabicPeriod" startAt="1"/>
            </a:pPr>
            <a:r>
              <a:rPr lang="en-US" b="true" sz="2010" spc="197">
                <a:solidFill>
                  <a:srgbClr val="231F20"/>
                </a:solidFill>
                <a:latin typeface="DM Sans Bold"/>
                <a:ea typeface="DM Sans Bold"/>
                <a:cs typeface="DM Sans Bold"/>
                <a:sym typeface="DM Sans Bold"/>
              </a:rPr>
              <a:t>Project Manager: Oversees the project timeline, ensures milestones are met, and manages team communication.</a:t>
            </a:r>
          </a:p>
          <a:p>
            <a:pPr algn="l" marL="434050" indent="-217025" lvl="1">
              <a:lnSpc>
                <a:spcPts val="2774"/>
              </a:lnSpc>
              <a:buAutoNum type="arabicPeriod" startAt="1"/>
            </a:pPr>
            <a:r>
              <a:rPr lang="en-US" b="true" sz="2010" spc="197">
                <a:solidFill>
                  <a:srgbClr val="231F20"/>
                </a:solidFill>
                <a:latin typeface="DM Sans Bold"/>
                <a:ea typeface="DM Sans Bold"/>
                <a:cs typeface="DM Sans Bold"/>
                <a:sym typeface="DM Sans Bold"/>
              </a:rPr>
              <a:t>Software Engineers: Responsible for developing the phone detection system and notification features.</a:t>
            </a:r>
          </a:p>
          <a:p>
            <a:pPr algn="l" marL="434050" indent="-217025" lvl="1">
              <a:lnSpc>
                <a:spcPts val="2774"/>
              </a:lnSpc>
              <a:buAutoNum type="arabicPeriod" startAt="1"/>
            </a:pPr>
            <a:r>
              <a:rPr lang="en-US" b="true" sz="2010" spc="197">
                <a:solidFill>
                  <a:srgbClr val="231F20"/>
                </a:solidFill>
                <a:latin typeface="DM Sans Bold"/>
                <a:ea typeface="DM Sans Bold"/>
                <a:cs typeface="DM Sans Bold"/>
                <a:sym typeface="DM Sans Bold"/>
              </a:rPr>
              <a:t>UI/UX Designers: Design the user interface for the alarm system and any companion app, ensuring ease of use.</a:t>
            </a:r>
          </a:p>
          <a:p>
            <a:pPr algn="l" marL="434050" indent="-217025" lvl="1">
              <a:lnSpc>
                <a:spcPts val="2774"/>
              </a:lnSpc>
              <a:buAutoNum type="arabicPeriod" startAt="1"/>
            </a:pPr>
            <a:r>
              <a:rPr lang="en-US" b="true" sz="2010" spc="197">
                <a:solidFill>
                  <a:srgbClr val="231F20"/>
                </a:solidFill>
                <a:latin typeface="DM Sans Bold"/>
                <a:ea typeface="DM Sans Bold"/>
                <a:cs typeface="DM Sans Bold"/>
                <a:sym typeface="DM Sans Bold"/>
              </a:rPr>
              <a:t>Data Analyst: Analyzes user data, adherence to alarm, and feedback to improve the system.</a:t>
            </a:r>
          </a:p>
          <a:p>
            <a:pPr algn="l" marL="434050" indent="-217025" lvl="1">
              <a:lnSpc>
                <a:spcPts val="2774"/>
              </a:lnSpc>
              <a:buAutoNum type="arabicPeriod" startAt="1"/>
            </a:pPr>
            <a:r>
              <a:rPr lang="en-US" b="true" sz="2010" spc="197">
                <a:solidFill>
                  <a:srgbClr val="231F20"/>
                </a:solidFill>
                <a:latin typeface="DM Sans Bold"/>
                <a:ea typeface="DM Sans Bold"/>
                <a:cs typeface="DM Sans Bold"/>
                <a:sym typeface="DM Sans Bold"/>
              </a:rPr>
              <a:t>Customer Support Team: Handles user queries, technical support, and feedback post-launch.</a:t>
            </a:r>
          </a:p>
          <a:p>
            <a:pPr algn="l" marL="434050" indent="-217025" lvl="1">
              <a:lnSpc>
                <a:spcPts val="2774"/>
              </a:lnSpc>
              <a:buAutoNum type="arabicPeriod" startAt="1"/>
            </a:pPr>
            <a:r>
              <a:rPr lang="en-US" b="true" sz="2010" spc="197">
                <a:solidFill>
                  <a:srgbClr val="231F20"/>
                </a:solidFill>
                <a:latin typeface="DM Sans Bold"/>
                <a:ea typeface="DM Sans Bold"/>
                <a:cs typeface="DM Sans Bold"/>
                <a:sym typeface="DM Sans Bold"/>
              </a:rPr>
              <a:t>Marketing Team: Responsible for promoting the alarm system, engaging potential customers, and building brand awareness.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sp>
        <p:nvSpPr>
          <p:cNvPr name="Freeform 2" id="2"/>
          <p:cNvSpPr/>
          <p:nvPr/>
        </p:nvSpPr>
        <p:spPr>
          <a:xfrm flipH="false" flipV="false" rot="0">
            <a:off x="-8992227" y="-11112133"/>
            <a:ext cx="15841853" cy="16255633"/>
          </a:xfrm>
          <a:custGeom>
            <a:avLst/>
            <a:gdLst/>
            <a:ahLst/>
            <a:cxnLst/>
            <a:rect r="r" b="b" t="t" l="l"/>
            <a:pathLst>
              <a:path h="16255633" w="15841853">
                <a:moveTo>
                  <a:pt x="0" y="0"/>
                </a:moveTo>
                <a:lnTo>
                  <a:pt x="15841853" y="0"/>
                </a:lnTo>
                <a:lnTo>
                  <a:pt x="15841853" y="16255633"/>
                </a:lnTo>
                <a:lnTo>
                  <a:pt x="0" y="162556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047496" y="914400"/>
            <a:ext cx="12229320" cy="1082233"/>
          </a:xfrm>
          <a:prstGeom prst="rect">
            <a:avLst/>
          </a:prstGeom>
        </p:spPr>
        <p:txBody>
          <a:bodyPr anchor="t" rtlCol="false" tIns="0" lIns="0" bIns="0" rIns="0">
            <a:spAutoFit/>
          </a:bodyPr>
          <a:lstStyle/>
          <a:p>
            <a:pPr algn="l">
              <a:lnSpc>
                <a:spcPts val="8843"/>
              </a:lnSpc>
            </a:pPr>
            <a:r>
              <a:rPr lang="en-US" b="true" sz="6408" spc="628">
                <a:solidFill>
                  <a:srgbClr val="FFFFFF"/>
                </a:solidFill>
                <a:latin typeface="Oswald Bold"/>
                <a:ea typeface="Oswald Bold"/>
                <a:cs typeface="Oswald Bold"/>
                <a:sym typeface="Oswald Bold"/>
              </a:rPr>
              <a:t>RISKS IN PANDEMIC TIME:</a:t>
            </a:r>
          </a:p>
        </p:txBody>
      </p:sp>
      <p:sp>
        <p:nvSpPr>
          <p:cNvPr name="Freeform 4" id="4"/>
          <p:cNvSpPr/>
          <p:nvPr/>
        </p:nvSpPr>
        <p:spPr>
          <a:xfrm flipH="false" flipV="false" rot="0">
            <a:off x="16612549" y="-1548389"/>
            <a:ext cx="15841853" cy="16255633"/>
          </a:xfrm>
          <a:custGeom>
            <a:avLst/>
            <a:gdLst/>
            <a:ahLst/>
            <a:cxnLst/>
            <a:rect r="r" b="b" t="t" l="l"/>
            <a:pathLst>
              <a:path h="16255633" w="15841853">
                <a:moveTo>
                  <a:pt x="0" y="0"/>
                </a:moveTo>
                <a:lnTo>
                  <a:pt x="15841853" y="0"/>
                </a:lnTo>
                <a:lnTo>
                  <a:pt x="15841853" y="16255633"/>
                </a:lnTo>
                <a:lnTo>
                  <a:pt x="0" y="162556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164555" y="2257763"/>
            <a:ext cx="16094745" cy="7953037"/>
          </a:xfrm>
          <a:prstGeom prst="rect">
            <a:avLst/>
          </a:prstGeom>
        </p:spPr>
        <p:txBody>
          <a:bodyPr anchor="t" rtlCol="false" tIns="0" lIns="0" bIns="0" rIns="0">
            <a:spAutoFit/>
          </a:bodyPr>
          <a:lstStyle/>
          <a:p>
            <a:pPr algn="l">
              <a:lnSpc>
                <a:spcPts val="2895"/>
              </a:lnSpc>
            </a:pPr>
            <a:r>
              <a:rPr lang="en-US" sz="2098" spc="205">
                <a:solidFill>
                  <a:srgbClr val="F5FFF5"/>
                </a:solidFill>
                <a:latin typeface="DM Sans"/>
                <a:ea typeface="DM Sans"/>
                <a:cs typeface="DM Sans"/>
                <a:sym typeface="DM Sans"/>
              </a:rPr>
              <a:t>1. Risk: Supply Chain Problems</a:t>
            </a:r>
          </a:p>
          <a:p>
            <a:pPr algn="l">
              <a:lnSpc>
                <a:spcPts val="2895"/>
              </a:lnSpc>
            </a:pPr>
            <a:r>
              <a:rPr lang="en-US" sz="2098" spc="205">
                <a:solidFill>
                  <a:srgbClr val="F5FFF5"/>
                </a:solidFill>
                <a:latin typeface="DM Sans"/>
                <a:ea typeface="DM Sans"/>
                <a:cs typeface="DM Sans"/>
                <a:sym typeface="DM Sans"/>
              </a:rPr>
              <a:t>You might have trouble getting hardware parts like sensors or docking stations due to shipping delays or factory closures.</a:t>
            </a:r>
          </a:p>
          <a:p>
            <a:pPr algn="l">
              <a:lnSpc>
                <a:spcPts val="2895"/>
              </a:lnSpc>
            </a:pPr>
            <a:r>
              <a:rPr lang="en-US" sz="2098" spc="205">
                <a:solidFill>
                  <a:srgbClr val="F5FFF5"/>
                </a:solidFill>
                <a:latin typeface="DM Sans"/>
                <a:ea typeface="DM Sans"/>
                <a:cs typeface="DM Sans"/>
                <a:sym typeface="DM Sans"/>
              </a:rPr>
              <a:t>Solution:</a:t>
            </a:r>
          </a:p>
          <a:p>
            <a:pPr algn="l" marL="452982" indent="-226491" lvl="1">
              <a:lnSpc>
                <a:spcPts val="2895"/>
              </a:lnSpc>
              <a:buFont typeface="Arial"/>
              <a:buChar char="•"/>
            </a:pPr>
            <a:r>
              <a:rPr lang="en-US" sz="2098" spc="205">
                <a:solidFill>
                  <a:srgbClr val="F5FFF5"/>
                </a:solidFill>
                <a:latin typeface="DM Sans"/>
                <a:ea typeface="DM Sans"/>
                <a:cs typeface="DM Sans"/>
                <a:sym typeface="DM Sans"/>
              </a:rPr>
              <a:t>Use Multiple Suppliers: To get parts from different suppliers to avoid relying on just one.</a:t>
            </a:r>
          </a:p>
          <a:p>
            <a:pPr algn="l" marL="452982" indent="-226491" lvl="1">
              <a:lnSpc>
                <a:spcPts val="2895"/>
              </a:lnSpc>
              <a:buFont typeface="Arial"/>
              <a:buChar char="•"/>
            </a:pPr>
            <a:r>
              <a:rPr lang="en-US" sz="2098" spc="205">
                <a:solidFill>
                  <a:srgbClr val="F5FFF5"/>
                </a:solidFill>
                <a:latin typeface="DM Sans"/>
                <a:ea typeface="DM Sans"/>
                <a:cs typeface="DM Sans"/>
                <a:sym typeface="DM Sans"/>
              </a:rPr>
              <a:t>Switch to Software: To focus on a mobile app t</a:t>
            </a:r>
            <a:r>
              <a:rPr lang="en-US" sz="2098" spc="205">
                <a:solidFill>
                  <a:srgbClr val="F5FFF5"/>
                </a:solidFill>
                <a:latin typeface="DM Sans"/>
                <a:ea typeface="DM Sans"/>
                <a:cs typeface="DM Sans"/>
                <a:sym typeface="DM Sans"/>
              </a:rPr>
              <a:t>hat detects the phone without needing extra hardware.</a:t>
            </a:r>
          </a:p>
          <a:p>
            <a:pPr algn="l">
              <a:lnSpc>
                <a:spcPts val="2895"/>
              </a:lnSpc>
            </a:pPr>
            <a:r>
              <a:rPr lang="en-US" sz="2098" spc="205">
                <a:solidFill>
                  <a:srgbClr val="F5FFF5"/>
                </a:solidFill>
                <a:latin typeface="DM Sans"/>
                <a:ea typeface="DM Sans"/>
                <a:cs typeface="DM Sans"/>
                <a:sym typeface="DM Sans"/>
              </a:rPr>
              <a:t>2. Risk: Lower Consumer Spending</a:t>
            </a:r>
          </a:p>
          <a:p>
            <a:pPr algn="l">
              <a:lnSpc>
                <a:spcPts val="2895"/>
              </a:lnSpc>
            </a:pPr>
            <a:r>
              <a:rPr lang="en-US" sz="2098" spc="205">
                <a:solidFill>
                  <a:srgbClr val="F5FFF5"/>
                </a:solidFill>
                <a:latin typeface="DM Sans"/>
                <a:ea typeface="DM Sans"/>
                <a:cs typeface="DM Sans"/>
                <a:sym typeface="DM Sans"/>
              </a:rPr>
              <a:t>People might spend less money on non-essential products during the pandemic.</a:t>
            </a:r>
          </a:p>
          <a:p>
            <a:pPr algn="l">
              <a:lnSpc>
                <a:spcPts val="2895"/>
              </a:lnSpc>
            </a:pPr>
            <a:r>
              <a:rPr lang="en-US" sz="2098" spc="205">
                <a:solidFill>
                  <a:srgbClr val="F5FFF5"/>
                </a:solidFill>
                <a:latin typeface="DM Sans"/>
                <a:ea typeface="DM Sans"/>
                <a:cs typeface="DM Sans"/>
                <a:sym typeface="DM Sans"/>
              </a:rPr>
              <a:t>Solution:</a:t>
            </a:r>
          </a:p>
          <a:p>
            <a:pPr algn="l" marL="452982" indent="-226491" lvl="1">
              <a:lnSpc>
                <a:spcPts val="2895"/>
              </a:lnSpc>
              <a:buFont typeface="Arial"/>
              <a:buChar char="•"/>
            </a:pPr>
            <a:r>
              <a:rPr lang="en-US" sz="2098" spc="205">
                <a:solidFill>
                  <a:srgbClr val="F5FFF5"/>
                </a:solidFill>
                <a:latin typeface="DM Sans"/>
                <a:ea typeface="DM Sans"/>
                <a:cs typeface="DM Sans"/>
                <a:sym typeface="DM Sans"/>
              </a:rPr>
              <a:t>Flexible Pricing: To offer cheaper payment plans or free trials to make the product more affordable.</a:t>
            </a:r>
          </a:p>
          <a:p>
            <a:pPr algn="l" marL="452982" indent="-226491" lvl="1">
              <a:lnSpc>
                <a:spcPts val="2895"/>
              </a:lnSpc>
              <a:buFont typeface="Arial"/>
              <a:buChar char="•"/>
            </a:pPr>
            <a:r>
              <a:rPr lang="en-US" sz="2098" spc="205">
                <a:solidFill>
                  <a:srgbClr val="F5FFF5"/>
                </a:solidFill>
                <a:latin typeface="DM Sans"/>
                <a:ea typeface="DM Sans"/>
                <a:cs typeface="DM Sans"/>
                <a:sym typeface="DM Sans"/>
              </a:rPr>
              <a:t>Promote Benefits: To show how the alarm helps parents manage kids' routines, especially with increased screen time at home.</a:t>
            </a:r>
          </a:p>
          <a:p>
            <a:pPr algn="l" marL="452982" indent="-226491" lvl="1">
              <a:lnSpc>
                <a:spcPts val="2895"/>
              </a:lnSpc>
              <a:buFont typeface="Arial"/>
              <a:buChar char="•"/>
            </a:pPr>
            <a:r>
              <a:rPr lang="en-US" sz="2098" spc="205">
                <a:solidFill>
                  <a:srgbClr val="F5FFF5"/>
                </a:solidFill>
                <a:latin typeface="DM Sans"/>
                <a:ea typeface="DM Sans"/>
                <a:cs typeface="DM Sans"/>
                <a:sym typeface="DM Sans"/>
              </a:rPr>
              <a:t>Discounts: Offer special promotions or discounts to attract more customers.</a:t>
            </a:r>
          </a:p>
          <a:p>
            <a:pPr algn="l">
              <a:lnSpc>
                <a:spcPts val="2895"/>
              </a:lnSpc>
            </a:pPr>
            <a:r>
              <a:rPr lang="en-US" sz="2098" spc="205">
                <a:solidFill>
                  <a:srgbClr val="F5FFF5"/>
                </a:solidFill>
                <a:latin typeface="DM Sans"/>
                <a:ea typeface="DM Sans"/>
                <a:cs typeface="DM Sans"/>
                <a:sym typeface="DM Sans"/>
              </a:rPr>
              <a:t>3. Risk: Remote Work Challenges</a:t>
            </a:r>
          </a:p>
          <a:p>
            <a:pPr algn="l">
              <a:lnSpc>
                <a:spcPts val="2895"/>
              </a:lnSpc>
            </a:pPr>
            <a:r>
              <a:rPr lang="en-US" sz="2098" spc="205">
                <a:solidFill>
                  <a:srgbClr val="F5FFF5"/>
                </a:solidFill>
                <a:latin typeface="DM Sans"/>
                <a:ea typeface="DM Sans"/>
                <a:cs typeface="DM Sans"/>
                <a:sym typeface="DM Sans"/>
              </a:rPr>
              <a:t>The</a:t>
            </a:r>
            <a:r>
              <a:rPr lang="en-US" sz="2098" spc="205">
                <a:solidFill>
                  <a:srgbClr val="F5FFF5"/>
                </a:solidFill>
                <a:latin typeface="DM Sans"/>
                <a:ea typeface="DM Sans"/>
                <a:cs typeface="DM Sans"/>
                <a:sym typeface="DM Sans"/>
              </a:rPr>
              <a:t> team might face difficulties working remotely, slowing down progress due to less communication and collaboration.</a:t>
            </a:r>
          </a:p>
          <a:p>
            <a:pPr algn="l">
              <a:lnSpc>
                <a:spcPts val="2895"/>
              </a:lnSpc>
            </a:pPr>
            <a:r>
              <a:rPr lang="en-US" sz="2098" spc="205">
                <a:solidFill>
                  <a:srgbClr val="F5FFF5"/>
                </a:solidFill>
                <a:latin typeface="DM Sans"/>
                <a:ea typeface="DM Sans"/>
                <a:cs typeface="DM Sans"/>
                <a:sym typeface="DM Sans"/>
              </a:rPr>
              <a:t>Solution:</a:t>
            </a:r>
          </a:p>
          <a:p>
            <a:pPr algn="l" marL="452982" indent="-226491" lvl="1">
              <a:lnSpc>
                <a:spcPts val="2895"/>
              </a:lnSpc>
              <a:buFont typeface="Arial"/>
              <a:buChar char="•"/>
            </a:pPr>
            <a:r>
              <a:rPr lang="en-US" sz="2098" spc="205">
                <a:solidFill>
                  <a:srgbClr val="F5FFF5"/>
                </a:solidFill>
                <a:latin typeface="DM Sans"/>
                <a:ea typeface="DM Sans"/>
                <a:cs typeface="DM Sans"/>
                <a:sym typeface="DM Sans"/>
              </a:rPr>
              <a:t>Use Online Tools: Adopt tools like Slack or Zoom to stay in touch and keep the project on track.</a:t>
            </a:r>
          </a:p>
          <a:p>
            <a:pPr algn="l" marL="452982" indent="-226491" lvl="1">
              <a:lnSpc>
                <a:spcPts val="2895"/>
              </a:lnSpc>
              <a:buFont typeface="Arial"/>
              <a:buChar char="•"/>
            </a:pPr>
            <a:r>
              <a:rPr lang="en-US" sz="2098" spc="205">
                <a:solidFill>
                  <a:srgbClr val="F5FFF5"/>
                </a:solidFill>
                <a:latin typeface="DM Sans"/>
                <a:ea typeface="DM Sans"/>
                <a:cs typeface="DM Sans"/>
                <a:sym typeface="DM Sans"/>
              </a:rPr>
              <a:t>Allow Flexible Hours: Let team work at times that fit their home lives.</a:t>
            </a:r>
          </a:p>
          <a:p>
            <a:pPr algn="l" marL="452982" indent="-226491" lvl="1">
              <a:lnSpc>
                <a:spcPts val="2895"/>
              </a:lnSpc>
              <a:buFont typeface="Arial"/>
              <a:buChar char="•"/>
            </a:pPr>
            <a:r>
              <a:rPr lang="en-US" sz="2098" spc="205">
                <a:solidFill>
                  <a:srgbClr val="F5FFF5"/>
                </a:solidFill>
                <a:latin typeface="DM Sans"/>
                <a:ea typeface="DM Sans"/>
                <a:cs typeface="DM Sans"/>
                <a:sym typeface="DM Sans"/>
              </a:rPr>
              <a:t>Frequent Check-ins: Holding regular virtual meetings to discuss progress and solve any problems quickly.</a:t>
            </a:r>
          </a:p>
          <a:p>
            <a:pPr algn="l">
              <a:lnSpc>
                <a:spcPts val="2895"/>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Freeform 3" id="3"/>
          <p:cNvSpPr/>
          <p:nvPr/>
        </p:nvSpPr>
        <p:spPr>
          <a:xfrm flipH="false" flipV="false" rot="2035253">
            <a:off x="15331117" y="4817487"/>
            <a:ext cx="7835077" cy="10939025"/>
          </a:xfrm>
          <a:custGeom>
            <a:avLst/>
            <a:gdLst/>
            <a:ahLst/>
            <a:cxnLst/>
            <a:rect r="r" b="b" t="t" l="l"/>
            <a:pathLst>
              <a:path h="10939025" w="7835077">
                <a:moveTo>
                  <a:pt x="0" y="0"/>
                </a:moveTo>
                <a:lnTo>
                  <a:pt x="7835077" y="0"/>
                </a:lnTo>
                <a:lnTo>
                  <a:pt x="7835077" y="10939026"/>
                </a:lnTo>
                <a:lnTo>
                  <a:pt x="0" y="109390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4" id="4"/>
          <p:cNvSpPr/>
          <p:nvPr/>
        </p:nvSpPr>
        <p:spPr>
          <a:xfrm>
            <a:off x="1028700" y="3562176"/>
            <a:ext cx="16230600" cy="0"/>
          </a:xfrm>
          <a:prstGeom prst="line">
            <a:avLst/>
          </a:prstGeom>
          <a:ln cap="flat" w="28575">
            <a:solidFill>
              <a:srgbClr val="000000"/>
            </a:solidFill>
            <a:prstDash val="solid"/>
            <a:headEnd type="none" len="sm" w="sm"/>
            <a:tailEnd type="none" len="sm" w="sm"/>
          </a:ln>
        </p:spPr>
      </p:sp>
      <p:sp>
        <p:nvSpPr>
          <p:cNvPr name="TextBox 5" id="5"/>
          <p:cNvSpPr txBox="true"/>
          <p:nvPr/>
        </p:nvSpPr>
        <p:spPr>
          <a:xfrm rot="0">
            <a:off x="497724" y="4802292"/>
            <a:ext cx="3831090" cy="4489832"/>
          </a:xfrm>
          <a:prstGeom prst="rect">
            <a:avLst/>
          </a:prstGeom>
        </p:spPr>
        <p:txBody>
          <a:bodyPr anchor="t" rtlCol="false" tIns="0" lIns="0" bIns="0" rIns="0">
            <a:spAutoFit/>
          </a:bodyPr>
          <a:lstStyle/>
          <a:p>
            <a:pPr algn="ctr">
              <a:lnSpc>
                <a:spcPts val="3235"/>
              </a:lnSpc>
            </a:pPr>
            <a:r>
              <a:rPr lang="en-US" sz="2344" spc="229">
                <a:solidFill>
                  <a:srgbClr val="231F20"/>
                </a:solidFill>
                <a:latin typeface="DM Sans"/>
                <a:ea typeface="DM Sans"/>
                <a:cs typeface="DM Sans"/>
                <a:sym typeface="DM Sans"/>
              </a:rPr>
              <a:t>The waterfall model allows us to follow a structured, step-by-step process. This is ideal for our alarm clock project, as it ensures each feature is carefully planned and fully completed before moving to the next stage.</a:t>
            </a:r>
          </a:p>
        </p:txBody>
      </p:sp>
      <p:grpSp>
        <p:nvGrpSpPr>
          <p:cNvPr name="Group 6" id="6"/>
          <p:cNvGrpSpPr/>
          <p:nvPr/>
        </p:nvGrpSpPr>
        <p:grpSpPr>
          <a:xfrm rot="0">
            <a:off x="1715321" y="1019403"/>
            <a:ext cx="1389798" cy="2111572"/>
            <a:chOff x="0" y="0"/>
            <a:chExt cx="1853065" cy="2815430"/>
          </a:xfrm>
        </p:grpSpPr>
        <p:sp>
          <p:nvSpPr>
            <p:cNvPr name="Freeform 7" id="7"/>
            <p:cNvSpPr/>
            <p:nvPr/>
          </p:nvSpPr>
          <p:spPr>
            <a:xfrm flipH="false" flipV="false" rot="0">
              <a:off x="0" y="0"/>
              <a:ext cx="1853065" cy="2815430"/>
            </a:xfrm>
            <a:custGeom>
              <a:avLst/>
              <a:gdLst/>
              <a:ahLst/>
              <a:cxnLst/>
              <a:rect r="r" b="b" t="t" l="l"/>
              <a:pathLst>
                <a:path h="2815430" w="1853065">
                  <a:moveTo>
                    <a:pt x="0" y="0"/>
                  </a:moveTo>
                  <a:lnTo>
                    <a:pt x="1853065" y="0"/>
                  </a:lnTo>
                  <a:lnTo>
                    <a:pt x="1853065" y="2815430"/>
                  </a:lnTo>
                  <a:lnTo>
                    <a:pt x="0" y="28154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0" y="423192"/>
              <a:ext cx="1853065" cy="984523"/>
            </a:xfrm>
            <a:prstGeom prst="rect">
              <a:avLst/>
            </a:prstGeom>
          </p:spPr>
          <p:txBody>
            <a:bodyPr anchor="t" rtlCol="false" tIns="0" lIns="0" bIns="0" rIns="0">
              <a:spAutoFit/>
            </a:bodyPr>
            <a:lstStyle/>
            <a:p>
              <a:pPr algn="ctr">
                <a:lnSpc>
                  <a:spcPts val="6171"/>
                </a:lnSpc>
              </a:pPr>
              <a:r>
                <a:rPr lang="en-US" b="true" sz="4472" spc="438">
                  <a:solidFill>
                    <a:srgbClr val="FFFBFB"/>
                  </a:solidFill>
                  <a:latin typeface="DM Sans Bold"/>
                  <a:ea typeface="DM Sans Bold"/>
                  <a:cs typeface="DM Sans Bold"/>
                  <a:sym typeface="DM Sans Bold"/>
                </a:rPr>
                <a:t>01</a:t>
              </a:r>
            </a:p>
          </p:txBody>
        </p:sp>
      </p:grpSp>
      <p:sp>
        <p:nvSpPr>
          <p:cNvPr name="TextBox 9" id="9"/>
          <p:cNvSpPr txBox="true"/>
          <p:nvPr/>
        </p:nvSpPr>
        <p:spPr>
          <a:xfrm rot="0">
            <a:off x="679742" y="3827348"/>
            <a:ext cx="3467055" cy="803494"/>
          </a:xfrm>
          <a:prstGeom prst="rect">
            <a:avLst/>
          </a:prstGeom>
        </p:spPr>
        <p:txBody>
          <a:bodyPr anchor="t" rtlCol="false" tIns="0" lIns="0" bIns="0" rIns="0">
            <a:spAutoFit/>
          </a:bodyPr>
          <a:lstStyle/>
          <a:p>
            <a:pPr algn="ctr">
              <a:lnSpc>
                <a:spcPts val="3245"/>
              </a:lnSpc>
            </a:pPr>
            <a:r>
              <a:rPr lang="en-US" b="true" sz="2351" spc="230">
                <a:solidFill>
                  <a:srgbClr val="231F20"/>
                </a:solidFill>
                <a:latin typeface="DM Sans Bold"/>
                <a:ea typeface="DM Sans Bold"/>
                <a:cs typeface="DM Sans Bold"/>
                <a:sym typeface="DM Sans Bold"/>
              </a:rPr>
              <a:t>CLEAR STRUCTURE AND ORGANIZATION</a:t>
            </a:r>
          </a:p>
        </p:txBody>
      </p:sp>
      <p:grpSp>
        <p:nvGrpSpPr>
          <p:cNvPr name="Group 10" id="10"/>
          <p:cNvGrpSpPr/>
          <p:nvPr/>
        </p:nvGrpSpPr>
        <p:grpSpPr>
          <a:xfrm rot="0">
            <a:off x="6020479" y="1028700"/>
            <a:ext cx="1389798" cy="2111572"/>
            <a:chOff x="0" y="0"/>
            <a:chExt cx="1853065" cy="2815430"/>
          </a:xfrm>
        </p:grpSpPr>
        <p:sp>
          <p:nvSpPr>
            <p:cNvPr name="Freeform 11" id="11"/>
            <p:cNvSpPr/>
            <p:nvPr/>
          </p:nvSpPr>
          <p:spPr>
            <a:xfrm flipH="false" flipV="false" rot="0">
              <a:off x="0" y="0"/>
              <a:ext cx="1853065" cy="2815430"/>
            </a:xfrm>
            <a:custGeom>
              <a:avLst/>
              <a:gdLst/>
              <a:ahLst/>
              <a:cxnLst/>
              <a:rect r="r" b="b" t="t" l="l"/>
              <a:pathLst>
                <a:path h="2815430" w="1853065">
                  <a:moveTo>
                    <a:pt x="0" y="0"/>
                  </a:moveTo>
                  <a:lnTo>
                    <a:pt x="1853065" y="0"/>
                  </a:lnTo>
                  <a:lnTo>
                    <a:pt x="1853065" y="2815430"/>
                  </a:lnTo>
                  <a:lnTo>
                    <a:pt x="0" y="28154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2" id="12"/>
            <p:cNvSpPr txBox="true"/>
            <p:nvPr/>
          </p:nvSpPr>
          <p:spPr>
            <a:xfrm rot="0">
              <a:off x="0" y="410795"/>
              <a:ext cx="1853065" cy="984523"/>
            </a:xfrm>
            <a:prstGeom prst="rect">
              <a:avLst/>
            </a:prstGeom>
          </p:spPr>
          <p:txBody>
            <a:bodyPr anchor="t" rtlCol="false" tIns="0" lIns="0" bIns="0" rIns="0">
              <a:spAutoFit/>
            </a:bodyPr>
            <a:lstStyle/>
            <a:p>
              <a:pPr algn="ctr">
                <a:lnSpc>
                  <a:spcPts val="6171"/>
                </a:lnSpc>
              </a:pPr>
              <a:r>
                <a:rPr lang="en-US" b="true" sz="4472" spc="438">
                  <a:solidFill>
                    <a:srgbClr val="FFFBFB"/>
                  </a:solidFill>
                  <a:latin typeface="DM Sans Bold"/>
                  <a:ea typeface="DM Sans Bold"/>
                  <a:cs typeface="DM Sans Bold"/>
                  <a:sym typeface="DM Sans Bold"/>
                </a:rPr>
                <a:t>02</a:t>
              </a:r>
            </a:p>
          </p:txBody>
        </p:sp>
      </p:grpSp>
      <p:grpSp>
        <p:nvGrpSpPr>
          <p:cNvPr name="Group 13" id="13"/>
          <p:cNvGrpSpPr/>
          <p:nvPr/>
        </p:nvGrpSpPr>
        <p:grpSpPr>
          <a:xfrm rot="0">
            <a:off x="10365836" y="1028700"/>
            <a:ext cx="1389798" cy="2111572"/>
            <a:chOff x="0" y="0"/>
            <a:chExt cx="1853065" cy="2815430"/>
          </a:xfrm>
        </p:grpSpPr>
        <p:sp>
          <p:nvSpPr>
            <p:cNvPr name="Freeform 14" id="14"/>
            <p:cNvSpPr/>
            <p:nvPr/>
          </p:nvSpPr>
          <p:spPr>
            <a:xfrm flipH="false" flipV="false" rot="0">
              <a:off x="0" y="0"/>
              <a:ext cx="1853065" cy="2815430"/>
            </a:xfrm>
            <a:custGeom>
              <a:avLst/>
              <a:gdLst/>
              <a:ahLst/>
              <a:cxnLst/>
              <a:rect r="r" b="b" t="t" l="l"/>
              <a:pathLst>
                <a:path h="2815430" w="1853065">
                  <a:moveTo>
                    <a:pt x="0" y="0"/>
                  </a:moveTo>
                  <a:lnTo>
                    <a:pt x="1853065" y="0"/>
                  </a:lnTo>
                  <a:lnTo>
                    <a:pt x="1853065" y="2815430"/>
                  </a:lnTo>
                  <a:lnTo>
                    <a:pt x="0" y="28154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5" id="15"/>
            <p:cNvSpPr txBox="true"/>
            <p:nvPr/>
          </p:nvSpPr>
          <p:spPr>
            <a:xfrm rot="0">
              <a:off x="0" y="410795"/>
              <a:ext cx="1853065" cy="984523"/>
            </a:xfrm>
            <a:prstGeom prst="rect">
              <a:avLst/>
            </a:prstGeom>
          </p:spPr>
          <p:txBody>
            <a:bodyPr anchor="t" rtlCol="false" tIns="0" lIns="0" bIns="0" rIns="0">
              <a:spAutoFit/>
            </a:bodyPr>
            <a:lstStyle/>
            <a:p>
              <a:pPr algn="ctr">
                <a:lnSpc>
                  <a:spcPts val="6171"/>
                </a:lnSpc>
              </a:pPr>
              <a:r>
                <a:rPr lang="en-US" b="true" sz="4472" spc="438">
                  <a:solidFill>
                    <a:srgbClr val="FFFBFB"/>
                  </a:solidFill>
                  <a:latin typeface="DM Sans Bold"/>
                  <a:ea typeface="DM Sans Bold"/>
                  <a:cs typeface="DM Sans Bold"/>
                  <a:sym typeface="DM Sans Bold"/>
                </a:rPr>
                <a:t>03</a:t>
              </a:r>
            </a:p>
          </p:txBody>
        </p:sp>
      </p:grpSp>
      <p:grpSp>
        <p:nvGrpSpPr>
          <p:cNvPr name="Group 16" id="16"/>
          <p:cNvGrpSpPr/>
          <p:nvPr/>
        </p:nvGrpSpPr>
        <p:grpSpPr>
          <a:xfrm rot="0">
            <a:off x="14970814" y="1028700"/>
            <a:ext cx="1389798" cy="2111572"/>
            <a:chOff x="0" y="0"/>
            <a:chExt cx="1853065" cy="2815430"/>
          </a:xfrm>
        </p:grpSpPr>
        <p:sp>
          <p:nvSpPr>
            <p:cNvPr name="Freeform 17" id="17"/>
            <p:cNvSpPr/>
            <p:nvPr/>
          </p:nvSpPr>
          <p:spPr>
            <a:xfrm flipH="false" flipV="false" rot="0">
              <a:off x="0" y="0"/>
              <a:ext cx="1853065" cy="2815430"/>
            </a:xfrm>
            <a:custGeom>
              <a:avLst/>
              <a:gdLst/>
              <a:ahLst/>
              <a:cxnLst/>
              <a:rect r="r" b="b" t="t" l="l"/>
              <a:pathLst>
                <a:path h="2815430" w="1853065">
                  <a:moveTo>
                    <a:pt x="0" y="0"/>
                  </a:moveTo>
                  <a:lnTo>
                    <a:pt x="1853065" y="0"/>
                  </a:lnTo>
                  <a:lnTo>
                    <a:pt x="1853065" y="2815430"/>
                  </a:lnTo>
                  <a:lnTo>
                    <a:pt x="0" y="28154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8" id="18"/>
            <p:cNvSpPr txBox="true"/>
            <p:nvPr/>
          </p:nvSpPr>
          <p:spPr>
            <a:xfrm rot="0">
              <a:off x="0" y="410795"/>
              <a:ext cx="1853065" cy="984523"/>
            </a:xfrm>
            <a:prstGeom prst="rect">
              <a:avLst/>
            </a:prstGeom>
          </p:spPr>
          <p:txBody>
            <a:bodyPr anchor="t" rtlCol="false" tIns="0" lIns="0" bIns="0" rIns="0">
              <a:spAutoFit/>
            </a:bodyPr>
            <a:lstStyle/>
            <a:p>
              <a:pPr algn="ctr">
                <a:lnSpc>
                  <a:spcPts val="6171"/>
                </a:lnSpc>
              </a:pPr>
              <a:r>
                <a:rPr lang="en-US" b="true" sz="4472" spc="438">
                  <a:solidFill>
                    <a:srgbClr val="FFFBFB"/>
                  </a:solidFill>
                  <a:latin typeface="DM Sans Bold"/>
                  <a:ea typeface="DM Sans Bold"/>
                  <a:cs typeface="DM Sans Bold"/>
                  <a:sym typeface="DM Sans Bold"/>
                </a:rPr>
                <a:t>04</a:t>
              </a:r>
            </a:p>
          </p:txBody>
        </p:sp>
      </p:grpSp>
      <p:sp>
        <p:nvSpPr>
          <p:cNvPr name="TextBox 19" id="19"/>
          <p:cNvSpPr txBox="true"/>
          <p:nvPr/>
        </p:nvSpPr>
        <p:spPr>
          <a:xfrm rot="0">
            <a:off x="4799834" y="3827348"/>
            <a:ext cx="3930530" cy="803494"/>
          </a:xfrm>
          <a:prstGeom prst="rect">
            <a:avLst/>
          </a:prstGeom>
        </p:spPr>
        <p:txBody>
          <a:bodyPr anchor="t" rtlCol="false" tIns="0" lIns="0" bIns="0" rIns="0">
            <a:spAutoFit/>
          </a:bodyPr>
          <a:lstStyle/>
          <a:p>
            <a:pPr algn="ctr">
              <a:lnSpc>
                <a:spcPts val="3245"/>
              </a:lnSpc>
            </a:pPr>
            <a:r>
              <a:rPr lang="en-US" b="true" sz="2351" spc="230">
                <a:solidFill>
                  <a:srgbClr val="231F20"/>
                </a:solidFill>
                <a:latin typeface="DM Sans Bold"/>
                <a:ea typeface="DM Sans Bold"/>
                <a:cs typeface="DM Sans Bold"/>
                <a:sym typeface="DM Sans Bold"/>
              </a:rPr>
              <a:t>EASIER TO TRACK PROGRESS</a:t>
            </a:r>
          </a:p>
        </p:txBody>
      </p:sp>
      <p:sp>
        <p:nvSpPr>
          <p:cNvPr name="Freeform 20" id="20"/>
          <p:cNvSpPr/>
          <p:nvPr/>
        </p:nvSpPr>
        <p:spPr>
          <a:xfrm flipH="false" flipV="false" rot="-10799999">
            <a:off x="-2335860" y="-7376849"/>
            <a:ext cx="7835077" cy="10939025"/>
          </a:xfrm>
          <a:custGeom>
            <a:avLst/>
            <a:gdLst/>
            <a:ahLst/>
            <a:cxnLst/>
            <a:rect r="r" b="b" t="t" l="l"/>
            <a:pathLst>
              <a:path h="10939025" w="7835077">
                <a:moveTo>
                  <a:pt x="0" y="0"/>
                </a:moveTo>
                <a:lnTo>
                  <a:pt x="7835077" y="0"/>
                </a:lnTo>
                <a:lnTo>
                  <a:pt x="7835077" y="10939025"/>
                </a:lnTo>
                <a:lnTo>
                  <a:pt x="0" y="109390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1" id="21"/>
          <p:cNvSpPr txBox="true"/>
          <p:nvPr/>
        </p:nvSpPr>
        <p:spPr>
          <a:xfrm rot="0">
            <a:off x="1028700" y="29451"/>
            <a:ext cx="8737832" cy="587849"/>
          </a:xfrm>
          <a:prstGeom prst="rect">
            <a:avLst/>
          </a:prstGeom>
        </p:spPr>
        <p:txBody>
          <a:bodyPr anchor="t" rtlCol="false" tIns="0" lIns="0" bIns="0" rIns="0">
            <a:spAutoFit/>
          </a:bodyPr>
          <a:lstStyle/>
          <a:p>
            <a:pPr algn="ctr">
              <a:lnSpc>
                <a:spcPts val="4763"/>
              </a:lnSpc>
            </a:pPr>
            <a:r>
              <a:rPr lang="en-US" b="true" sz="3451" spc="338">
                <a:solidFill>
                  <a:srgbClr val="231F20"/>
                </a:solidFill>
                <a:latin typeface="Montserrat Classic Bold"/>
                <a:ea typeface="Montserrat Classic Bold"/>
                <a:cs typeface="Montserrat Classic Bold"/>
                <a:sym typeface="Montserrat Classic Bold"/>
              </a:rPr>
              <a:t>WHY THE WATERFALL MODEL?</a:t>
            </a:r>
          </a:p>
        </p:txBody>
      </p:sp>
      <p:sp>
        <p:nvSpPr>
          <p:cNvPr name="TextBox 22" id="22"/>
          <p:cNvSpPr txBox="true"/>
          <p:nvPr/>
        </p:nvSpPr>
        <p:spPr>
          <a:xfrm rot="0">
            <a:off x="4799834" y="4789024"/>
            <a:ext cx="3831090" cy="3670682"/>
          </a:xfrm>
          <a:prstGeom prst="rect">
            <a:avLst/>
          </a:prstGeom>
        </p:spPr>
        <p:txBody>
          <a:bodyPr anchor="t" rtlCol="false" tIns="0" lIns="0" bIns="0" rIns="0">
            <a:spAutoFit/>
          </a:bodyPr>
          <a:lstStyle/>
          <a:p>
            <a:pPr algn="ctr">
              <a:lnSpc>
                <a:spcPts val="3235"/>
              </a:lnSpc>
            </a:pPr>
            <a:r>
              <a:rPr lang="en-US" sz="2344" spc="229">
                <a:solidFill>
                  <a:srgbClr val="231F20"/>
                </a:solidFill>
                <a:latin typeface="DM Sans"/>
                <a:ea typeface="DM Sans"/>
                <a:cs typeface="DM Sans"/>
                <a:sym typeface="DM Sans"/>
              </a:rPr>
              <a:t>With defined phases—Requirements, Design, Implementation, Verification, and Maintenance—it’s easy to track our progress and make sure we’re meeting project goals at each stage.</a:t>
            </a:r>
          </a:p>
        </p:txBody>
      </p:sp>
      <p:sp>
        <p:nvSpPr>
          <p:cNvPr name="TextBox 23" id="23"/>
          <p:cNvSpPr txBox="true"/>
          <p:nvPr/>
        </p:nvSpPr>
        <p:spPr>
          <a:xfrm rot="0">
            <a:off x="8888652" y="3827348"/>
            <a:ext cx="4344166" cy="803494"/>
          </a:xfrm>
          <a:prstGeom prst="rect">
            <a:avLst/>
          </a:prstGeom>
        </p:spPr>
        <p:txBody>
          <a:bodyPr anchor="t" rtlCol="false" tIns="0" lIns="0" bIns="0" rIns="0">
            <a:spAutoFit/>
          </a:bodyPr>
          <a:lstStyle/>
          <a:p>
            <a:pPr algn="ctr">
              <a:lnSpc>
                <a:spcPts val="3245"/>
              </a:lnSpc>
            </a:pPr>
            <a:r>
              <a:rPr lang="en-US" b="true" sz="2351" spc="230">
                <a:solidFill>
                  <a:srgbClr val="231F20"/>
                </a:solidFill>
                <a:latin typeface="DM Sans Bold"/>
                <a:ea typeface="DM Sans Bold"/>
                <a:cs typeface="DM Sans Bold"/>
                <a:sym typeface="DM Sans Bold"/>
              </a:rPr>
              <a:t>REDUCES RISK OF OVERLAPS AND ERRORS</a:t>
            </a:r>
          </a:p>
        </p:txBody>
      </p:sp>
      <p:sp>
        <p:nvSpPr>
          <p:cNvPr name="TextBox 24" id="24"/>
          <p:cNvSpPr txBox="true"/>
          <p:nvPr/>
        </p:nvSpPr>
        <p:spPr>
          <a:xfrm rot="0">
            <a:off x="9303478" y="4802292"/>
            <a:ext cx="3831090" cy="4489832"/>
          </a:xfrm>
          <a:prstGeom prst="rect">
            <a:avLst/>
          </a:prstGeom>
        </p:spPr>
        <p:txBody>
          <a:bodyPr anchor="t" rtlCol="false" tIns="0" lIns="0" bIns="0" rIns="0">
            <a:spAutoFit/>
          </a:bodyPr>
          <a:lstStyle/>
          <a:p>
            <a:pPr algn="ctr">
              <a:lnSpc>
                <a:spcPts val="3235"/>
              </a:lnSpc>
            </a:pPr>
            <a:r>
              <a:rPr lang="en-US" sz="2344" spc="229">
                <a:solidFill>
                  <a:srgbClr val="231F20"/>
                </a:solidFill>
                <a:latin typeface="DM Sans"/>
                <a:ea typeface="DM Sans"/>
                <a:cs typeface="DM Sans"/>
                <a:sym typeface="DM Sans"/>
              </a:rPr>
              <a:t>Since each phase is completed before moving on, it minimizes the risk of issues later. For example, designing the interface first means we can avoid coding mistakes related to layout or functionality conflicts.</a:t>
            </a:r>
          </a:p>
        </p:txBody>
      </p:sp>
      <p:sp>
        <p:nvSpPr>
          <p:cNvPr name="TextBox 25" id="25"/>
          <p:cNvSpPr txBox="true"/>
          <p:nvPr/>
        </p:nvSpPr>
        <p:spPr>
          <a:xfrm rot="0">
            <a:off x="13493630" y="3793523"/>
            <a:ext cx="4344166" cy="803494"/>
          </a:xfrm>
          <a:prstGeom prst="rect">
            <a:avLst/>
          </a:prstGeom>
        </p:spPr>
        <p:txBody>
          <a:bodyPr anchor="t" rtlCol="false" tIns="0" lIns="0" bIns="0" rIns="0">
            <a:spAutoFit/>
          </a:bodyPr>
          <a:lstStyle/>
          <a:p>
            <a:pPr algn="ctr">
              <a:lnSpc>
                <a:spcPts val="3245"/>
              </a:lnSpc>
            </a:pPr>
            <a:r>
              <a:rPr lang="en-US" b="true" sz="2351" spc="230">
                <a:solidFill>
                  <a:srgbClr val="231F20"/>
                </a:solidFill>
                <a:latin typeface="DM Sans Bold"/>
                <a:ea typeface="DM Sans Bold"/>
                <a:cs typeface="DM Sans Bold"/>
                <a:sym typeface="DM Sans Bold"/>
              </a:rPr>
              <a:t>FOCUSED TESTING AND QUALITY CONTROL</a:t>
            </a:r>
          </a:p>
        </p:txBody>
      </p:sp>
      <p:sp>
        <p:nvSpPr>
          <p:cNvPr name="TextBox 26" id="26"/>
          <p:cNvSpPr txBox="true"/>
          <p:nvPr/>
        </p:nvSpPr>
        <p:spPr>
          <a:xfrm rot="0">
            <a:off x="13908456" y="4768468"/>
            <a:ext cx="3831090" cy="2441957"/>
          </a:xfrm>
          <a:prstGeom prst="rect">
            <a:avLst/>
          </a:prstGeom>
        </p:spPr>
        <p:txBody>
          <a:bodyPr anchor="t" rtlCol="false" tIns="0" lIns="0" bIns="0" rIns="0">
            <a:spAutoFit/>
          </a:bodyPr>
          <a:lstStyle/>
          <a:p>
            <a:pPr algn="ctr">
              <a:lnSpc>
                <a:spcPts val="3235"/>
              </a:lnSpc>
            </a:pPr>
            <a:r>
              <a:rPr lang="en-US" sz="2344" spc="229">
                <a:solidFill>
                  <a:srgbClr val="231F20"/>
                </a:solidFill>
                <a:latin typeface="DM Sans"/>
                <a:ea typeface="DM Sans"/>
                <a:cs typeface="DM Sans"/>
                <a:sym typeface="DM Sans"/>
              </a:rPr>
              <a:t>The verification phase gives us dedicated time to test each function, which is critical for a project like an alarm clock.</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Freeform 3" id="3"/>
          <p:cNvSpPr/>
          <p:nvPr/>
        </p:nvSpPr>
        <p:spPr>
          <a:xfrm flipH="false" flipV="false" rot="2035253">
            <a:off x="15331117" y="4817487"/>
            <a:ext cx="7835077" cy="10939025"/>
          </a:xfrm>
          <a:custGeom>
            <a:avLst/>
            <a:gdLst/>
            <a:ahLst/>
            <a:cxnLst/>
            <a:rect r="r" b="b" t="t" l="l"/>
            <a:pathLst>
              <a:path h="10939025" w="7835077">
                <a:moveTo>
                  <a:pt x="0" y="0"/>
                </a:moveTo>
                <a:lnTo>
                  <a:pt x="7835077" y="0"/>
                </a:lnTo>
                <a:lnTo>
                  <a:pt x="7835077" y="10939026"/>
                </a:lnTo>
                <a:lnTo>
                  <a:pt x="0" y="109390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4" id="4"/>
          <p:cNvSpPr/>
          <p:nvPr/>
        </p:nvSpPr>
        <p:spPr>
          <a:xfrm>
            <a:off x="1028700" y="3562176"/>
            <a:ext cx="16230600" cy="0"/>
          </a:xfrm>
          <a:prstGeom prst="line">
            <a:avLst/>
          </a:prstGeom>
          <a:ln cap="flat" w="28575">
            <a:solidFill>
              <a:srgbClr val="000000"/>
            </a:solidFill>
            <a:prstDash val="solid"/>
            <a:headEnd type="none" len="sm" w="sm"/>
            <a:tailEnd type="none" len="sm" w="sm"/>
          </a:ln>
        </p:spPr>
      </p:sp>
      <p:sp>
        <p:nvSpPr>
          <p:cNvPr name="TextBox 5" id="5"/>
          <p:cNvSpPr txBox="true"/>
          <p:nvPr/>
        </p:nvSpPr>
        <p:spPr>
          <a:xfrm rot="0">
            <a:off x="679742" y="4878492"/>
            <a:ext cx="2092196" cy="2827977"/>
          </a:xfrm>
          <a:prstGeom prst="rect">
            <a:avLst/>
          </a:prstGeom>
        </p:spPr>
        <p:txBody>
          <a:bodyPr anchor="t" rtlCol="false" tIns="0" lIns="0" bIns="0" rIns="0">
            <a:spAutoFit/>
          </a:bodyPr>
          <a:lstStyle/>
          <a:p>
            <a:pPr algn="ctr">
              <a:lnSpc>
                <a:spcPts val="3208"/>
              </a:lnSpc>
            </a:pPr>
            <a:r>
              <a:rPr lang="en-US" sz="2324" spc="227">
                <a:solidFill>
                  <a:srgbClr val="231F20"/>
                </a:solidFill>
                <a:latin typeface="DM Sans"/>
                <a:ea typeface="DM Sans"/>
                <a:cs typeface="DM Sans"/>
                <a:sym typeface="DM Sans"/>
              </a:rPr>
              <a:t>Securely saves alarm settings, ensuring no data loss if devices are reset.</a:t>
            </a:r>
          </a:p>
        </p:txBody>
      </p:sp>
      <p:grpSp>
        <p:nvGrpSpPr>
          <p:cNvPr name="Group 6" id="6"/>
          <p:cNvGrpSpPr/>
          <p:nvPr/>
        </p:nvGrpSpPr>
        <p:grpSpPr>
          <a:xfrm rot="0">
            <a:off x="1028700" y="1150567"/>
            <a:ext cx="1389798" cy="2111572"/>
            <a:chOff x="0" y="0"/>
            <a:chExt cx="1853065" cy="2815430"/>
          </a:xfrm>
        </p:grpSpPr>
        <p:sp>
          <p:nvSpPr>
            <p:cNvPr name="Freeform 7" id="7"/>
            <p:cNvSpPr/>
            <p:nvPr/>
          </p:nvSpPr>
          <p:spPr>
            <a:xfrm flipH="false" flipV="false" rot="0">
              <a:off x="0" y="0"/>
              <a:ext cx="1853065" cy="2815430"/>
            </a:xfrm>
            <a:custGeom>
              <a:avLst/>
              <a:gdLst/>
              <a:ahLst/>
              <a:cxnLst/>
              <a:rect r="r" b="b" t="t" l="l"/>
              <a:pathLst>
                <a:path h="2815430" w="1853065">
                  <a:moveTo>
                    <a:pt x="0" y="0"/>
                  </a:moveTo>
                  <a:lnTo>
                    <a:pt x="1853065" y="0"/>
                  </a:lnTo>
                  <a:lnTo>
                    <a:pt x="1853065" y="2815430"/>
                  </a:lnTo>
                  <a:lnTo>
                    <a:pt x="0" y="28154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0" y="423192"/>
              <a:ext cx="1853065" cy="984523"/>
            </a:xfrm>
            <a:prstGeom prst="rect">
              <a:avLst/>
            </a:prstGeom>
          </p:spPr>
          <p:txBody>
            <a:bodyPr anchor="t" rtlCol="false" tIns="0" lIns="0" bIns="0" rIns="0">
              <a:spAutoFit/>
            </a:bodyPr>
            <a:lstStyle/>
            <a:p>
              <a:pPr algn="ctr">
                <a:lnSpc>
                  <a:spcPts val="6171"/>
                </a:lnSpc>
              </a:pPr>
              <a:r>
                <a:rPr lang="en-US" b="true" sz="4472" spc="438">
                  <a:solidFill>
                    <a:srgbClr val="FFFBFB"/>
                  </a:solidFill>
                  <a:latin typeface="DM Sans Bold"/>
                  <a:ea typeface="DM Sans Bold"/>
                  <a:cs typeface="DM Sans Bold"/>
                  <a:sym typeface="DM Sans Bold"/>
                </a:rPr>
                <a:t>01</a:t>
              </a:r>
            </a:p>
          </p:txBody>
        </p:sp>
      </p:grpSp>
      <p:sp>
        <p:nvSpPr>
          <p:cNvPr name="TextBox 9" id="9"/>
          <p:cNvSpPr txBox="true"/>
          <p:nvPr/>
        </p:nvSpPr>
        <p:spPr>
          <a:xfrm rot="0">
            <a:off x="406902" y="3827348"/>
            <a:ext cx="2698217" cy="803494"/>
          </a:xfrm>
          <a:prstGeom prst="rect">
            <a:avLst/>
          </a:prstGeom>
        </p:spPr>
        <p:txBody>
          <a:bodyPr anchor="t" rtlCol="false" tIns="0" lIns="0" bIns="0" rIns="0">
            <a:spAutoFit/>
          </a:bodyPr>
          <a:lstStyle/>
          <a:p>
            <a:pPr algn="ctr">
              <a:lnSpc>
                <a:spcPts val="3245"/>
              </a:lnSpc>
            </a:pPr>
            <a:r>
              <a:rPr lang="en-US" b="true" sz="2351" spc="230">
                <a:solidFill>
                  <a:srgbClr val="231F20"/>
                </a:solidFill>
                <a:latin typeface="DM Sans Bold"/>
                <a:ea typeface="DM Sans Bold"/>
                <a:cs typeface="DM Sans Bold"/>
                <a:sym typeface="DM Sans Bold"/>
              </a:rPr>
              <a:t>DATA STORAGE &amp; BACKUP</a:t>
            </a:r>
          </a:p>
        </p:txBody>
      </p:sp>
      <p:grpSp>
        <p:nvGrpSpPr>
          <p:cNvPr name="Group 10" id="10"/>
          <p:cNvGrpSpPr/>
          <p:nvPr/>
        </p:nvGrpSpPr>
        <p:grpSpPr>
          <a:xfrm rot="0">
            <a:off x="4425205" y="1150567"/>
            <a:ext cx="1389798" cy="2111572"/>
            <a:chOff x="0" y="0"/>
            <a:chExt cx="1853065" cy="2815430"/>
          </a:xfrm>
        </p:grpSpPr>
        <p:sp>
          <p:nvSpPr>
            <p:cNvPr name="Freeform 11" id="11"/>
            <p:cNvSpPr/>
            <p:nvPr/>
          </p:nvSpPr>
          <p:spPr>
            <a:xfrm flipH="false" flipV="false" rot="0">
              <a:off x="0" y="0"/>
              <a:ext cx="1853065" cy="2815430"/>
            </a:xfrm>
            <a:custGeom>
              <a:avLst/>
              <a:gdLst/>
              <a:ahLst/>
              <a:cxnLst/>
              <a:rect r="r" b="b" t="t" l="l"/>
              <a:pathLst>
                <a:path h="2815430" w="1853065">
                  <a:moveTo>
                    <a:pt x="0" y="0"/>
                  </a:moveTo>
                  <a:lnTo>
                    <a:pt x="1853065" y="0"/>
                  </a:lnTo>
                  <a:lnTo>
                    <a:pt x="1853065" y="2815430"/>
                  </a:lnTo>
                  <a:lnTo>
                    <a:pt x="0" y="28154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2" id="12"/>
            <p:cNvSpPr txBox="true"/>
            <p:nvPr/>
          </p:nvSpPr>
          <p:spPr>
            <a:xfrm rot="0">
              <a:off x="0" y="410795"/>
              <a:ext cx="1853065" cy="984523"/>
            </a:xfrm>
            <a:prstGeom prst="rect">
              <a:avLst/>
            </a:prstGeom>
          </p:spPr>
          <p:txBody>
            <a:bodyPr anchor="t" rtlCol="false" tIns="0" lIns="0" bIns="0" rIns="0">
              <a:spAutoFit/>
            </a:bodyPr>
            <a:lstStyle/>
            <a:p>
              <a:pPr algn="ctr">
                <a:lnSpc>
                  <a:spcPts val="6171"/>
                </a:lnSpc>
              </a:pPr>
              <a:r>
                <a:rPr lang="en-US" b="true" sz="4472" spc="438">
                  <a:solidFill>
                    <a:srgbClr val="FFFBFB"/>
                  </a:solidFill>
                  <a:latin typeface="DM Sans Bold"/>
                  <a:ea typeface="DM Sans Bold"/>
                  <a:cs typeface="DM Sans Bold"/>
                  <a:sym typeface="DM Sans Bold"/>
                </a:rPr>
                <a:t>02</a:t>
              </a:r>
            </a:p>
          </p:txBody>
        </p:sp>
      </p:grpSp>
      <p:grpSp>
        <p:nvGrpSpPr>
          <p:cNvPr name="Group 13" id="13"/>
          <p:cNvGrpSpPr/>
          <p:nvPr/>
        </p:nvGrpSpPr>
        <p:grpSpPr>
          <a:xfrm rot="0">
            <a:off x="8193752" y="1185588"/>
            <a:ext cx="1389798" cy="2111572"/>
            <a:chOff x="0" y="0"/>
            <a:chExt cx="1853065" cy="2815430"/>
          </a:xfrm>
        </p:grpSpPr>
        <p:sp>
          <p:nvSpPr>
            <p:cNvPr name="Freeform 14" id="14"/>
            <p:cNvSpPr/>
            <p:nvPr/>
          </p:nvSpPr>
          <p:spPr>
            <a:xfrm flipH="false" flipV="false" rot="0">
              <a:off x="0" y="0"/>
              <a:ext cx="1853065" cy="2815430"/>
            </a:xfrm>
            <a:custGeom>
              <a:avLst/>
              <a:gdLst/>
              <a:ahLst/>
              <a:cxnLst/>
              <a:rect r="r" b="b" t="t" l="l"/>
              <a:pathLst>
                <a:path h="2815430" w="1853065">
                  <a:moveTo>
                    <a:pt x="0" y="0"/>
                  </a:moveTo>
                  <a:lnTo>
                    <a:pt x="1853065" y="0"/>
                  </a:lnTo>
                  <a:lnTo>
                    <a:pt x="1853065" y="2815430"/>
                  </a:lnTo>
                  <a:lnTo>
                    <a:pt x="0" y="28154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5" id="15"/>
            <p:cNvSpPr txBox="true"/>
            <p:nvPr/>
          </p:nvSpPr>
          <p:spPr>
            <a:xfrm rot="0">
              <a:off x="0" y="410795"/>
              <a:ext cx="1853065" cy="984523"/>
            </a:xfrm>
            <a:prstGeom prst="rect">
              <a:avLst/>
            </a:prstGeom>
          </p:spPr>
          <p:txBody>
            <a:bodyPr anchor="t" rtlCol="false" tIns="0" lIns="0" bIns="0" rIns="0">
              <a:spAutoFit/>
            </a:bodyPr>
            <a:lstStyle/>
            <a:p>
              <a:pPr algn="ctr">
                <a:lnSpc>
                  <a:spcPts val="6171"/>
                </a:lnSpc>
              </a:pPr>
              <a:r>
                <a:rPr lang="en-US" b="true" sz="4472" spc="438">
                  <a:solidFill>
                    <a:srgbClr val="FFFBFB"/>
                  </a:solidFill>
                  <a:latin typeface="DM Sans Bold"/>
                  <a:ea typeface="DM Sans Bold"/>
                  <a:cs typeface="DM Sans Bold"/>
                  <a:sym typeface="DM Sans Bold"/>
                </a:rPr>
                <a:t>03</a:t>
              </a:r>
            </a:p>
          </p:txBody>
        </p:sp>
      </p:grpSp>
      <p:grpSp>
        <p:nvGrpSpPr>
          <p:cNvPr name="Group 16" id="16"/>
          <p:cNvGrpSpPr/>
          <p:nvPr/>
        </p:nvGrpSpPr>
        <p:grpSpPr>
          <a:xfrm rot="0">
            <a:off x="11432786" y="1185588"/>
            <a:ext cx="1389798" cy="2111572"/>
            <a:chOff x="0" y="0"/>
            <a:chExt cx="1853065" cy="2815430"/>
          </a:xfrm>
        </p:grpSpPr>
        <p:sp>
          <p:nvSpPr>
            <p:cNvPr name="Freeform 17" id="17"/>
            <p:cNvSpPr/>
            <p:nvPr/>
          </p:nvSpPr>
          <p:spPr>
            <a:xfrm flipH="false" flipV="false" rot="0">
              <a:off x="0" y="0"/>
              <a:ext cx="1853065" cy="2815430"/>
            </a:xfrm>
            <a:custGeom>
              <a:avLst/>
              <a:gdLst/>
              <a:ahLst/>
              <a:cxnLst/>
              <a:rect r="r" b="b" t="t" l="l"/>
              <a:pathLst>
                <a:path h="2815430" w="1853065">
                  <a:moveTo>
                    <a:pt x="0" y="0"/>
                  </a:moveTo>
                  <a:lnTo>
                    <a:pt x="1853065" y="0"/>
                  </a:lnTo>
                  <a:lnTo>
                    <a:pt x="1853065" y="2815430"/>
                  </a:lnTo>
                  <a:lnTo>
                    <a:pt x="0" y="28154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8" id="18"/>
            <p:cNvSpPr txBox="true"/>
            <p:nvPr/>
          </p:nvSpPr>
          <p:spPr>
            <a:xfrm rot="0">
              <a:off x="0" y="410795"/>
              <a:ext cx="1853065" cy="984523"/>
            </a:xfrm>
            <a:prstGeom prst="rect">
              <a:avLst/>
            </a:prstGeom>
          </p:spPr>
          <p:txBody>
            <a:bodyPr anchor="t" rtlCol="false" tIns="0" lIns="0" bIns="0" rIns="0">
              <a:spAutoFit/>
            </a:bodyPr>
            <a:lstStyle/>
            <a:p>
              <a:pPr algn="ctr">
                <a:lnSpc>
                  <a:spcPts val="6171"/>
                </a:lnSpc>
              </a:pPr>
              <a:r>
                <a:rPr lang="en-US" b="true" sz="4472" spc="438">
                  <a:solidFill>
                    <a:srgbClr val="FFFBFB"/>
                  </a:solidFill>
                  <a:latin typeface="DM Sans Bold"/>
                  <a:ea typeface="DM Sans Bold"/>
                  <a:cs typeface="DM Sans Bold"/>
                  <a:sym typeface="DM Sans Bold"/>
                </a:rPr>
                <a:t>04</a:t>
              </a:r>
            </a:p>
          </p:txBody>
        </p:sp>
      </p:grpSp>
      <p:sp>
        <p:nvSpPr>
          <p:cNvPr name="TextBox 19" id="19"/>
          <p:cNvSpPr txBox="true"/>
          <p:nvPr/>
        </p:nvSpPr>
        <p:spPr>
          <a:xfrm rot="0">
            <a:off x="3324714" y="3854226"/>
            <a:ext cx="3930530" cy="393919"/>
          </a:xfrm>
          <a:prstGeom prst="rect">
            <a:avLst/>
          </a:prstGeom>
        </p:spPr>
        <p:txBody>
          <a:bodyPr anchor="t" rtlCol="false" tIns="0" lIns="0" bIns="0" rIns="0">
            <a:spAutoFit/>
          </a:bodyPr>
          <a:lstStyle/>
          <a:p>
            <a:pPr algn="ctr">
              <a:lnSpc>
                <a:spcPts val="3245"/>
              </a:lnSpc>
            </a:pPr>
            <a:r>
              <a:rPr lang="en-US" b="true" sz="2351" spc="230">
                <a:solidFill>
                  <a:srgbClr val="231F20"/>
                </a:solidFill>
                <a:latin typeface="DM Sans Bold"/>
                <a:ea typeface="DM Sans Bold"/>
                <a:cs typeface="DM Sans Bold"/>
                <a:sym typeface="DM Sans Bold"/>
              </a:rPr>
              <a:t>REMOTE ACCESS</a:t>
            </a:r>
          </a:p>
        </p:txBody>
      </p:sp>
      <p:sp>
        <p:nvSpPr>
          <p:cNvPr name="Freeform 20" id="20"/>
          <p:cNvSpPr/>
          <p:nvPr/>
        </p:nvSpPr>
        <p:spPr>
          <a:xfrm flipH="false" flipV="false" rot="-10799999">
            <a:off x="-2437461" y="-5795525"/>
            <a:ext cx="7835077" cy="10939025"/>
          </a:xfrm>
          <a:custGeom>
            <a:avLst/>
            <a:gdLst/>
            <a:ahLst/>
            <a:cxnLst/>
            <a:rect r="r" b="b" t="t" l="l"/>
            <a:pathLst>
              <a:path h="10939025" w="7835077">
                <a:moveTo>
                  <a:pt x="0" y="0"/>
                </a:moveTo>
                <a:lnTo>
                  <a:pt x="7835077" y="0"/>
                </a:lnTo>
                <a:lnTo>
                  <a:pt x="7835077" y="10939025"/>
                </a:lnTo>
                <a:lnTo>
                  <a:pt x="0" y="109390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1" id="21"/>
          <p:cNvSpPr txBox="true"/>
          <p:nvPr/>
        </p:nvSpPr>
        <p:spPr>
          <a:xfrm rot="0">
            <a:off x="1028700" y="29451"/>
            <a:ext cx="8737832" cy="587849"/>
          </a:xfrm>
          <a:prstGeom prst="rect">
            <a:avLst/>
          </a:prstGeom>
        </p:spPr>
        <p:txBody>
          <a:bodyPr anchor="t" rtlCol="false" tIns="0" lIns="0" bIns="0" rIns="0">
            <a:spAutoFit/>
          </a:bodyPr>
          <a:lstStyle/>
          <a:p>
            <a:pPr algn="ctr">
              <a:lnSpc>
                <a:spcPts val="4763"/>
              </a:lnSpc>
            </a:pPr>
            <a:r>
              <a:rPr lang="en-US" b="true" sz="3451" spc="338">
                <a:solidFill>
                  <a:srgbClr val="231F20"/>
                </a:solidFill>
                <a:latin typeface="Montserrat Classic Bold"/>
                <a:ea typeface="Montserrat Classic Bold"/>
                <a:cs typeface="Montserrat Classic Bold"/>
                <a:sym typeface="Montserrat Classic Bold"/>
              </a:rPr>
              <a:t>CLOUD TECHNOLOGY</a:t>
            </a:r>
          </a:p>
        </p:txBody>
      </p:sp>
      <p:sp>
        <p:nvSpPr>
          <p:cNvPr name="TextBox 22" id="22"/>
          <p:cNvSpPr txBox="true"/>
          <p:nvPr/>
        </p:nvSpPr>
        <p:spPr>
          <a:xfrm rot="0">
            <a:off x="3324714" y="4768468"/>
            <a:ext cx="3831090" cy="1622807"/>
          </a:xfrm>
          <a:prstGeom prst="rect">
            <a:avLst/>
          </a:prstGeom>
        </p:spPr>
        <p:txBody>
          <a:bodyPr anchor="t" rtlCol="false" tIns="0" lIns="0" bIns="0" rIns="0">
            <a:spAutoFit/>
          </a:bodyPr>
          <a:lstStyle/>
          <a:p>
            <a:pPr algn="ctr">
              <a:lnSpc>
                <a:spcPts val="3235"/>
              </a:lnSpc>
            </a:pPr>
            <a:r>
              <a:rPr lang="en-US" sz="2344" spc="229">
                <a:solidFill>
                  <a:srgbClr val="231F20"/>
                </a:solidFill>
                <a:latin typeface="DM Sans"/>
                <a:ea typeface="DM Sans"/>
                <a:cs typeface="DM Sans"/>
                <a:sym typeface="DM Sans"/>
              </a:rPr>
              <a:t>Allows users to set and adjust alarms from any device, enhancing convenience.</a:t>
            </a:r>
          </a:p>
        </p:txBody>
      </p:sp>
      <p:sp>
        <p:nvSpPr>
          <p:cNvPr name="TextBox 23" id="23"/>
          <p:cNvSpPr txBox="true"/>
          <p:nvPr/>
        </p:nvSpPr>
        <p:spPr>
          <a:xfrm rot="0">
            <a:off x="7733066" y="3827348"/>
            <a:ext cx="2821868" cy="803494"/>
          </a:xfrm>
          <a:prstGeom prst="rect">
            <a:avLst/>
          </a:prstGeom>
        </p:spPr>
        <p:txBody>
          <a:bodyPr anchor="t" rtlCol="false" tIns="0" lIns="0" bIns="0" rIns="0">
            <a:spAutoFit/>
          </a:bodyPr>
          <a:lstStyle/>
          <a:p>
            <a:pPr algn="ctr">
              <a:lnSpc>
                <a:spcPts val="3245"/>
              </a:lnSpc>
            </a:pPr>
            <a:r>
              <a:rPr lang="en-US" b="true" sz="2351" spc="230">
                <a:solidFill>
                  <a:srgbClr val="231F20"/>
                </a:solidFill>
                <a:latin typeface="DM Sans Bold"/>
                <a:ea typeface="DM Sans Bold"/>
                <a:cs typeface="DM Sans Bold"/>
                <a:sym typeface="DM Sans Bold"/>
              </a:rPr>
              <a:t>IOT INTEGRATION</a:t>
            </a:r>
          </a:p>
        </p:txBody>
      </p:sp>
      <p:sp>
        <p:nvSpPr>
          <p:cNvPr name="TextBox 24" id="24"/>
          <p:cNvSpPr txBox="true"/>
          <p:nvPr/>
        </p:nvSpPr>
        <p:spPr>
          <a:xfrm rot="0">
            <a:off x="7393635" y="4795264"/>
            <a:ext cx="3299690" cy="2851532"/>
          </a:xfrm>
          <a:prstGeom prst="rect">
            <a:avLst/>
          </a:prstGeom>
        </p:spPr>
        <p:txBody>
          <a:bodyPr anchor="t" rtlCol="false" tIns="0" lIns="0" bIns="0" rIns="0">
            <a:spAutoFit/>
          </a:bodyPr>
          <a:lstStyle/>
          <a:p>
            <a:pPr algn="ctr">
              <a:lnSpc>
                <a:spcPts val="3235"/>
              </a:lnSpc>
            </a:pPr>
            <a:r>
              <a:rPr lang="en-US" sz="2344" spc="229">
                <a:solidFill>
                  <a:srgbClr val="231F20"/>
                </a:solidFill>
                <a:latin typeface="DM Sans"/>
                <a:ea typeface="DM Sans"/>
                <a:cs typeface="DM Sans"/>
                <a:sym typeface="DM Sans"/>
              </a:rPr>
              <a:t>Syncs with smart home devices (e.g., lights, coffee maker) for a seamless wake-up experience.</a:t>
            </a:r>
          </a:p>
          <a:p>
            <a:pPr algn="ctr">
              <a:lnSpc>
                <a:spcPts val="3235"/>
              </a:lnSpc>
            </a:pPr>
          </a:p>
        </p:txBody>
      </p:sp>
      <p:sp>
        <p:nvSpPr>
          <p:cNvPr name="TextBox 25" id="25"/>
          <p:cNvSpPr txBox="true"/>
          <p:nvPr/>
        </p:nvSpPr>
        <p:spPr>
          <a:xfrm rot="0">
            <a:off x="10079992" y="3849252"/>
            <a:ext cx="4344166" cy="393919"/>
          </a:xfrm>
          <a:prstGeom prst="rect">
            <a:avLst/>
          </a:prstGeom>
        </p:spPr>
        <p:txBody>
          <a:bodyPr anchor="t" rtlCol="false" tIns="0" lIns="0" bIns="0" rIns="0">
            <a:spAutoFit/>
          </a:bodyPr>
          <a:lstStyle/>
          <a:p>
            <a:pPr algn="ctr">
              <a:lnSpc>
                <a:spcPts val="3245"/>
              </a:lnSpc>
            </a:pPr>
            <a:r>
              <a:rPr lang="en-US" b="true" sz="2351" spc="230">
                <a:solidFill>
                  <a:srgbClr val="231F20"/>
                </a:solidFill>
                <a:latin typeface="DM Sans Bold"/>
                <a:ea typeface="DM Sans Bold"/>
                <a:cs typeface="DM Sans Bold"/>
                <a:sym typeface="DM Sans Bold"/>
              </a:rPr>
              <a:t>SECURITY</a:t>
            </a:r>
          </a:p>
        </p:txBody>
      </p:sp>
      <p:sp>
        <p:nvSpPr>
          <p:cNvPr name="TextBox 26" id="26"/>
          <p:cNvSpPr txBox="true"/>
          <p:nvPr/>
        </p:nvSpPr>
        <p:spPr>
          <a:xfrm rot="0">
            <a:off x="11032898" y="4878492"/>
            <a:ext cx="2438355" cy="1213232"/>
          </a:xfrm>
          <a:prstGeom prst="rect">
            <a:avLst/>
          </a:prstGeom>
        </p:spPr>
        <p:txBody>
          <a:bodyPr anchor="t" rtlCol="false" tIns="0" lIns="0" bIns="0" rIns="0">
            <a:spAutoFit/>
          </a:bodyPr>
          <a:lstStyle/>
          <a:p>
            <a:pPr algn="ctr">
              <a:lnSpc>
                <a:spcPts val="3235"/>
              </a:lnSpc>
            </a:pPr>
            <a:r>
              <a:rPr lang="en-US" sz="2344" spc="229">
                <a:solidFill>
                  <a:srgbClr val="231F20"/>
                </a:solidFill>
                <a:latin typeface="DM Sans"/>
                <a:ea typeface="DM Sans"/>
                <a:cs typeface="DM Sans"/>
                <a:sym typeface="DM Sans"/>
              </a:rPr>
              <a:t>Encrypts data to protect user privacy</a:t>
            </a:r>
          </a:p>
        </p:txBody>
      </p:sp>
      <p:grpSp>
        <p:nvGrpSpPr>
          <p:cNvPr name="Group 27" id="27"/>
          <p:cNvGrpSpPr/>
          <p:nvPr/>
        </p:nvGrpSpPr>
        <p:grpSpPr>
          <a:xfrm rot="0">
            <a:off x="14832359" y="1185588"/>
            <a:ext cx="1389798" cy="2111572"/>
            <a:chOff x="0" y="0"/>
            <a:chExt cx="1853065" cy="2815430"/>
          </a:xfrm>
        </p:grpSpPr>
        <p:sp>
          <p:nvSpPr>
            <p:cNvPr name="Freeform 28" id="28"/>
            <p:cNvSpPr/>
            <p:nvPr/>
          </p:nvSpPr>
          <p:spPr>
            <a:xfrm flipH="false" flipV="false" rot="0">
              <a:off x="0" y="0"/>
              <a:ext cx="1853065" cy="2815430"/>
            </a:xfrm>
            <a:custGeom>
              <a:avLst/>
              <a:gdLst/>
              <a:ahLst/>
              <a:cxnLst/>
              <a:rect r="r" b="b" t="t" l="l"/>
              <a:pathLst>
                <a:path h="2815430" w="1853065">
                  <a:moveTo>
                    <a:pt x="0" y="0"/>
                  </a:moveTo>
                  <a:lnTo>
                    <a:pt x="1853065" y="0"/>
                  </a:lnTo>
                  <a:lnTo>
                    <a:pt x="1853065" y="2815430"/>
                  </a:lnTo>
                  <a:lnTo>
                    <a:pt x="0" y="28154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9" id="29"/>
            <p:cNvSpPr txBox="true"/>
            <p:nvPr/>
          </p:nvSpPr>
          <p:spPr>
            <a:xfrm rot="0">
              <a:off x="0" y="410795"/>
              <a:ext cx="1853065" cy="984523"/>
            </a:xfrm>
            <a:prstGeom prst="rect">
              <a:avLst/>
            </a:prstGeom>
          </p:spPr>
          <p:txBody>
            <a:bodyPr anchor="t" rtlCol="false" tIns="0" lIns="0" bIns="0" rIns="0">
              <a:spAutoFit/>
            </a:bodyPr>
            <a:lstStyle/>
            <a:p>
              <a:pPr algn="ctr">
                <a:lnSpc>
                  <a:spcPts val="6171"/>
                </a:lnSpc>
              </a:pPr>
              <a:r>
                <a:rPr lang="en-US" b="true" sz="4472" spc="438">
                  <a:solidFill>
                    <a:srgbClr val="FFFBFB"/>
                  </a:solidFill>
                  <a:latin typeface="DM Sans Bold"/>
                  <a:ea typeface="DM Sans Bold"/>
                  <a:cs typeface="DM Sans Bold"/>
                  <a:sym typeface="DM Sans Bold"/>
                </a:rPr>
                <a:t>05</a:t>
              </a:r>
            </a:p>
          </p:txBody>
        </p:sp>
      </p:grpSp>
      <p:sp>
        <p:nvSpPr>
          <p:cNvPr name="TextBox 30" id="30"/>
          <p:cNvSpPr txBox="true"/>
          <p:nvPr/>
        </p:nvSpPr>
        <p:spPr>
          <a:xfrm rot="0">
            <a:off x="13471252" y="3827348"/>
            <a:ext cx="4344166" cy="393919"/>
          </a:xfrm>
          <a:prstGeom prst="rect">
            <a:avLst/>
          </a:prstGeom>
        </p:spPr>
        <p:txBody>
          <a:bodyPr anchor="t" rtlCol="false" tIns="0" lIns="0" bIns="0" rIns="0">
            <a:spAutoFit/>
          </a:bodyPr>
          <a:lstStyle/>
          <a:p>
            <a:pPr algn="ctr">
              <a:lnSpc>
                <a:spcPts val="3245"/>
              </a:lnSpc>
            </a:pPr>
            <a:r>
              <a:rPr lang="en-US" b="true" sz="2351" spc="230">
                <a:solidFill>
                  <a:srgbClr val="231F20"/>
                </a:solidFill>
                <a:latin typeface="DM Sans Bold"/>
                <a:ea typeface="DM Sans Bold"/>
                <a:cs typeface="DM Sans Bold"/>
                <a:sym typeface="DM Sans Bold"/>
              </a:rPr>
              <a:t>SCALABILITY</a:t>
            </a:r>
          </a:p>
        </p:txBody>
      </p:sp>
      <p:sp>
        <p:nvSpPr>
          <p:cNvPr name="TextBox 31" id="31"/>
          <p:cNvSpPr txBox="true"/>
          <p:nvPr/>
        </p:nvSpPr>
        <p:spPr>
          <a:xfrm rot="0">
            <a:off x="14223930" y="4878492"/>
            <a:ext cx="2838810" cy="2032382"/>
          </a:xfrm>
          <a:prstGeom prst="rect">
            <a:avLst/>
          </a:prstGeom>
        </p:spPr>
        <p:txBody>
          <a:bodyPr anchor="t" rtlCol="false" tIns="0" lIns="0" bIns="0" rIns="0">
            <a:spAutoFit/>
          </a:bodyPr>
          <a:lstStyle/>
          <a:p>
            <a:pPr algn="ctr">
              <a:lnSpc>
                <a:spcPts val="3235"/>
              </a:lnSpc>
            </a:pPr>
            <a:r>
              <a:rPr lang="en-US" sz="2344" spc="229">
                <a:solidFill>
                  <a:srgbClr val="231F20"/>
                </a:solidFill>
                <a:latin typeface="DM Sans"/>
                <a:ea typeface="DM Sans"/>
                <a:cs typeface="DM Sans"/>
                <a:sym typeface="DM Sans"/>
              </a:rPr>
              <a:t>Easily expands to support more users and features without extra hardware.</a:t>
            </a:r>
          </a:p>
        </p:txBody>
      </p:sp>
      <p:sp>
        <p:nvSpPr>
          <p:cNvPr name="TextBox 32" id="32"/>
          <p:cNvSpPr txBox="true"/>
          <p:nvPr/>
        </p:nvSpPr>
        <p:spPr>
          <a:xfrm rot="0">
            <a:off x="406902" y="9001869"/>
            <a:ext cx="10450272" cy="813019"/>
          </a:xfrm>
          <a:prstGeom prst="rect">
            <a:avLst/>
          </a:prstGeom>
        </p:spPr>
        <p:txBody>
          <a:bodyPr anchor="t" rtlCol="false" tIns="0" lIns="0" bIns="0" rIns="0">
            <a:spAutoFit/>
          </a:bodyPr>
          <a:lstStyle/>
          <a:p>
            <a:pPr algn="ctr">
              <a:lnSpc>
                <a:spcPts val="3245"/>
              </a:lnSpc>
            </a:pPr>
            <a:r>
              <a:rPr lang="en-US" b="true" sz="2351" spc="230">
                <a:solidFill>
                  <a:srgbClr val="231F20"/>
                </a:solidFill>
                <a:latin typeface="Montserrat Classic Bold"/>
                <a:ea typeface="Montserrat Classic Bold"/>
                <a:cs typeface="Montserrat Classic Bold"/>
                <a:sym typeface="Montserrat Classic Bold"/>
              </a:rPr>
              <a:t>PLUS: </a:t>
            </a:r>
            <a:r>
              <a:rPr lang="en-US" sz="2351" spc="230">
                <a:solidFill>
                  <a:srgbClr val="231F20"/>
                </a:solidFill>
                <a:latin typeface="Montserrat Classic"/>
                <a:ea typeface="Montserrat Classic"/>
                <a:cs typeface="Montserrat Classic"/>
                <a:sym typeface="Montserrat Classic"/>
              </a:rPr>
              <a:t>REAL-TIME UPDATES, INSTANTLY DEPLOYS UPDATES AND NEW FEATURES, KEEPING THE PRODUCT CURRENT.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2F4F5"/>
        </a:solidFill>
      </p:bgPr>
    </p:bg>
    <p:spTree>
      <p:nvGrpSpPr>
        <p:cNvPr id="1" name=""/>
        <p:cNvGrpSpPr/>
        <p:nvPr/>
      </p:nvGrpSpPr>
      <p:grpSpPr>
        <a:xfrm>
          <a:off x="0" y="0"/>
          <a:ext cx="0" cy="0"/>
          <a:chOff x="0" y="0"/>
          <a:chExt cx="0" cy="0"/>
        </a:xfrm>
      </p:grpSpPr>
      <p:sp>
        <p:nvSpPr>
          <p:cNvPr name="Freeform 2" id="2"/>
          <p:cNvSpPr/>
          <p:nvPr/>
        </p:nvSpPr>
        <p:spPr>
          <a:xfrm flipH="false" flipV="false" rot="7659121">
            <a:off x="-4795298" y="6804914"/>
            <a:ext cx="7629294" cy="7828566"/>
          </a:xfrm>
          <a:custGeom>
            <a:avLst/>
            <a:gdLst/>
            <a:ahLst/>
            <a:cxnLst/>
            <a:rect r="r" b="b" t="t" l="l"/>
            <a:pathLst>
              <a:path h="7828566" w="7629294">
                <a:moveTo>
                  <a:pt x="0" y="0"/>
                </a:moveTo>
                <a:lnTo>
                  <a:pt x="7629293" y="0"/>
                </a:lnTo>
                <a:lnTo>
                  <a:pt x="7629293" y="7828566"/>
                </a:lnTo>
                <a:lnTo>
                  <a:pt x="0" y="78285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016048">
            <a:off x="11129650" y="-293749"/>
            <a:ext cx="10749463" cy="2687366"/>
          </a:xfrm>
          <a:custGeom>
            <a:avLst/>
            <a:gdLst/>
            <a:ahLst/>
            <a:cxnLst/>
            <a:rect r="r" b="b" t="t" l="l"/>
            <a:pathLst>
              <a:path h="2687366" w="10749463">
                <a:moveTo>
                  <a:pt x="0" y="0"/>
                </a:moveTo>
                <a:lnTo>
                  <a:pt x="10749463" y="0"/>
                </a:lnTo>
                <a:lnTo>
                  <a:pt x="10749463" y="2687366"/>
                </a:lnTo>
                <a:lnTo>
                  <a:pt x="0" y="26873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63825" y="444062"/>
            <a:ext cx="14602229" cy="584638"/>
          </a:xfrm>
          <a:prstGeom prst="rect">
            <a:avLst/>
          </a:prstGeom>
        </p:spPr>
        <p:txBody>
          <a:bodyPr anchor="t" rtlCol="false" tIns="0" lIns="0" bIns="0" rIns="0">
            <a:spAutoFit/>
          </a:bodyPr>
          <a:lstStyle/>
          <a:p>
            <a:pPr algn="ctr">
              <a:lnSpc>
                <a:spcPts val="4723"/>
              </a:lnSpc>
            </a:pPr>
            <a:r>
              <a:rPr lang="en-US" b="true" sz="3423" spc="335">
                <a:solidFill>
                  <a:srgbClr val="231F20"/>
                </a:solidFill>
                <a:latin typeface="DM Sans Bold"/>
                <a:ea typeface="DM Sans Bold"/>
                <a:cs typeface="DM Sans Bold"/>
                <a:sym typeface="DM Sans Bold"/>
              </a:rPr>
              <a:t>QUALITY MANAGEMENT ROLE FOR ALARM CLOCK PROJECT</a:t>
            </a:r>
          </a:p>
        </p:txBody>
      </p:sp>
      <p:sp>
        <p:nvSpPr>
          <p:cNvPr name="TextBox 5" id="5"/>
          <p:cNvSpPr txBox="true"/>
          <p:nvPr/>
        </p:nvSpPr>
        <p:spPr>
          <a:xfrm rot="0">
            <a:off x="1028700" y="1341307"/>
            <a:ext cx="13441292" cy="928312"/>
          </a:xfrm>
          <a:prstGeom prst="rect">
            <a:avLst/>
          </a:prstGeom>
        </p:spPr>
        <p:txBody>
          <a:bodyPr anchor="t" rtlCol="false" tIns="0" lIns="0" bIns="0" rIns="0">
            <a:spAutoFit/>
          </a:bodyPr>
          <a:lstStyle/>
          <a:p>
            <a:pPr algn="ctr">
              <a:lnSpc>
                <a:spcPts val="3760"/>
              </a:lnSpc>
            </a:pPr>
            <a:r>
              <a:rPr lang="en-US" sz="2724" spc="267">
                <a:solidFill>
                  <a:srgbClr val="231F20"/>
                </a:solidFill>
                <a:latin typeface="DM Sans"/>
                <a:ea typeface="DM Sans"/>
                <a:cs typeface="DM Sans"/>
                <a:sym typeface="DM Sans"/>
              </a:rPr>
              <a:t>Role Purpose: Ensure the alarm clock meets high standards of reliability, usability, and performance to enhance user satisfaction.</a:t>
            </a:r>
          </a:p>
        </p:txBody>
      </p:sp>
      <p:sp>
        <p:nvSpPr>
          <p:cNvPr name="TextBox 6" id="6"/>
          <p:cNvSpPr txBox="true"/>
          <p:nvPr/>
        </p:nvSpPr>
        <p:spPr>
          <a:xfrm rot="0">
            <a:off x="1028700" y="2574419"/>
            <a:ext cx="12299385" cy="5301874"/>
          </a:xfrm>
          <a:prstGeom prst="rect">
            <a:avLst/>
          </a:prstGeom>
        </p:spPr>
        <p:txBody>
          <a:bodyPr anchor="t" rtlCol="false" tIns="0" lIns="0" bIns="0" rIns="0">
            <a:spAutoFit/>
          </a:bodyPr>
          <a:lstStyle/>
          <a:p>
            <a:pPr algn="l">
              <a:lnSpc>
                <a:spcPts val="3507"/>
              </a:lnSpc>
              <a:spcBef>
                <a:spcPct val="0"/>
              </a:spcBef>
            </a:pPr>
            <a:r>
              <a:rPr lang="en-US" b="true" sz="2541" spc="249">
                <a:solidFill>
                  <a:srgbClr val="231F20"/>
                </a:solidFill>
                <a:latin typeface="DM Sans Bold"/>
                <a:ea typeface="DM Sans Bold"/>
                <a:cs typeface="DM Sans Bold"/>
                <a:sym typeface="DM Sans Bold"/>
              </a:rPr>
              <a:t>Key </a:t>
            </a:r>
            <a:r>
              <a:rPr lang="en-US" b="true" sz="2541" spc="249">
                <a:solidFill>
                  <a:srgbClr val="231F20"/>
                </a:solidFill>
                <a:latin typeface="DM Sans Bold"/>
                <a:ea typeface="DM Sans Bold"/>
                <a:cs typeface="DM Sans Bold"/>
                <a:sym typeface="DM Sans Bold"/>
              </a:rPr>
              <a:t>Responsibilities</a:t>
            </a:r>
            <a:r>
              <a:rPr lang="en-US" sz="2541" spc="249">
                <a:solidFill>
                  <a:srgbClr val="231F20"/>
                </a:solidFill>
                <a:latin typeface="DM Sans"/>
                <a:ea typeface="DM Sans"/>
                <a:cs typeface="DM Sans"/>
                <a:sym typeface="DM Sans"/>
              </a:rPr>
              <a:t>:</a:t>
            </a:r>
          </a:p>
          <a:p>
            <a:pPr algn="l">
              <a:lnSpc>
                <a:spcPts val="3507"/>
              </a:lnSpc>
              <a:spcBef>
                <a:spcPct val="0"/>
              </a:spcBef>
            </a:pPr>
          </a:p>
          <a:p>
            <a:pPr algn="l" marL="548749" indent="-274374" lvl="1">
              <a:lnSpc>
                <a:spcPts val="3507"/>
              </a:lnSpc>
              <a:spcBef>
                <a:spcPct val="0"/>
              </a:spcBef>
              <a:buFont typeface="Arial"/>
              <a:buChar char="•"/>
            </a:pPr>
            <a:r>
              <a:rPr lang="en-US" b="true" sz="2541" spc="249">
                <a:solidFill>
                  <a:srgbClr val="231F20"/>
                </a:solidFill>
                <a:latin typeface="DM Sans Bold"/>
                <a:ea typeface="DM Sans Bold"/>
                <a:cs typeface="DM Sans Bold"/>
                <a:sym typeface="DM Sans Bold"/>
              </a:rPr>
              <a:t>Quality Assurance</a:t>
            </a:r>
            <a:r>
              <a:rPr lang="en-US" sz="2541" spc="249">
                <a:solidFill>
                  <a:srgbClr val="231F20"/>
                </a:solidFill>
                <a:latin typeface="DM Sans"/>
                <a:ea typeface="DM Sans"/>
                <a:cs typeface="DM Sans"/>
                <a:sym typeface="DM Sans"/>
              </a:rPr>
              <a:t> (QA): Oversee testing processes to confirm alarm accuracy, app responsiveness, and interface usability.</a:t>
            </a:r>
          </a:p>
          <a:p>
            <a:pPr algn="l">
              <a:lnSpc>
                <a:spcPts val="3507"/>
              </a:lnSpc>
              <a:spcBef>
                <a:spcPct val="0"/>
              </a:spcBef>
            </a:pPr>
          </a:p>
          <a:p>
            <a:pPr algn="l" marL="548749" indent="-274374" lvl="1">
              <a:lnSpc>
                <a:spcPts val="3507"/>
              </a:lnSpc>
              <a:spcBef>
                <a:spcPct val="0"/>
              </a:spcBef>
              <a:buFont typeface="Arial"/>
              <a:buChar char="•"/>
            </a:pPr>
            <a:r>
              <a:rPr lang="en-US" b="true" sz="2541" spc="249">
                <a:solidFill>
                  <a:srgbClr val="231F20"/>
                </a:solidFill>
                <a:latin typeface="DM Sans Bold"/>
                <a:ea typeface="DM Sans Bold"/>
                <a:cs typeface="DM Sans Bold"/>
                <a:sym typeface="DM Sans Bold"/>
              </a:rPr>
              <a:t>Quality Control</a:t>
            </a:r>
            <a:r>
              <a:rPr lang="en-US" sz="2541" spc="249">
                <a:solidFill>
                  <a:srgbClr val="231F20"/>
                </a:solidFill>
                <a:latin typeface="DM Sans"/>
                <a:ea typeface="DM Sans"/>
                <a:cs typeface="DM Sans"/>
                <a:sym typeface="DM Sans"/>
              </a:rPr>
              <a:t> (QC): Conduct performance checks, gather user feedback, and refine features to prevent and address issues.</a:t>
            </a:r>
          </a:p>
          <a:p>
            <a:pPr algn="l">
              <a:lnSpc>
                <a:spcPts val="3507"/>
              </a:lnSpc>
              <a:spcBef>
                <a:spcPct val="0"/>
              </a:spcBef>
            </a:pPr>
          </a:p>
          <a:p>
            <a:pPr algn="l" marL="548749" indent="-274374" lvl="1">
              <a:lnSpc>
                <a:spcPts val="3507"/>
              </a:lnSpc>
              <a:spcBef>
                <a:spcPct val="0"/>
              </a:spcBef>
              <a:buFont typeface="Arial"/>
              <a:buChar char="•"/>
            </a:pPr>
            <a:r>
              <a:rPr lang="en-US" b="true" sz="2541" spc="249">
                <a:solidFill>
                  <a:srgbClr val="231F20"/>
                </a:solidFill>
                <a:latin typeface="DM Sans Bold"/>
                <a:ea typeface="DM Sans Bold"/>
                <a:cs typeface="DM Sans Bold"/>
                <a:sym typeface="DM Sans Bold"/>
              </a:rPr>
              <a:t>Continuous Improvement</a:t>
            </a:r>
            <a:r>
              <a:rPr lang="en-US" sz="2541" spc="249">
                <a:solidFill>
                  <a:srgbClr val="231F20"/>
                </a:solidFill>
                <a:latin typeface="DM Sans"/>
                <a:ea typeface="DM Sans"/>
                <a:cs typeface="DM Sans"/>
                <a:sym typeface="DM Sans"/>
              </a:rPr>
              <a:t>: Implement feedback mechanisms and regularly update features to maintain and exceed quality standards.</a:t>
            </a:r>
          </a:p>
          <a:p>
            <a:pPr algn="l">
              <a:lnSpc>
                <a:spcPts val="3507"/>
              </a:lnSpc>
              <a:spcBef>
                <a:spcPct val="0"/>
              </a:spcBef>
            </a:pPr>
          </a:p>
        </p:txBody>
      </p:sp>
      <p:sp>
        <p:nvSpPr>
          <p:cNvPr name="TextBox 7" id="7"/>
          <p:cNvSpPr txBox="true"/>
          <p:nvPr/>
        </p:nvSpPr>
        <p:spPr>
          <a:xfrm rot="0">
            <a:off x="4266730" y="8010776"/>
            <a:ext cx="11168462" cy="2032219"/>
          </a:xfrm>
          <a:prstGeom prst="rect">
            <a:avLst/>
          </a:prstGeom>
        </p:spPr>
        <p:txBody>
          <a:bodyPr anchor="t" rtlCol="false" tIns="0" lIns="0" bIns="0" rIns="0">
            <a:spAutoFit/>
          </a:bodyPr>
          <a:lstStyle/>
          <a:p>
            <a:pPr algn="l">
              <a:lnSpc>
                <a:spcPts val="3245"/>
              </a:lnSpc>
              <a:spcBef>
                <a:spcPct val="0"/>
              </a:spcBef>
            </a:pPr>
            <a:r>
              <a:rPr lang="en-US" b="true" sz="2351" spc="230">
                <a:solidFill>
                  <a:srgbClr val="231F20"/>
                </a:solidFill>
                <a:latin typeface="DM Sans Bold"/>
                <a:ea typeface="DM Sans Bold"/>
                <a:cs typeface="DM Sans Bold"/>
                <a:sym typeface="DM Sans Bold"/>
              </a:rPr>
              <a:t>G</a:t>
            </a:r>
            <a:r>
              <a:rPr lang="en-US" b="true" sz="2351" spc="230">
                <a:solidFill>
                  <a:srgbClr val="231F20"/>
                </a:solidFill>
                <a:latin typeface="DM Sans Bold"/>
                <a:ea typeface="DM Sans Bold"/>
                <a:cs typeface="DM Sans Bold"/>
                <a:sym typeface="DM Sans Bold"/>
              </a:rPr>
              <a:t>oals:</a:t>
            </a:r>
          </a:p>
          <a:p>
            <a:pPr algn="l" marL="507693" indent="-253847" lvl="1">
              <a:lnSpc>
                <a:spcPts val="3245"/>
              </a:lnSpc>
              <a:spcBef>
                <a:spcPct val="0"/>
              </a:spcBef>
              <a:buFont typeface="Arial"/>
              <a:buChar char="•"/>
            </a:pPr>
            <a:r>
              <a:rPr lang="en-US" b="true" sz="2351" spc="230">
                <a:solidFill>
                  <a:srgbClr val="231F20"/>
                </a:solidFill>
                <a:latin typeface="DM Sans Bold"/>
                <a:ea typeface="DM Sans Bold"/>
                <a:cs typeface="DM Sans Bold"/>
                <a:sym typeface="DM Sans Bold"/>
              </a:rPr>
              <a:t>Reliability: Ensure &gt;99% alarm accuracy.</a:t>
            </a:r>
          </a:p>
          <a:p>
            <a:pPr algn="l" marL="507693" indent="-253847" lvl="1">
              <a:lnSpc>
                <a:spcPts val="3245"/>
              </a:lnSpc>
              <a:spcBef>
                <a:spcPct val="0"/>
              </a:spcBef>
              <a:buFont typeface="Arial"/>
              <a:buChar char="•"/>
            </a:pPr>
            <a:r>
              <a:rPr lang="en-US" b="true" sz="2351" spc="230">
                <a:solidFill>
                  <a:srgbClr val="231F20"/>
                </a:solidFill>
                <a:latin typeface="DM Sans Bold"/>
                <a:ea typeface="DM Sans Bold"/>
                <a:cs typeface="DM Sans Bold"/>
                <a:sym typeface="DM Sans Bold"/>
              </a:rPr>
              <a:t>User Satisfaction: Achieve a user rating of 4.5/5.</a:t>
            </a:r>
          </a:p>
          <a:p>
            <a:pPr algn="l" marL="507693" indent="-253847" lvl="1">
              <a:lnSpc>
                <a:spcPts val="3245"/>
              </a:lnSpc>
              <a:spcBef>
                <a:spcPct val="0"/>
              </a:spcBef>
              <a:buFont typeface="Arial"/>
              <a:buChar char="•"/>
            </a:pPr>
            <a:r>
              <a:rPr lang="en-US" b="true" sz="2351" spc="230">
                <a:solidFill>
                  <a:srgbClr val="231F20"/>
                </a:solidFill>
                <a:latin typeface="DM Sans Bold"/>
                <a:ea typeface="DM Sans Bold"/>
                <a:cs typeface="DM Sans Bold"/>
                <a:sym typeface="DM Sans Bold"/>
              </a:rPr>
              <a:t>Error Minimization: Keep system error rate below 1%.</a:t>
            </a:r>
          </a:p>
          <a:p>
            <a:pPr algn="l">
              <a:lnSpc>
                <a:spcPts val="3245"/>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Freeform 3" id="3"/>
          <p:cNvSpPr/>
          <p:nvPr/>
        </p:nvSpPr>
        <p:spPr>
          <a:xfrm flipH="false" flipV="false" rot="-10580377">
            <a:off x="9407140" y="-9309963"/>
            <a:ext cx="24036383" cy="24664199"/>
          </a:xfrm>
          <a:custGeom>
            <a:avLst/>
            <a:gdLst/>
            <a:ahLst/>
            <a:cxnLst/>
            <a:rect r="r" b="b" t="t" l="l"/>
            <a:pathLst>
              <a:path h="24664199" w="24036383">
                <a:moveTo>
                  <a:pt x="0" y="0"/>
                </a:moveTo>
                <a:lnTo>
                  <a:pt x="24036383" y="0"/>
                </a:lnTo>
                <a:lnTo>
                  <a:pt x="24036383" y="24664198"/>
                </a:lnTo>
                <a:lnTo>
                  <a:pt x="0" y="2466419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561733" y="2105045"/>
            <a:ext cx="8097687" cy="3241963"/>
          </a:xfrm>
          <a:prstGeom prst="rect">
            <a:avLst/>
          </a:prstGeom>
        </p:spPr>
        <p:txBody>
          <a:bodyPr anchor="t" rtlCol="false" tIns="0" lIns="0" bIns="0" rIns="0">
            <a:spAutoFit/>
          </a:bodyPr>
          <a:lstStyle/>
          <a:p>
            <a:pPr algn="l" marL="0" indent="0" lvl="0">
              <a:lnSpc>
                <a:spcPts val="13015"/>
              </a:lnSpc>
              <a:spcBef>
                <a:spcPct val="0"/>
              </a:spcBef>
            </a:pPr>
            <a:r>
              <a:rPr lang="en-US" b="true" sz="9431" spc="924">
                <a:solidFill>
                  <a:srgbClr val="231F20"/>
                </a:solidFill>
                <a:latin typeface="Oswald Bold"/>
                <a:ea typeface="Oswald Bold"/>
                <a:cs typeface="Oswald Bold"/>
                <a:sym typeface="Oswald Bold"/>
              </a:rPr>
              <a:t>THANK'S FOR WATCHING</a:t>
            </a:r>
          </a:p>
        </p:txBody>
      </p:sp>
      <p:sp>
        <p:nvSpPr>
          <p:cNvPr name="Freeform 5" id="5"/>
          <p:cNvSpPr/>
          <p:nvPr/>
        </p:nvSpPr>
        <p:spPr>
          <a:xfrm flipH="true" flipV="false" rot="0">
            <a:off x="-4254153" y="7476061"/>
            <a:ext cx="11881594" cy="3564478"/>
          </a:xfrm>
          <a:custGeom>
            <a:avLst/>
            <a:gdLst/>
            <a:ahLst/>
            <a:cxnLst/>
            <a:rect r="r" b="b" t="t" l="l"/>
            <a:pathLst>
              <a:path h="3564478" w="11881594">
                <a:moveTo>
                  <a:pt x="11881594" y="0"/>
                </a:moveTo>
                <a:lnTo>
                  <a:pt x="0" y="0"/>
                </a:lnTo>
                <a:lnTo>
                  <a:pt x="0" y="3564478"/>
                </a:lnTo>
                <a:lnTo>
                  <a:pt x="11881594" y="3564478"/>
                </a:lnTo>
                <a:lnTo>
                  <a:pt x="11881594"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DAGGOXgZMW0</dc:identifier>
  <dcterms:modified xsi:type="dcterms:W3CDTF">2011-08-01T06:04:30Z</dcterms:modified>
  <cp:revision>1</cp:revision>
  <dc:title>Grey minimalist business project presentation </dc:title>
</cp:coreProperties>
</file>